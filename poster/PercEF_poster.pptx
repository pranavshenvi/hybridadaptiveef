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A5D6E"/>
        </a:solidFill>
      </p:bgPr>
    </p:bg>
    <p:spTree>
      <p:nvGrpSpPr>
        <p:cNvPr id="1" name=""/>
        <p:cNvGrpSpPr/>
        <p:nvPr/>
      </p:nvGrpSpPr>
      <p:grpSpPr>
        <a:xfrm>
          <a:off x="0" y="0"/>
          <a:ext cx="0" cy="0"/>
          <a:chOff x="0" y="0"/>
          <a:chExt cx="0" cy="0"/>
        </a:xfrm>
      </p:grpSpPr>
      <p:sp>
        <p:nvSpPr>
          <p:cNvPr id="2" name="Panel"/>
          <p:cNvSpPr/>
          <p:nvPr/>
        </p:nvSpPr>
        <p:spPr>
          <a:xfrm>
            <a:off x="228600" y="182880"/>
            <a:ext cx="17830800" cy="9921240"/>
          </a:xfrm>
          <a:prstGeom prst="rect">
            <a:avLst/>
          </a:prstGeom>
          <a:solidFill>
            <a:srgbClr val="FFFFFF"/>
          </a:solidFill>
          <a:ln w="12700">
            <a:solidFill>
              <a:srgbClr val="FFFFFF"/>
            </a:solidFill>
            <a:prstDash val="solid"/>
          </a:ln>
        </p:spPr>
      </p:sp>
      <p:pic>
        <p:nvPicPr>
          <p:cNvPr id="3" name="Logo PES" descr="assets/logo_pes.png">    </p:cNvPr>
          <p:cNvPicPr>
            <a:picLocks noChangeAspect="1"/>
          </p:cNvPicPr>
          <p:nvPr/>
        </p:nvPicPr>
        <p:blipFill>
          <a:blip r:embed="rId1"/>
          <a:stretch>
            <a:fillRect/>
          </a:stretch>
        </p:blipFill>
        <p:spPr>
          <a:xfrm>
            <a:off x="457200" y="320040"/>
            <a:ext cx="2926080" cy="1499616"/>
          </a:xfrm>
          <a:prstGeom prst="rect">
            <a:avLst/>
          </a:prstGeom>
        </p:spPr>
      </p:pic>
      <p:pic>
        <p:nvPicPr>
          <p:cNvPr id="4" name="Logo CDSAML" descr="assets/logo_cdsaml.png">    </p:cNvPr>
          <p:cNvPicPr>
            <a:picLocks noChangeAspect="1"/>
          </p:cNvPicPr>
          <p:nvPr/>
        </p:nvPicPr>
        <p:blipFill>
          <a:blip r:embed="rId2"/>
          <a:stretch>
            <a:fillRect/>
          </a:stretch>
        </p:blipFill>
        <p:spPr>
          <a:xfrm>
            <a:off x="14401800" y="301752"/>
            <a:ext cx="1463040" cy="1426464"/>
          </a:xfrm>
          <a:prstGeom prst="rect">
            <a:avLst/>
          </a:prstGeom>
        </p:spPr>
      </p:pic>
      <p:pic>
        <p:nvPicPr>
          <p:cNvPr id="5" name="Logo CCBD" descr="assets/logo_ccbd.png">    </p:cNvPr>
          <p:cNvPicPr>
            <a:picLocks noChangeAspect="1"/>
          </p:cNvPicPr>
          <p:nvPr/>
        </p:nvPicPr>
        <p:blipFill>
          <a:blip r:embed="rId3"/>
          <a:stretch>
            <a:fillRect/>
          </a:stretch>
        </p:blipFill>
        <p:spPr>
          <a:xfrm>
            <a:off x="15910560" y="566928"/>
            <a:ext cx="1920240" cy="612648"/>
          </a:xfrm>
          <a:prstGeom prst="rect">
            <a:avLst/>
          </a:prstGeom>
        </p:spPr>
      </p:pic>
      <p:sp>
        <p:nvSpPr>
          <p:cNvPr id="6" name="Title"/>
          <p:cNvSpPr txBox="1"/>
          <p:nvPr/>
        </p:nvSpPr>
        <p:spPr>
          <a:xfrm>
            <a:off x="3611880" y="274320"/>
            <a:ext cx="10607040" cy="960120"/>
          </a:xfrm>
          <a:prstGeom prst="rect">
            <a:avLst/>
          </a:prstGeom>
          <a:noFill/>
          <a:ln/>
        </p:spPr>
        <p:txBody>
          <a:bodyPr wrap="square" lIns="0" tIns="0" rIns="0" bIns="0" rtlCol="0" anchor="ctr"/>
          <a:lstStyle/>
          <a:p>
            <a:pPr algn="ctr" indent="0" marL="0">
              <a:buNone/>
            </a:pPr>
            <a:r>
              <a:rPr lang="en-US" sz="2800" b="1" dirty="0">
                <a:solidFill>
                  <a:srgbClr val="2D3A82"/>
                </a:solidFill>
                <a:latin typeface="Arial" pitchFamily="34" charset="0"/>
                <a:ea typeface="Arial" pitchFamily="34" charset="-122"/>
                <a:cs typeface="Arial" pitchFamily="34" charset="-120"/>
              </a:rPr>
              <a:t>PercEF: Exploiting Empirical Percentiles for Adaptive HNSW Search Beyond the Gaussian Assumption</a:t>
            </a:r>
            <a:endParaRPr lang="en-US" sz="2800" dirty="0"/>
          </a:p>
        </p:txBody>
      </p:sp>
      <p:sp>
        <p:nvSpPr>
          <p:cNvPr id="7" name="Subtitle"/>
          <p:cNvSpPr txBox="1"/>
          <p:nvPr/>
        </p:nvSpPr>
        <p:spPr>
          <a:xfrm>
            <a:off x="3611880" y="1261872"/>
            <a:ext cx="10607040" cy="566928"/>
          </a:xfrm>
          <a:prstGeom prst="rect">
            <a:avLst/>
          </a:prstGeom>
          <a:noFill/>
          <a:ln/>
        </p:spPr>
        <p:txBody>
          <a:bodyPr wrap="square" lIns="0" tIns="0" rIns="0" bIns="0" rtlCol="0" anchor="t"/>
          <a:lstStyle/>
          <a:p>
            <a:pPr algn="ctr" indent="0" marL="0">
              <a:buNone/>
            </a:pPr>
            <a:r>
              <a:rPr lang="en-US" sz="1400" b="1" dirty="0">
                <a:solidFill>
                  <a:srgbClr val="2D3A82"/>
                </a:solidFill>
                <a:latin typeface="Arial" pitchFamily="34" charset="0"/>
                <a:ea typeface="Arial" pitchFamily="34" charset="-122"/>
                <a:cs typeface="Arial" pitchFamily="34" charset="-120"/>
              </a:rPr>
              <a:t>Center for Data Science and Applied Machine Learning (CDSAML)</a:t>
            </a:r>
            <a:endParaRPr lang="en-US" sz="1400" dirty="0"/>
          </a:p>
          <a:p>
            <a:pPr algn="ctr" indent="0" marL="0">
              <a:buNone/>
            </a:pPr>
            <a:r>
              <a:rPr lang="en-US" sz="1400" b="1" dirty="0">
                <a:solidFill>
                  <a:srgbClr val="2D3A82"/>
                </a:solidFill>
                <a:latin typeface="Arial" pitchFamily="34" charset="0"/>
                <a:ea typeface="Arial" pitchFamily="34" charset="-122"/>
                <a:cs typeface="Arial" pitchFamily="34" charset="-120"/>
              </a:rPr>
              <a:t>Department of Computer Science and Engineering, PES University, RR Campus, Bengaluru-560085</a:t>
            </a:r>
            <a:endParaRPr lang="en-US" sz="1400" dirty="0"/>
          </a:p>
        </p:txBody>
      </p:sp>
      <p:sp>
        <p:nvSpPr>
          <p:cNvPr id="8" name="Problem header"/>
          <p:cNvSpPr txBox="1"/>
          <p:nvPr/>
        </p:nvSpPr>
        <p:spPr>
          <a:xfrm>
            <a:off x="50292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PROBLEM STATEMENT</a:t>
            </a:r>
            <a:endParaRPr lang="en-US" sz="2000" dirty="0"/>
          </a:p>
        </p:txBody>
      </p:sp>
      <p:sp>
        <p:nvSpPr>
          <p:cNvPr id="9" name="Problem box"/>
          <p:cNvSpPr/>
          <p:nvPr/>
        </p:nvSpPr>
        <p:spPr>
          <a:xfrm>
            <a:off x="502920" y="2468880"/>
            <a:ext cx="5577840" cy="1572768"/>
          </a:xfrm>
          <a:prstGeom prst="rect">
            <a:avLst/>
          </a:prstGeom>
          <a:solidFill>
            <a:srgbClr val="FFFFFF"/>
          </a:solidFill>
          <a:ln w="9525">
            <a:solidFill>
              <a:srgbClr val="CFD8DE"/>
            </a:solidFill>
            <a:prstDash val="solid"/>
          </a:ln>
        </p:spPr>
      </p:sp>
      <p:sp>
        <p:nvSpPr>
          <p:cNvPr id="10" name="Problem text"/>
          <p:cNvSpPr txBox="1"/>
          <p:nvPr/>
        </p:nvSpPr>
        <p:spPr>
          <a:xfrm>
            <a:off x="576072" y="2523744"/>
            <a:ext cx="5431536" cy="1463040"/>
          </a:xfrm>
          <a:prstGeom prst="rect">
            <a:avLst/>
          </a:prstGeom>
          <a:noFill/>
          <a:ln/>
        </p:spPr>
        <p:txBody>
          <a:bodyPr wrap="square" lIns="50800" tIns="50800" rIns="50800" bIns="50800" rtlCol="0" anchor="t"/>
          <a:lstStyle/>
          <a:p>
            <a:pPr indent="0" marL="0">
              <a:buNone/>
            </a:pPr>
            <a:r>
              <a:rPr lang="en-US" sz="130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300" dirty="0">
                <a:solidFill>
                  <a:srgbClr val="1F2933"/>
                </a:solidFill>
                <a:latin typeface="Arial" pitchFamily="34" charset="0"/>
                <a:ea typeface="Arial" pitchFamily="34" charset="-122"/>
                <a:cs typeface="Arial" pitchFamily="34" charset="-120"/>
              </a:rPr>
              <a:t>Vector search engines answer every query with the same search breadth (ef) in HNSW. Easy queries waste work; hard queries miss neighbours.</a:t>
            </a:r>
            <a:endParaRPr lang="en-US" sz="1300" dirty="0"/>
          </a:p>
          <a:p>
            <a:pPr indent="0" marL="0">
              <a:buNone/>
            </a:pPr>
            <a:r>
              <a:rPr lang="en-US" sz="130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300" dirty="0">
                <a:solidFill>
                  <a:srgbClr val="1F2933"/>
                </a:solidFill>
                <a:latin typeface="Arial" pitchFamily="34" charset="0"/>
                <a:ea typeface="Arial" pitchFamily="34" charset="-122"/>
                <a:cs typeface="Arial" pitchFamily="34" charset="-120"/>
              </a:rPr>
              <a:t>Ada-ef (SIGMOD 2026) sets ef per query by assuming each query's similarities to the data are Gaussian. The assumption was never tested. We test it, and fix the method where it fails.</a:t>
            </a:r>
            <a:endParaRPr lang="en-US" sz="1300" dirty="0"/>
          </a:p>
        </p:txBody>
      </p:sp>
      <p:sp>
        <p:nvSpPr>
          <p:cNvPr id="11" name="Objectives header"/>
          <p:cNvSpPr txBox="1"/>
          <p:nvPr/>
        </p:nvSpPr>
        <p:spPr>
          <a:xfrm>
            <a:off x="502920" y="417880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OBJECTIVES</a:t>
            </a:r>
            <a:endParaRPr lang="en-US" sz="2000" dirty="0"/>
          </a:p>
        </p:txBody>
      </p:sp>
      <p:sp>
        <p:nvSpPr>
          <p:cNvPr id="12" name="Objectives box"/>
          <p:cNvSpPr/>
          <p:nvPr/>
        </p:nvSpPr>
        <p:spPr>
          <a:xfrm>
            <a:off x="502920" y="4681728"/>
            <a:ext cx="5577840" cy="1371600"/>
          </a:xfrm>
          <a:prstGeom prst="rect">
            <a:avLst/>
          </a:prstGeom>
          <a:solidFill>
            <a:srgbClr val="FFFFFF"/>
          </a:solidFill>
          <a:ln w="9525">
            <a:solidFill>
              <a:srgbClr val="CFD8DE"/>
            </a:solidFill>
            <a:prstDash val="solid"/>
          </a:ln>
        </p:spPr>
      </p:sp>
      <p:sp>
        <p:nvSpPr>
          <p:cNvPr id="13" name="Objectives text"/>
          <p:cNvSpPr txBox="1"/>
          <p:nvPr/>
        </p:nvSpPr>
        <p:spPr>
          <a:xfrm>
            <a:off x="576072" y="4736592"/>
            <a:ext cx="5431536" cy="1261872"/>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 how often the Gaussian assumption holds on public embedding datasets.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Build a distribution-free difficulty score that works where it does not.</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Give a quick offline test that says which method to use.</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Compare fairly on Ada-ef's own metrics: tail recall, cost, latency.</a:t>
            </a:r>
            <a:endParaRPr lang="en-US" sz="1300" dirty="0"/>
          </a:p>
        </p:txBody>
      </p:sp>
      <p:sp>
        <p:nvSpPr>
          <p:cNvPr id="14" name="Dataset header"/>
          <p:cNvSpPr txBox="1"/>
          <p:nvPr/>
        </p:nvSpPr>
        <p:spPr>
          <a:xfrm>
            <a:off x="502920" y="619048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DATASET AND FEATURES</a:t>
            </a:r>
            <a:endParaRPr lang="en-US" sz="2000" dirty="0"/>
          </a:p>
        </p:txBody>
      </p:sp>
      <p:sp>
        <p:nvSpPr>
          <p:cNvPr id="15" name="Dataset box"/>
          <p:cNvSpPr/>
          <p:nvPr/>
        </p:nvSpPr>
        <p:spPr>
          <a:xfrm>
            <a:off x="502920" y="6693408"/>
            <a:ext cx="5577840" cy="1581912"/>
          </a:xfrm>
          <a:prstGeom prst="rect">
            <a:avLst/>
          </a:prstGeom>
          <a:solidFill>
            <a:srgbClr val="FFFFFF"/>
          </a:solidFill>
          <a:ln w="9525">
            <a:solidFill>
              <a:srgbClr val="CFD8DE"/>
            </a:solidFill>
            <a:prstDash val="solid"/>
          </a:ln>
        </p:spPr>
      </p:sp>
      <p:sp>
        <p:nvSpPr>
          <p:cNvPr id="16" name="Dataset text"/>
          <p:cNvSpPr txBox="1"/>
          <p:nvPr/>
        </p:nvSpPr>
        <p:spPr>
          <a:xfrm>
            <a:off x="576072" y="6748272"/>
            <a:ext cx="5431536" cy="1472184"/>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41 public datasets surveyed (ann-benchmarks, Big-ANN, VIBE, Ada-ef's own sources).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20 benchmarked end to end: text, image, audio, music and CLIP embeddings; 60K to 19.6M vectors, 65 to 2048 dimensions.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Measured per query: similarity distribution, true minimum ef for 95% recall. Per dataset: KS statistic.</a:t>
            </a:r>
            <a:endParaRPr lang="en-US" sz="1300" dirty="0"/>
          </a:p>
        </p:txBody>
      </p:sp>
      <p:sp>
        <p:nvSpPr>
          <p:cNvPr id="17" name="Architecture header"/>
          <p:cNvSpPr txBox="1"/>
          <p:nvPr/>
        </p:nvSpPr>
        <p:spPr>
          <a:xfrm>
            <a:off x="6355080" y="196596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SYSTEM ARCHITECTURE</a:t>
            </a:r>
            <a:endParaRPr lang="en-US" sz="2000" dirty="0"/>
          </a:p>
        </p:txBody>
      </p:sp>
      <p:sp>
        <p:nvSpPr>
          <p:cNvPr id="18" name="Architecture box"/>
          <p:cNvSpPr/>
          <p:nvPr/>
        </p:nvSpPr>
        <p:spPr>
          <a:xfrm>
            <a:off x="6355080" y="2468880"/>
            <a:ext cx="5577840" cy="2926080"/>
          </a:xfrm>
          <a:prstGeom prst="rect">
            <a:avLst/>
          </a:prstGeom>
          <a:solidFill>
            <a:srgbClr val="FFFFFF"/>
          </a:solidFill>
          <a:ln w="9525">
            <a:solidFill>
              <a:srgbClr val="CFD8DE"/>
            </a:solidFill>
            <a:prstDash val="solid"/>
          </a:ln>
        </p:spPr>
      </p:sp>
      <p:sp>
        <p:nvSpPr>
          <p:cNvPr id="19" name="Lane: offline"/>
          <p:cNvSpPr txBox="1"/>
          <p:nvPr/>
        </p:nvSpPr>
        <p:spPr>
          <a:xfrm>
            <a:off x="6473952" y="2578608"/>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Offline, once per dataset</a:t>
            </a:r>
            <a:endParaRPr lang="en-US" sz="1100" dirty="0"/>
          </a:p>
        </p:txBody>
      </p:sp>
      <p:sp>
        <p:nvSpPr>
          <p:cNvPr id="20" name="Arch: corpus"/>
          <p:cNvSpPr/>
          <p:nvPr/>
        </p:nvSpPr>
        <p:spPr>
          <a:xfrm>
            <a:off x="647395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Corpus vectors</a:t>
            </a:r>
            <a:endParaRPr lang="en-US" sz="1100" dirty="0"/>
          </a:p>
        </p:txBody>
      </p:sp>
      <p:sp>
        <p:nvSpPr>
          <p:cNvPr id="21" name="Arch: ks"/>
          <p:cNvSpPr/>
          <p:nvPr/>
        </p:nvSpPr>
        <p:spPr>
          <a:xfrm>
            <a:off x="834847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KS test: are similarities Gaussian?</a:t>
            </a:r>
            <a:endParaRPr lang="en-US" sz="1100" dirty="0"/>
          </a:p>
        </p:txBody>
      </p:sp>
      <p:sp>
        <p:nvSpPr>
          <p:cNvPr id="22" name="Arch: calibration"/>
          <p:cNvSpPr/>
          <p:nvPr/>
        </p:nvSpPr>
        <p:spPr>
          <a:xfrm>
            <a:off x="1022299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Percentile bins + calibrated ef table</a:t>
            </a:r>
            <a:endParaRPr lang="en-US" sz="1100" dirty="0"/>
          </a:p>
        </p:txBody>
      </p:sp>
      <p:sp>
        <p:nvSpPr>
          <p:cNvPr id="23" name="Arrow: corpus-ks"/>
          <p:cNvSpPr/>
          <p:nvPr/>
        </p:nvSpPr>
        <p:spPr>
          <a:xfrm>
            <a:off x="8074152" y="3172968"/>
            <a:ext cx="274320" cy="0"/>
          </a:xfrm>
          <a:prstGeom prst="line">
            <a:avLst/>
          </a:prstGeom>
          <a:noFill/>
          <a:ln w="19050">
            <a:solidFill>
              <a:srgbClr val="5B6670"/>
            </a:solidFill>
            <a:prstDash val="solid"/>
            <a:tailEnd type="triangle"/>
          </a:ln>
        </p:spPr>
      </p:sp>
      <p:sp>
        <p:nvSpPr>
          <p:cNvPr id="24" name="Arrow: ks-calibration"/>
          <p:cNvSpPr/>
          <p:nvPr/>
        </p:nvSpPr>
        <p:spPr>
          <a:xfrm>
            <a:off x="9948672" y="3172968"/>
            <a:ext cx="274320" cy="0"/>
          </a:xfrm>
          <a:prstGeom prst="line">
            <a:avLst/>
          </a:prstGeom>
          <a:noFill/>
          <a:ln w="19050">
            <a:solidFill>
              <a:srgbClr val="5B6670"/>
            </a:solidFill>
            <a:prstDash val="solid"/>
            <a:tailEnd type="triangle"/>
          </a:ln>
        </p:spPr>
      </p:sp>
      <p:sp>
        <p:nvSpPr>
          <p:cNvPr id="25" name="Lane: online"/>
          <p:cNvSpPr txBox="1"/>
          <p:nvPr/>
        </p:nvSpPr>
        <p:spPr>
          <a:xfrm>
            <a:off x="6473952" y="3511296"/>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Online, per query</a:t>
            </a:r>
            <a:endParaRPr lang="en-US" sz="1100" dirty="0"/>
          </a:p>
        </p:txBody>
      </p:sp>
      <p:sp>
        <p:nvSpPr>
          <p:cNvPr id="26" name="Arch: query"/>
          <p:cNvSpPr/>
          <p:nvPr/>
        </p:nvSpPr>
        <p:spPr>
          <a:xfrm>
            <a:off x="647395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Query vector</a:t>
            </a:r>
            <a:endParaRPr lang="en-US" sz="1100" dirty="0"/>
          </a:p>
        </p:txBody>
      </p:sp>
      <p:sp>
        <p:nvSpPr>
          <p:cNvPr id="27" name="Arch: probe"/>
          <p:cNvSpPr/>
          <p:nvPr/>
        </p:nvSpPr>
        <p:spPr>
          <a:xfrm>
            <a:off x="834847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HNSW probe: first 100 distances</a:t>
            </a:r>
            <a:endParaRPr lang="en-US" sz="1100" dirty="0"/>
          </a:p>
        </p:txBody>
      </p:sp>
      <p:sp>
        <p:nvSpPr>
          <p:cNvPr id="28" name="Arch: score"/>
          <p:cNvSpPr/>
          <p:nvPr/>
        </p:nvSpPr>
        <p:spPr>
          <a:xfrm>
            <a:off x="10222992" y="3803904"/>
            <a:ext cx="1600200" cy="603504"/>
          </a:xfrm>
          <a:prstGeom prst="roundRect">
            <a:avLst>
              <a:gd name="adj" fmla="val 12121"/>
            </a:avLst>
          </a:prstGeom>
          <a:solidFill>
            <a:srgbClr val="1597AB"/>
          </a:solidFill>
          <a:ln w="12700">
            <a:solidFill>
              <a:srgbClr val="1597AB"/>
            </a:solidFill>
          </a:ln>
        </p:spPr>
        <p:txBody>
          <a:bodyPr wrap="square" lIns="38100" tIns="38100" rIns="38100" bIns="3810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Difficulty score from empirical bins</a:t>
            </a:r>
            <a:endParaRPr lang="en-US" sz="1100" dirty="0"/>
          </a:p>
        </p:txBody>
      </p:sp>
      <p:sp>
        <p:nvSpPr>
          <p:cNvPr id="29" name="Arrow: query-probe"/>
          <p:cNvSpPr/>
          <p:nvPr/>
        </p:nvSpPr>
        <p:spPr>
          <a:xfrm>
            <a:off x="8074152" y="4105656"/>
            <a:ext cx="274320" cy="0"/>
          </a:xfrm>
          <a:prstGeom prst="line">
            <a:avLst/>
          </a:prstGeom>
          <a:noFill/>
          <a:ln w="19050">
            <a:solidFill>
              <a:srgbClr val="5B6670"/>
            </a:solidFill>
            <a:prstDash val="solid"/>
            <a:tailEnd type="triangle"/>
          </a:ln>
        </p:spPr>
      </p:sp>
      <p:sp>
        <p:nvSpPr>
          <p:cNvPr id="30" name="Arrow: probe-score"/>
          <p:cNvSpPr/>
          <p:nvPr/>
        </p:nvSpPr>
        <p:spPr>
          <a:xfrm>
            <a:off x="9948672" y="4105656"/>
            <a:ext cx="274320" cy="0"/>
          </a:xfrm>
          <a:prstGeom prst="line">
            <a:avLst/>
          </a:prstGeom>
          <a:noFill/>
          <a:ln w="19050">
            <a:solidFill>
              <a:srgbClr val="5B6670"/>
            </a:solidFill>
            <a:prstDash val="solid"/>
            <a:tailEnd type="triangle"/>
          </a:ln>
        </p:spPr>
      </p:sp>
      <p:sp>
        <p:nvSpPr>
          <p:cNvPr id="31" name="Arrow: calibration-score"/>
          <p:cNvSpPr/>
          <p:nvPr/>
        </p:nvSpPr>
        <p:spPr>
          <a:xfrm>
            <a:off x="11023092" y="3474720"/>
            <a:ext cx="0" cy="329184"/>
          </a:xfrm>
          <a:prstGeom prst="line">
            <a:avLst/>
          </a:prstGeom>
          <a:noFill/>
          <a:ln w="19050">
            <a:solidFill>
              <a:srgbClr val="5B6670"/>
            </a:solidFill>
            <a:prstDash val="solid"/>
            <a:tailEnd type="triangle"/>
          </a:ln>
        </p:spPr>
      </p:sp>
      <p:sp>
        <p:nvSpPr>
          <p:cNvPr id="32" name="Arch: lookup"/>
          <p:cNvSpPr/>
          <p:nvPr/>
        </p:nvSpPr>
        <p:spPr>
          <a:xfrm>
            <a:off x="1022299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Look up ef for this query</a:t>
            </a:r>
            <a:endParaRPr lang="en-US" sz="1100" dirty="0"/>
          </a:p>
        </p:txBody>
      </p:sp>
      <p:sp>
        <p:nvSpPr>
          <p:cNvPr id="33" name="Arch: continue"/>
          <p:cNvSpPr/>
          <p:nvPr/>
        </p:nvSpPr>
        <p:spPr>
          <a:xfrm>
            <a:off x="834847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Continue the same search at that ef</a:t>
            </a:r>
            <a:endParaRPr lang="en-US" sz="1100" dirty="0"/>
          </a:p>
        </p:txBody>
      </p:sp>
      <p:sp>
        <p:nvSpPr>
          <p:cNvPr id="34" name="Arch: results"/>
          <p:cNvSpPr/>
          <p:nvPr/>
        </p:nvSpPr>
        <p:spPr>
          <a:xfrm>
            <a:off x="647395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Top-k neighbours</a:t>
            </a:r>
            <a:endParaRPr lang="en-US" sz="1100" dirty="0"/>
          </a:p>
        </p:txBody>
      </p:sp>
      <p:sp>
        <p:nvSpPr>
          <p:cNvPr id="35" name="Arrow: score-lookup"/>
          <p:cNvSpPr/>
          <p:nvPr/>
        </p:nvSpPr>
        <p:spPr>
          <a:xfrm>
            <a:off x="11023092" y="4407408"/>
            <a:ext cx="0" cy="274320"/>
          </a:xfrm>
          <a:prstGeom prst="line">
            <a:avLst/>
          </a:prstGeom>
          <a:noFill/>
          <a:ln w="19050">
            <a:solidFill>
              <a:srgbClr val="5B6670"/>
            </a:solidFill>
            <a:prstDash val="solid"/>
            <a:tailEnd type="triangle"/>
          </a:ln>
        </p:spPr>
      </p:sp>
      <p:sp>
        <p:nvSpPr>
          <p:cNvPr id="36" name="Arrow: lookup-continue"/>
          <p:cNvSpPr/>
          <p:nvPr/>
        </p:nvSpPr>
        <p:spPr>
          <a:xfrm flipH="1">
            <a:off x="9948672" y="4983480"/>
            <a:ext cx="274320" cy="0"/>
          </a:xfrm>
          <a:prstGeom prst="line">
            <a:avLst/>
          </a:prstGeom>
          <a:noFill/>
          <a:ln w="19050">
            <a:solidFill>
              <a:srgbClr val="5B6670"/>
            </a:solidFill>
            <a:prstDash val="solid"/>
            <a:tailEnd type="triangle"/>
          </a:ln>
        </p:spPr>
      </p:sp>
      <p:sp>
        <p:nvSpPr>
          <p:cNvPr id="37" name="Arrow: continue-results"/>
          <p:cNvSpPr/>
          <p:nvPr/>
        </p:nvSpPr>
        <p:spPr>
          <a:xfrm flipH="1">
            <a:off x="8074152" y="4983480"/>
            <a:ext cx="274320" cy="0"/>
          </a:xfrm>
          <a:prstGeom prst="line">
            <a:avLst/>
          </a:prstGeom>
          <a:noFill/>
          <a:ln w="19050">
            <a:solidFill>
              <a:srgbClr val="5B6670"/>
            </a:solidFill>
            <a:prstDash val="solid"/>
            <a:tailEnd type="triangle"/>
          </a:ln>
        </p:spPr>
      </p:sp>
      <p:sp>
        <p:nvSpPr>
          <p:cNvPr id="38" name="Methodology header"/>
          <p:cNvSpPr txBox="1"/>
          <p:nvPr/>
        </p:nvSpPr>
        <p:spPr>
          <a:xfrm>
            <a:off x="6355080" y="553212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PROPOSED METHODOLOGY</a:t>
            </a:r>
            <a:endParaRPr lang="en-US" sz="2000" dirty="0"/>
          </a:p>
        </p:txBody>
      </p:sp>
      <p:sp>
        <p:nvSpPr>
          <p:cNvPr id="39" name="Methodology box"/>
          <p:cNvSpPr/>
          <p:nvPr/>
        </p:nvSpPr>
        <p:spPr>
          <a:xfrm>
            <a:off x="6355080" y="6035040"/>
            <a:ext cx="5577840" cy="2240280"/>
          </a:xfrm>
          <a:prstGeom prst="rect">
            <a:avLst/>
          </a:prstGeom>
          <a:solidFill>
            <a:srgbClr val="FFFFFF"/>
          </a:solidFill>
          <a:ln w="9525">
            <a:solidFill>
              <a:srgbClr val="CFD8DE"/>
            </a:solidFill>
            <a:prstDash val="solid"/>
          </a:ln>
        </p:spPr>
      </p:sp>
      <p:sp>
        <p:nvSpPr>
          <p:cNvPr id="40" name="Methodology text"/>
          <p:cNvSpPr txBox="1"/>
          <p:nvPr/>
        </p:nvSpPr>
        <p:spPr>
          <a:xfrm>
            <a:off x="6428232" y="6089904"/>
            <a:ext cx="5431536" cy="2130552"/>
          </a:xfrm>
          <a:prstGeom prst="rect">
            <a:avLst/>
          </a:prstGeom>
          <a:noFill/>
          <a:ln/>
        </p:spPr>
        <p:txBody>
          <a:bodyPr wrap="square" lIns="50800" tIns="50800" rIns="50800" bIns="50800" rtlCol="0" anchor="t"/>
          <a:lstStyle/>
          <a:p>
            <a:pPr indent="0" marL="0">
              <a:spcAft>
                <a:spcPts val="200"/>
              </a:spcAft>
              <a:buNone/>
            </a:pPr>
            <a:r>
              <a:rPr lang="en-US" sz="1250" b="1" dirty="0">
                <a:solidFill>
                  <a:srgbClr val="1F2933"/>
                </a:solidFill>
                <a:latin typeface="Arial" pitchFamily="34" charset="0"/>
                <a:ea typeface="Arial" pitchFamily="34" charset="-122"/>
                <a:cs typeface="Arial" pitchFamily="34" charset="-120"/>
              </a:rPr>
              <a:t>a) Approach</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Test: KS distance between each query's similarities and Ada-ef's Gaussian (seconds, no index).</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Score: Ada-ef's binned score, with thresholds from the data's own distance percentiles.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Calibrate: isotonic fit of true minimum ef to score; no restart after the probe.</a:t>
            </a:r>
            <a:endParaRPr lang="en-US" sz="1250" dirty="0"/>
          </a:p>
          <a:p>
            <a:pPr indent="0" marL="0">
              <a:spcAft>
                <a:spcPts val="200"/>
              </a:spcAft>
              <a:buNone/>
            </a:pPr>
            <a:r>
              <a:rPr lang="en-US" sz="1250" b="1" dirty="0">
                <a:solidFill>
                  <a:srgbClr val="1F2933"/>
                </a:solidFill>
                <a:latin typeface="Arial" pitchFamily="34" charset="0"/>
                <a:ea typeface="Arial" pitchFamily="34" charset="-122"/>
                <a:cs typeface="Arial" pitchFamily="34" charset="-120"/>
              </a:rPr>
              <a:t>b) Constraints and assumptions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Ada-ef's protocol: M = 16, efC = 500, target recall 0.95, one thread.</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Small calibration set; Cohere and LAION run as subsets (62 GB RAM).</a:t>
            </a:r>
            <a:endParaRPr lang="en-US" sz="1250" dirty="0"/>
          </a:p>
        </p:txBody>
      </p:sp>
      <p:sp>
        <p:nvSpPr>
          <p:cNvPr id="41" name="Results header"/>
          <p:cNvSpPr txBox="1"/>
          <p:nvPr/>
        </p:nvSpPr>
        <p:spPr>
          <a:xfrm>
            <a:off x="1220724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RESULTS &amp; DISCUSSION</a:t>
            </a:r>
            <a:endParaRPr lang="en-US" sz="2000" dirty="0"/>
          </a:p>
        </p:txBody>
      </p:sp>
      <p:sp>
        <p:nvSpPr>
          <p:cNvPr id="42" name="Results box"/>
          <p:cNvSpPr/>
          <p:nvPr/>
        </p:nvSpPr>
        <p:spPr>
          <a:xfrm>
            <a:off x="12207240" y="2468880"/>
            <a:ext cx="5577840" cy="4114800"/>
          </a:xfrm>
          <a:prstGeom prst="rect">
            <a:avLst/>
          </a:prstGeom>
          <a:solidFill>
            <a:srgbClr val="FFFFFF"/>
          </a:solidFill>
          <a:ln w="9525">
            <a:solidFill>
              <a:srgbClr val="CFD8DE"/>
            </a:solidFill>
            <a:prstDash val="solid"/>
          </a:ln>
        </p:spPr>
      </p:sp>
      <p:pic>
        <p:nvPicPr>
          <p:cNvPr id="43" name="Results figure" descr="assets/fig2_p1_vs_ks.png">    </p:cNvPr>
          <p:cNvPicPr>
            <a:picLocks noChangeAspect="1"/>
          </p:cNvPicPr>
          <p:nvPr/>
        </p:nvPicPr>
        <p:blipFill>
          <a:blip r:embed="rId4"/>
          <a:stretch>
            <a:fillRect/>
          </a:stretch>
        </p:blipFill>
        <p:spPr>
          <a:xfrm>
            <a:off x="12298680" y="2560320"/>
            <a:ext cx="3401568" cy="3006892"/>
          </a:xfrm>
          <a:prstGeom prst="rect">
            <a:avLst/>
          </a:prstGeom>
        </p:spPr>
      </p:pic>
      <p:sp>
        <p:nvSpPr>
          <p:cNvPr id="44" name="Results figure caption"/>
          <p:cNvSpPr txBox="1"/>
          <p:nvPr/>
        </p:nvSpPr>
        <p:spPr>
          <a:xfrm>
            <a:off x="12298680" y="5585500"/>
            <a:ext cx="3401568" cy="384048"/>
          </a:xfrm>
          <a:prstGeom prst="rect">
            <a:avLst/>
          </a:prstGeom>
          <a:noFill/>
          <a:ln/>
        </p:spPr>
        <p:txBody>
          <a:bodyPr wrap="square" lIns="0" tIns="0" rIns="0" bIns="0" rtlCol="0" anchor="t"/>
          <a:lstStyle/>
          <a:p>
            <a:pPr indent="0" marL="0">
              <a:buNone/>
            </a:pPr>
            <a:r>
              <a:rPr lang="en-US" sz="1000" i="1" dirty="0">
                <a:solidFill>
                  <a:srgbClr val="5B6670"/>
                </a:solidFill>
                <a:latin typeface="Arial" pitchFamily="34" charset="0"/>
                <a:ea typeface="Arial" pitchFamily="34" charset="-122"/>
                <a:cs typeface="Arial" pitchFamily="34" charset="-120"/>
              </a:rPr>
              <a:t>Tail-recall gain over the best fixed ef, 20 datasets sorted by KS (top: least Gaussian).</a:t>
            </a:r>
            <a:endParaRPr lang="en-US" sz="1000" dirty="0"/>
          </a:p>
        </p:txBody>
      </p:sp>
      <p:sp>
        <p:nvSpPr>
          <p:cNvPr id="45" name="Stat 1 number"/>
          <p:cNvSpPr txBox="1"/>
          <p:nvPr/>
        </p:nvSpPr>
        <p:spPr>
          <a:xfrm>
            <a:off x="15837408" y="2606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16/16</a:t>
            </a:r>
            <a:endParaRPr lang="en-US" sz="2800" dirty="0"/>
          </a:p>
        </p:txBody>
      </p:sp>
      <p:sp>
        <p:nvSpPr>
          <p:cNvPr id="46" name="Stat 1 label"/>
          <p:cNvSpPr txBox="1"/>
          <p:nvPr/>
        </p:nvSpPr>
        <p:spPr>
          <a:xfrm>
            <a:off x="15837408" y="3063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runs on non-Gaussian data: PercEF's tail recall at least Ada-ef's</a:t>
            </a:r>
            <a:endParaRPr lang="en-US" sz="1100" dirty="0"/>
          </a:p>
        </p:txBody>
      </p:sp>
      <p:sp>
        <p:nvSpPr>
          <p:cNvPr id="47" name="Stat 2 number"/>
          <p:cNvSpPr txBox="1"/>
          <p:nvPr/>
        </p:nvSpPr>
        <p:spPr>
          <a:xfrm>
            <a:off x="15837408" y="3749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32/34</a:t>
            </a:r>
            <a:endParaRPr lang="en-US" sz="2800" dirty="0"/>
          </a:p>
        </p:txBody>
      </p:sp>
      <p:sp>
        <p:nvSpPr>
          <p:cNvPr id="48" name="Stat 2 label"/>
          <p:cNvSpPr txBox="1"/>
          <p:nvPr/>
        </p:nvSpPr>
        <p:spPr>
          <a:xfrm>
            <a:off x="15837408" y="4206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runs cheaper than the best fixed ef (Ada-ef: 11/34); never over +3.1%</a:t>
            </a:r>
            <a:endParaRPr lang="en-US" sz="1100" dirty="0"/>
          </a:p>
        </p:txBody>
      </p:sp>
      <p:sp>
        <p:nvSpPr>
          <p:cNvPr id="49" name="Stat 3 number"/>
          <p:cNvSpPr txBox="1"/>
          <p:nvPr/>
        </p:nvSpPr>
        <p:spPr>
          <a:xfrm>
            <a:off x="15837408" y="4892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18/19</a:t>
            </a:r>
            <a:endParaRPr lang="en-US" sz="2800" dirty="0"/>
          </a:p>
        </p:txBody>
      </p:sp>
      <p:sp>
        <p:nvSpPr>
          <p:cNvPr id="50" name="Stat 3 label"/>
          <p:cNvSpPr txBox="1"/>
          <p:nvPr/>
        </p:nvSpPr>
        <p:spPr>
          <a:xfrm>
            <a:off x="15837408" y="5349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datasets where the KS test picks the better method</a:t>
            </a:r>
            <a:endParaRPr lang="en-US" sz="1100" dirty="0"/>
          </a:p>
        </p:txBody>
      </p:sp>
      <p:sp>
        <p:nvSpPr>
          <p:cNvPr id="51" name="Results limits"/>
          <p:cNvSpPr txBox="1"/>
          <p:nvPr/>
        </p:nvSpPr>
        <p:spPr>
          <a:xfrm>
            <a:off x="12298680" y="6016752"/>
            <a:ext cx="5394960" cy="512064"/>
          </a:xfrm>
          <a:prstGeom prst="rect">
            <a:avLst/>
          </a:prstGeom>
          <a:noFill/>
          <a:ln/>
        </p:spPr>
        <p:txBody>
          <a:bodyPr wrap="square" lIns="0" tIns="0" rIns="0" bIns="0" rtlCol="0" anchor="t"/>
          <a:lstStyle/>
          <a:p>
            <a:pPr indent="0" marL="0">
              <a:buNone/>
            </a:pPr>
            <a:r>
              <a:rPr lang="en-US" sz="1150" b="1" dirty="0">
                <a:solidFill>
                  <a:srgbClr val="1F2933"/>
                </a:solidFill>
                <a:latin typeface="Arial" pitchFamily="34" charset="0"/>
                <a:ea typeface="Arial" pitchFamily="34" charset="-122"/>
                <a:cs typeface="Arial" pitchFamily="34" charset="-120"/>
              </a:rPr>
              <a:t>Limits: </a:t>
            </a:r>
            <a:pPr indent="0" marL="0">
              <a:buNone/>
            </a:pPr>
            <a:r>
              <a:rPr lang="en-US" sz="1150" dirty="0">
                <a:solidFill>
                  <a:srgbClr val="1F2933"/>
                </a:solidFill>
                <a:latin typeface="Arial" pitchFamily="34" charset="0"/>
                <a:ea typeface="Arial" pitchFamily="34" charset="-122"/>
                <a:cs typeface="Arial" pitchFamily="34" charset="-120"/>
              </a:rPr>
              <a:t>on near-Gaussian text embeddings Ada-ef keeps the better tail; neither method adapts when queries come from another modality (text searching images).</a:t>
            </a:r>
            <a:endParaRPr lang="en-US" sz="1150" dirty="0"/>
          </a:p>
        </p:txBody>
      </p:sp>
      <p:sp>
        <p:nvSpPr>
          <p:cNvPr id="52" name="Conclusions header"/>
          <p:cNvSpPr txBox="1"/>
          <p:nvPr/>
        </p:nvSpPr>
        <p:spPr>
          <a:xfrm>
            <a:off x="12207240" y="672084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CONCLUSIONS AND FUTURE WORK</a:t>
            </a:r>
            <a:endParaRPr lang="en-US" sz="2000" dirty="0"/>
          </a:p>
        </p:txBody>
      </p:sp>
      <p:sp>
        <p:nvSpPr>
          <p:cNvPr id="53" name="Conclusions box"/>
          <p:cNvSpPr/>
          <p:nvPr/>
        </p:nvSpPr>
        <p:spPr>
          <a:xfrm>
            <a:off x="12207240" y="7223760"/>
            <a:ext cx="5577840" cy="1051560"/>
          </a:xfrm>
          <a:prstGeom prst="rect">
            <a:avLst/>
          </a:prstGeom>
          <a:solidFill>
            <a:srgbClr val="FFFFFF"/>
          </a:solidFill>
          <a:ln w="9525">
            <a:solidFill>
              <a:srgbClr val="CFD8DE"/>
            </a:solidFill>
            <a:prstDash val="solid"/>
          </a:ln>
        </p:spPr>
      </p:sp>
      <p:sp>
        <p:nvSpPr>
          <p:cNvPr id="54" name="Conclusions text"/>
          <p:cNvSpPr txBox="1"/>
          <p:nvPr/>
        </p:nvSpPr>
        <p:spPr>
          <a:xfrm>
            <a:off x="12280392" y="7278624"/>
            <a:ext cx="5431536" cy="941832"/>
          </a:xfrm>
          <a:prstGeom prst="rect">
            <a:avLst/>
          </a:prstGeom>
          <a:noFill/>
          <a:ln/>
        </p:spPr>
        <p:txBody>
          <a:bodyPr wrap="square" lIns="50800" tIns="50800" rIns="50800" bIns="50800" rtlCol="0" anchor="t"/>
          <a:lstStyle/>
          <a:p>
            <a:pPr indent="0" marL="0">
              <a:buNone/>
            </a:pPr>
            <a:r>
              <a:rPr lang="en-US" sz="125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250" dirty="0">
                <a:solidFill>
                  <a:srgbClr val="1F2933"/>
                </a:solidFill>
                <a:latin typeface="Arial" pitchFamily="34" charset="0"/>
                <a:ea typeface="Arial" pitchFamily="34" charset="-122"/>
                <a:cs typeface="Arial" pitchFamily="34" charset="-120"/>
              </a:rPr>
              <a:t>Ada-ef's Gaussian model fails on 9 of 41 datasets, including SIFT and GIST. There PercEF restores per-query adaptation: better tail recall, at most 3.1% over the best fixed ef.</a:t>
            </a:r>
            <a:endParaRPr lang="en-US" sz="1250" dirty="0"/>
          </a:p>
          <a:p>
            <a:pPr indent="0" marL="0">
              <a:buNone/>
            </a:pPr>
            <a:r>
              <a:rPr lang="en-US" sz="125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250" dirty="0">
                <a:solidFill>
                  <a:srgbClr val="1F2933"/>
                </a:solidFill>
                <a:latin typeface="Arial" pitchFamily="34" charset="0"/>
                <a:ea typeface="Arial" pitchFamily="34" charset="-122"/>
                <a:cs typeface="Arial" pitchFamily="34" charset="-120"/>
              </a:rPr>
              <a:t>Next: explain the SIFT-1B miss and handle cross-modal queries.</a:t>
            </a:r>
            <a:endParaRPr lang="en-US" sz="1250" dirty="0"/>
          </a:p>
        </p:txBody>
      </p:sp>
      <p:sp>
        <p:nvSpPr>
          <p:cNvPr id="55" name="Member 1 photo"/>
          <p:cNvSpPr/>
          <p:nvPr/>
        </p:nvSpPr>
        <p:spPr>
          <a:xfrm>
            <a:off x="640080"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6" name="Member 1 name"/>
          <p:cNvSpPr txBox="1"/>
          <p:nvPr/>
        </p:nvSpPr>
        <p:spPr>
          <a:xfrm>
            <a:off x="1984248"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Member 1: Name</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SRN</a:t>
            </a:r>
            <a:endParaRPr lang="en-US" sz="1300" dirty="0"/>
          </a:p>
        </p:txBody>
      </p:sp>
      <p:sp>
        <p:nvSpPr>
          <p:cNvPr id="57" name="Member 2 photo"/>
          <p:cNvSpPr/>
          <p:nvPr/>
        </p:nvSpPr>
        <p:spPr>
          <a:xfrm>
            <a:off x="4096512"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8" name="Member 2 name"/>
          <p:cNvSpPr txBox="1"/>
          <p:nvPr/>
        </p:nvSpPr>
        <p:spPr>
          <a:xfrm>
            <a:off x="5440680"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Member 2: Name</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SRN</a:t>
            </a:r>
            <a:endParaRPr lang="en-US" sz="1300" dirty="0"/>
          </a:p>
        </p:txBody>
      </p:sp>
      <p:sp>
        <p:nvSpPr>
          <p:cNvPr id="59" name="Separator 1"/>
          <p:cNvSpPr/>
          <p:nvPr/>
        </p:nvSpPr>
        <p:spPr>
          <a:xfrm>
            <a:off x="3941064" y="8686800"/>
            <a:ext cx="0" cy="1143000"/>
          </a:xfrm>
          <a:prstGeom prst="line">
            <a:avLst/>
          </a:prstGeom>
          <a:noFill/>
          <a:ln w="12700">
            <a:solidFill>
              <a:srgbClr val="CFD8DE"/>
            </a:solidFill>
            <a:prstDash val="solid"/>
          </a:ln>
        </p:spPr>
      </p:sp>
      <p:sp>
        <p:nvSpPr>
          <p:cNvPr id="60" name="Member 3 photo"/>
          <p:cNvSpPr/>
          <p:nvPr/>
        </p:nvSpPr>
        <p:spPr>
          <a:xfrm>
            <a:off x="7552944"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1" name="Member 3 name"/>
          <p:cNvSpPr txBox="1"/>
          <p:nvPr/>
        </p:nvSpPr>
        <p:spPr>
          <a:xfrm>
            <a:off x="8897112"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Member 3: Name</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SRN</a:t>
            </a:r>
            <a:endParaRPr lang="en-US" sz="1300" dirty="0"/>
          </a:p>
        </p:txBody>
      </p:sp>
      <p:sp>
        <p:nvSpPr>
          <p:cNvPr id="62" name="Separator 2"/>
          <p:cNvSpPr/>
          <p:nvPr/>
        </p:nvSpPr>
        <p:spPr>
          <a:xfrm>
            <a:off x="7397496" y="8686800"/>
            <a:ext cx="0" cy="1143000"/>
          </a:xfrm>
          <a:prstGeom prst="line">
            <a:avLst/>
          </a:prstGeom>
          <a:noFill/>
          <a:ln w="12700">
            <a:solidFill>
              <a:srgbClr val="CFD8DE"/>
            </a:solidFill>
            <a:prstDash val="solid"/>
          </a:ln>
        </p:spPr>
      </p:sp>
      <p:sp>
        <p:nvSpPr>
          <p:cNvPr id="63" name="Member 4 photo"/>
          <p:cNvSpPr/>
          <p:nvPr/>
        </p:nvSpPr>
        <p:spPr>
          <a:xfrm>
            <a:off x="11009376"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4" name="Member 4 name"/>
          <p:cNvSpPr txBox="1"/>
          <p:nvPr/>
        </p:nvSpPr>
        <p:spPr>
          <a:xfrm>
            <a:off x="12353544"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Member 4: Name</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SRN</a:t>
            </a:r>
            <a:endParaRPr lang="en-US" sz="1300" dirty="0"/>
          </a:p>
        </p:txBody>
      </p:sp>
      <p:sp>
        <p:nvSpPr>
          <p:cNvPr id="65" name="Separator 3"/>
          <p:cNvSpPr/>
          <p:nvPr/>
        </p:nvSpPr>
        <p:spPr>
          <a:xfrm>
            <a:off x="10853928" y="8686800"/>
            <a:ext cx="0" cy="1143000"/>
          </a:xfrm>
          <a:prstGeom prst="line">
            <a:avLst/>
          </a:prstGeom>
          <a:noFill/>
          <a:ln w="12700">
            <a:solidFill>
              <a:srgbClr val="CFD8DE"/>
            </a:solidFill>
            <a:prstDash val="solid"/>
          </a:ln>
        </p:spPr>
      </p:sp>
      <p:sp>
        <p:nvSpPr>
          <p:cNvPr id="66" name="Guide photo"/>
          <p:cNvSpPr/>
          <p:nvPr/>
        </p:nvSpPr>
        <p:spPr>
          <a:xfrm>
            <a:off x="14465808"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7" name="Guide name"/>
          <p:cNvSpPr txBox="1"/>
          <p:nvPr/>
        </p:nvSpPr>
        <p:spPr>
          <a:xfrm>
            <a:off x="15809976"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Guide: Name</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Designation</a:t>
            </a:r>
            <a:endParaRPr lang="en-US" sz="1300" dirty="0"/>
          </a:p>
        </p:txBody>
      </p:sp>
      <p:sp>
        <p:nvSpPr>
          <p:cNvPr id="68" name="Separator 4"/>
          <p:cNvSpPr/>
          <p:nvPr/>
        </p:nvSpPr>
        <p:spPr>
          <a:xfrm>
            <a:off x="14310360" y="8686800"/>
            <a:ext cx="0" cy="1143000"/>
          </a:xfrm>
          <a:prstGeom prst="line">
            <a:avLst/>
          </a:prstGeom>
          <a:noFill/>
          <a:ln w="12700">
            <a:solidFill>
              <a:srgbClr val="CFD8DE"/>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fair poster</dc:title>
  <dc:subject>PptxGenJS Presentation</dc:subject>
  <dc:creator>PptxGenJS</dc:creator>
  <cp:lastModifiedBy>PptxGenJS</cp:lastModifiedBy>
  <cp:revision>1</cp:revision>
  <dcterms:created xsi:type="dcterms:W3CDTF">2026-10-05T17:17:28Z</dcterms:created>
  <dcterms:modified xsi:type="dcterms:W3CDTF">2026-10-05T17:17:28Z</dcterms:modified>
</cp:coreProperties>
</file>