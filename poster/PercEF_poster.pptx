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5D6E"/>
        </a:solidFill>
      </p:bgPr>
    </p:bg>
    <p:spTree>
      <p:nvGrpSpPr>
        <p:cNvPr id="1" name=""/>
        <p:cNvGrpSpPr/>
        <p:nvPr/>
      </p:nvGrpSpPr>
      <p:grpSpPr>
        <a:xfrm>
          <a:off x="0" y="0"/>
          <a:ext cx="0" cy="0"/>
          <a:chOff x="0" y="0"/>
          <a:chExt cx="0" cy="0"/>
        </a:xfrm>
      </p:grpSpPr>
      <p:sp>
        <p:nvSpPr>
          <p:cNvPr id="2" name="Panel"/>
          <p:cNvSpPr/>
          <p:nvPr/>
        </p:nvSpPr>
        <p:spPr>
          <a:xfrm>
            <a:off x="228600" y="182880"/>
            <a:ext cx="17830800" cy="9921240"/>
          </a:xfrm>
          <a:prstGeom prst="rect">
            <a:avLst/>
          </a:prstGeom>
          <a:solidFill>
            <a:srgbClr val="FFFFFF"/>
          </a:solidFill>
          <a:ln w="12700">
            <a:solidFill>
              <a:srgbClr val="FFFFFF"/>
            </a:solidFill>
            <a:prstDash val="solid"/>
          </a:ln>
        </p:spPr>
      </p:sp>
      <p:pic>
        <p:nvPicPr>
          <p:cNvPr id="3" name="Logo PES" descr="assets/logo_pes.png">    </p:cNvPr>
          <p:cNvPicPr>
            <a:picLocks noChangeAspect="1"/>
          </p:cNvPicPr>
          <p:nvPr/>
        </p:nvPicPr>
        <p:blipFill>
          <a:blip r:embed="rId1"/>
          <a:stretch>
            <a:fillRect/>
          </a:stretch>
        </p:blipFill>
        <p:spPr>
          <a:xfrm>
            <a:off x="457200" y="320040"/>
            <a:ext cx="2926080" cy="1499616"/>
          </a:xfrm>
          <a:prstGeom prst="rect">
            <a:avLst/>
          </a:prstGeom>
        </p:spPr>
      </p:pic>
      <p:pic>
        <p:nvPicPr>
          <p:cNvPr id="4" name="Logo CDSAML" descr="assets/logo_cdsaml.png">    </p:cNvPr>
          <p:cNvPicPr>
            <a:picLocks noChangeAspect="1"/>
          </p:cNvPicPr>
          <p:nvPr/>
        </p:nvPicPr>
        <p:blipFill>
          <a:blip r:embed="rId2"/>
          <a:stretch>
            <a:fillRect/>
          </a:stretch>
        </p:blipFill>
        <p:spPr>
          <a:xfrm>
            <a:off x="14401800" y="301752"/>
            <a:ext cx="1463040" cy="1426464"/>
          </a:xfrm>
          <a:prstGeom prst="rect">
            <a:avLst/>
          </a:prstGeom>
        </p:spPr>
      </p:pic>
      <p:pic>
        <p:nvPicPr>
          <p:cNvPr id="5" name="Logo CCBD" descr="assets/logo_ccbd.png">    </p:cNvPr>
          <p:cNvPicPr>
            <a:picLocks noChangeAspect="1"/>
          </p:cNvPicPr>
          <p:nvPr/>
        </p:nvPicPr>
        <p:blipFill>
          <a:blip r:embed="rId3"/>
          <a:stretch>
            <a:fillRect/>
          </a:stretch>
        </p:blipFill>
        <p:spPr>
          <a:xfrm>
            <a:off x="15910560" y="566928"/>
            <a:ext cx="1920240" cy="612648"/>
          </a:xfrm>
          <a:prstGeom prst="rect">
            <a:avLst/>
          </a:prstGeom>
        </p:spPr>
      </p:pic>
      <p:sp>
        <p:nvSpPr>
          <p:cNvPr id="6" name="Title"/>
          <p:cNvSpPr txBox="1"/>
          <p:nvPr/>
        </p:nvSpPr>
        <p:spPr>
          <a:xfrm>
            <a:off x="3611880" y="274320"/>
            <a:ext cx="10607040" cy="960120"/>
          </a:xfrm>
          <a:prstGeom prst="rect">
            <a:avLst/>
          </a:prstGeom>
          <a:noFill/>
          <a:ln/>
        </p:spPr>
        <p:txBody>
          <a:bodyPr wrap="square" lIns="0" tIns="0" rIns="0" bIns="0" rtlCol="0" anchor="ctr"/>
          <a:lstStyle/>
          <a:p>
            <a:pPr algn="ctr" indent="0" marL="0">
              <a:buNone/>
            </a:pPr>
            <a:r>
              <a:rPr lang="en-US" sz="2800" b="1" dirty="0">
                <a:solidFill>
                  <a:srgbClr val="2D3A82"/>
                </a:solidFill>
                <a:latin typeface="Arial" pitchFamily="34" charset="0"/>
                <a:ea typeface="Arial" pitchFamily="34" charset="-122"/>
                <a:cs typeface="Arial" pitchFamily="34" charset="-120"/>
              </a:rPr>
              <a:t>PercEF: Exploiting Empirical Percentiles for Adaptive HNSW Search Beyond the Gaussian Assumption</a:t>
            </a:r>
            <a:endParaRPr lang="en-US" sz="2800" dirty="0"/>
          </a:p>
        </p:txBody>
      </p:sp>
      <p:sp>
        <p:nvSpPr>
          <p:cNvPr id="7" name="Subtitle"/>
          <p:cNvSpPr txBox="1"/>
          <p:nvPr/>
        </p:nvSpPr>
        <p:spPr>
          <a:xfrm>
            <a:off x="3611880" y="1261872"/>
            <a:ext cx="10607040" cy="566928"/>
          </a:xfrm>
          <a:prstGeom prst="rect">
            <a:avLst/>
          </a:prstGeom>
          <a:noFill/>
          <a:ln/>
        </p:spPr>
        <p:txBody>
          <a:bodyPr wrap="square" lIns="0" tIns="0" rIns="0" bIns="0" rtlCol="0" anchor="t"/>
          <a:lstStyle/>
          <a:p>
            <a:pPr algn="ctr" indent="0" marL="0">
              <a:buNone/>
            </a:pPr>
            <a:r>
              <a:rPr lang="en-US" sz="1400" b="1" dirty="0">
                <a:solidFill>
                  <a:srgbClr val="2D3A82"/>
                </a:solidFill>
                <a:latin typeface="Arial" pitchFamily="34" charset="0"/>
                <a:ea typeface="Arial" pitchFamily="34" charset="-122"/>
                <a:cs typeface="Arial" pitchFamily="34" charset="-120"/>
              </a:rPr>
              <a:t>Center for Data Science and Applied Machine Learning (CDSAML)</a:t>
            </a:r>
            <a:endParaRPr lang="en-US" sz="1400" dirty="0"/>
          </a:p>
          <a:p>
            <a:pPr algn="ctr" indent="0" marL="0">
              <a:buNone/>
            </a:pPr>
            <a:r>
              <a:rPr lang="en-US" sz="1400" b="1" dirty="0">
                <a:solidFill>
                  <a:srgbClr val="2D3A82"/>
                </a:solidFill>
                <a:latin typeface="Arial" pitchFamily="34" charset="0"/>
                <a:ea typeface="Arial" pitchFamily="34" charset="-122"/>
                <a:cs typeface="Arial" pitchFamily="34" charset="-120"/>
              </a:rPr>
              <a:t>Department of Computer Science and Engineering, PES University, RR Campus, Bengaluru-560085</a:t>
            </a:r>
            <a:endParaRPr lang="en-US" sz="1400" dirty="0"/>
          </a:p>
        </p:txBody>
      </p:sp>
      <p:sp>
        <p:nvSpPr>
          <p:cNvPr id="8" name="Problem header"/>
          <p:cNvSpPr txBox="1"/>
          <p:nvPr/>
        </p:nvSpPr>
        <p:spPr>
          <a:xfrm>
            <a:off x="502920" y="1965960"/>
            <a:ext cx="5577840" cy="502920"/>
          </a:xfrm>
          <a:prstGeom prst="rect">
            <a:avLst/>
          </a:prstGeom>
          <a:solidFill>
            <a:srgbClr val="1597AB"/>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PROBLEM STATEMENT</a:t>
            </a:r>
            <a:endParaRPr lang="en-US" sz="2000" dirty="0"/>
          </a:p>
        </p:txBody>
      </p:sp>
      <p:sp>
        <p:nvSpPr>
          <p:cNvPr id="9" name="Problem box"/>
          <p:cNvSpPr/>
          <p:nvPr/>
        </p:nvSpPr>
        <p:spPr>
          <a:xfrm>
            <a:off x="502920" y="2468880"/>
            <a:ext cx="5577840" cy="1572768"/>
          </a:xfrm>
          <a:prstGeom prst="rect">
            <a:avLst/>
          </a:prstGeom>
          <a:solidFill>
            <a:srgbClr val="FFFFFF"/>
          </a:solidFill>
          <a:ln w="9525">
            <a:solidFill>
              <a:srgbClr val="CFD8DE"/>
            </a:solidFill>
            <a:prstDash val="solid"/>
          </a:ln>
        </p:spPr>
      </p:sp>
      <p:sp>
        <p:nvSpPr>
          <p:cNvPr id="10" name="Problem text"/>
          <p:cNvSpPr txBox="1"/>
          <p:nvPr/>
        </p:nvSpPr>
        <p:spPr>
          <a:xfrm>
            <a:off x="576072" y="2523744"/>
            <a:ext cx="5431536" cy="1463040"/>
          </a:xfrm>
          <a:prstGeom prst="rect">
            <a:avLst/>
          </a:prstGeom>
          <a:noFill/>
          <a:ln/>
        </p:spPr>
        <p:txBody>
          <a:bodyPr wrap="square" lIns="50800" tIns="50800" rIns="50800" bIns="50800" rtlCol="0" anchor="t"/>
          <a:lstStyle/>
          <a:p>
            <a:pPr indent="0" marL="0">
              <a:buNone/>
            </a:pPr>
            <a:r>
              <a:rPr lang="en-US" sz="1300" b="1" dirty="0">
                <a:solidFill>
                  <a:srgbClr val="1F2933"/>
                </a:solidFill>
                <a:latin typeface="Arial" pitchFamily="34" charset="0"/>
                <a:ea typeface="Arial" pitchFamily="34" charset="-122"/>
                <a:cs typeface="Arial" pitchFamily="34" charset="-120"/>
              </a:rPr>
              <a:t>a) </a:t>
            </a:r>
            <a:pPr indent="0" marL="0">
              <a:spcAft>
                <a:spcPts val="500"/>
              </a:spcAft>
              <a:buNone/>
            </a:pPr>
            <a:r>
              <a:rPr lang="en-US" sz="1300" dirty="0">
                <a:solidFill>
                  <a:srgbClr val="1F2933"/>
                </a:solidFill>
                <a:latin typeface="Arial" pitchFamily="34" charset="0"/>
                <a:ea typeface="Arial" pitchFamily="34" charset="-122"/>
                <a:cs typeface="Arial" pitchFamily="34" charset="-120"/>
              </a:rPr>
              <a:t>Vector search engines answer every query with the same search breadth (ef) in HNSW. Easy queries waste work; hard queries miss neighbours.</a:t>
            </a:r>
            <a:endParaRPr lang="en-US" sz="1300" dirty="0"/>
          </a:p>
          <a:p>
            <a:pPr indent="0" marL="0">
              <a:buNone/>
            </a:pPr>
            <a:r>
              <a:rPr lang="en-US" sz="1300" b="1" dirty="0">
                <a:solidFill>
                  <a:srgbClr val="1F2933"/>
                </a:solidFill>
                <a:latin typeface="Arial" pitchFamily="34" charset="0"/>
                <a:ea typeface="Arial" pitchFamily="34" charset="-122"/>
                <a:cs typeface="Arial" pitchFamily="34" charset="-120"/>
              </a:rPr>
              <a:t>b) </a:t>
            </a:r>
            <a:pPr indent="0" marL="0">
              <a:spcAft>
                <a:spcPts val="500"/>
              </a:spcAft>
              <a:buNone/>
            </a:pPr>
            <a:r>
              <a:rPr lang="en-US" sz="1300" dirty="0">
                <a:solidFill>
                  <a:srgbClr val="1F2933"/>
                </a:solidFill>
                <a:latin typeface="Arial" pitchFamily="34" charset="0"/>
                <a:ea typeface="Arial" pitchFamily="34" charset="-122"/>
                <a:cs typeface="Arial" pitchFamily="34" charset="-120"/>
              </a:rPr>
              <a:t>Ada-ef (SIGMOD 2026) sets ef per query by assuming each query's similarities to the data are Gaussian. The assumption was never tested. We test it, and fix the method where it fails.</a:t>
            </a:r>
            <a:endParaRPr lang="en-US" sz="1300" dirty="0"/>
          </a:p>
        </p:txBody>
      </p:sp>
      <p:sp>
        <p:nvSpPr>
          <p:cNvPr id="11" name="Objectives header"/>
          <p:cNvSpPr txBox="1"/>
          <p:nvPr/>
        </p:nvSpPr>
        <p:spPr>
          <a:xfrm>
            <a:off x="502920" y="4178808"/>
            <a:ext cx="5577840" cy="502920"/>
          </a:xfrm>
          <a:prstGeom prst="rect">
            <a:avLst/>
          </a:prstGeom>
          <a:solidFill>
            <a:srgbClr val="1597AB"/>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OBJECTIVES</a:t>
            </a:r>
            <a:endParaRPr lang="en-US" sz="2000" dirty="0"/>
          </a:p>
        </p:txBody>
      </p:sp>
      <p:sp>
        <p:nvSpPr>
          <p:cNvPr id="12" name="Objectives box"/>
          <p:cNvSpPr/>
          <p:nvPr/>
        </p:nvSpPr>
        <p:spPr>
          <a:xfrm>
            <a:off x="502920" y="4681728"/>
            <a:ext cx="5577840" cy="1371600"/>
          </a:xfrm>
          <a:prstGeom prst="rect">
            <a:avLst/>
          </a:prstGeom>
          <a:solidFill>
            <a:srgbClr val="FFFFFF"/>
          </a:solidFill>
          <a:ln w="9525">
            <a:solidFill>
              <a:srgbClr val="CFD8DE"/>
            </a:solidFill>
            <a:prstDash val="solid"/>
          </a:ln>
        </p:spPr>
      </p:sp>
      <p:sp>
        <p:nvSpPr>
          <p:cNvPr id="13" name="Objectives text"/>
          <p:cNvSpPr txBox="1"/>
          <p:nvPr/>
        </p:nvSpPr>
        <p:spPr>
          <a:xfrm>
            <a:off x="576072" y="4736592"/>
            <a:ext cx="5431536" cy="1261872"/>
          </a:xfrm>
          <a:prstGeom prst="rect">
            <a:avLst/>
          </a:prstGeom>
          <a:noFill/>
          <a:ln/>
        </p:spPr>
        <p:txBody>
          <a:bodyPr wrap="square" lIns="50800" tIns="50800" rIns="50800" bIns="50800" rtlCol="0" anchor="t"/>
          <a:lstStyle/>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Measure how often the Gaussian assumption holds on public embedding datasets.</a:t>
            </a:r>
            <a:endParaRPr lang="en-US" sz="1300" dirty="0"/>
          </a:p>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Build a distribution-free difficulty score that works where it does not.</a:t>
            </a:r>
            <a:endParaRPr lang="en-US" sz="1300" dirty="0"/>
          </a:p>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Give a quick offline test that says which method to use.</a:t>
            </a:r>
            <a:endParaRPr lang="en-US" sz="1300" dirty="0"/>
          </a:p>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Compare fairly with Ada-ef and a learned method (DARTH).</a:t>
            </a:r>
            <a:endParaRPr lang="en-US" sz="1300" dirty="0"/>
          </a:p>
        </p:txBody>
      </p:sp>
      <p:sp>
        <p:nvSpPr>
          <p:cNvPr id="14" name="Dataset header"/>
          <p:cNvSpPr txBox="1"/>
          <p:nvPr/>
        </p:nvSpPr>
        <p:spPr>
          <a:xfrm>
            <a:off x="502920" y="6190488"/>
            <a:ext cx="5577840" cy="502920"/>
          </a:xfrm>
          <a:prstGeom prst="rect">
            <a:avLst/>
          </a:prstGeom>
          <a:solidFill>
            <a:srgbClr val="1597AB"/>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DATASET AND FEATURES</a:t>
            </a:r>
            <a:endParaRPr lang="en-US" sz="2000" dirty="0"/>
          </a:p>
        </p:txBody>
      </p:sp>
      <p:sp>
        <p:nvSpPr>
          <p:cNvPr id="15" name="Dataset box"/>
          <p:cNvSpPr/>
          <p:nvPr/>
        </p:nvSpPr>
        <p:spPr>
          <a:xfrm>
            <a:off x="502920" y="6693408"/>
            <a:ext cx="5577840" cy="1581912"/>
          </a:xfrm>
          <a:prstGeom prst="rect">
            <a:avLst/>
          </a:prstGeom>
          <a:solidFill>
            <a:srgbClr val="FFFFFF"/>
          </a:solidFill>
          <a:ln w="9525">
            <a:solidFill>
              <a:srgbClr val="CFD8DE"/>
            </a:solidFill>
            <a:prstDash val="solid"/>
          </a:ln>
        </p:spPr>
      </p:sp>
      <p:sp>
        <p:nvSpPr>
          <p:cNvPr id="16" name="Dataset text"/>
          <p:cNvSpPr txBox="1"/>
          <p:nvPr/>
        </p:nvSpPr>
        <p:spPr>
          <a:xfrm>
            <a:off x="576072" y="6748272"/>
            <a:ext cx="5431536" cy="1472184"/>
          </a:xfrm>
          <a:prstGeom prst="rect">
            <a:avLst/>
          </a:prstGeom>
          <a:noFill/>
          <a:ln/>
        </p:spPr>
        <p:txBody>
          <a:bodyPr wrap="square" lIns="50800" tIns="50800" rIns="50800" bIns="50800" rtlCol="0" anchor="t"/>
          <a:lstStyle/>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41 public datasets surveyed (ann-benchmarks, Big-ANN, VIBE, Ada-ef's own sources).</a:t>
            </a:r>
            <a:endParaRPr lang="en-US" sz="1300" dirty="0"/>
          </a:p>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20 benchmarked end to end: text, image, audio, music and CLIP embeddings; 60K to 19.6M vectors, 65 to 2048 dimensions.</a:t>
            </a:r>
            <a:endParaRPr lang="en-US" sz="1300" dirty="0"/>
          </a:p>
          <a:p>
            <a:pPr marL="152400" indent="-152400">
              <a:spcAft>
                <a:spcPts val="400"/>
              </a:spcAft>
              <a:buSzPct val="100000"/>
              <a:buChar char="•"/>
            </a:pPr>
            <a:r>
              <a:rPr lang="en-US" sz="1300" dirty="0">
                <a:solidFill>
                  <a:srgbClr val="1F2933"/>
                </a:solidFill>
                <a:latin typeface="Arial" pitchFamily="34" charset="0"/>
                <a:ea typeface="Arial" pitchFamily="34" charset="-122"/>
                <a:cs typeface="Arial" pitchFamily="34" charset="-120"/>
              </a:rPr>
              <a:t>Measured per query: similarity distribution, true minimum ef for 95% recall. Per dataset: KS statistic.</a:t>
            </a:r>
            <a:endParaRPr lang="en-US" sz="1300" dirty="0"/>
          </a:p>
        </p:txBody>
      </p:sp>
      <p:sp>
        <p:nvSpPr>
          <p:cNvPr id="17" name="Architecture header"/>
          <p:cNvSpPr txBox="1"/>
          <p:nvPr/>
        </p:nvSpPr>
        <p:spPr>
          <a:xfrm>
            <a:off x="6355080" y="1965960"/>
            <a:ext cx="5577840" cy="502920"/>
          </a:xfrm>
          <a:prstGeom prst="rect">
            <a:avLst/>
          </a:prstGeom>
          <a:solidFill>
            <a:srgbClr val="485B6C"/>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SYSTEM ARCHITECTURE</a:t>
            </a:r>
            <a:endParaRPr lang="en-US" sz="2000" dirty="0"/>
          </a:p>
        </p:txBody>
      </p:sp>
      <p:sp>
        <p:nvSpPr>
          <p:cNvPr id="18" name="Architecture box"/>
          <p:cNvSpPr/>
          <p:nvPr/>
        </p:nvSpPr>
        <p:spPr>
          <a:xfrm>
            <a:off x="6355080" y="2468880"/>
            <a:ext cx="5577840" cy="2926080"/>
          </a:xfrm>
          <a:prstGeom prst="rect">
            <a:avLst/>
          </a:prstGeom>
          <a:solidFill>
            <a:srgbClr val="FFFFFF"/>
          </a:solidFill>
          <a:ln w="9525">
            <a:solidFill>
              <a:srgbClr val="CFD8DE"/>
            </a:solidFill>
            <a:prstDash val="solid"/>
          </a:ln>
        </p:spPr>
      </p:sp>
      <p:sp>
        <p:nvSpPr>
          <p:cNvPr id="19" name="Lane: offline"/>
          <p:cNvSpPr txBox="1"/>
          <p:nvPr/>
        </p:nvSpPr>
        <p:spPr>
          <a:xfrm>
            <a:off x="6473952" y="2578608"/>
            <a:ext cx="5340096" cy="256032"/>
          </a:xfrm>
          <a:prstGeom prst="rect">
            <a:avLst/>
          </a:prstGeom>
          <a:noFill/>
          <a:ln/>
        </p:spPr>
        <p:txBody>
          <a:bodyPr wrap="square" lIns="0" tIns="0" rIns="0" bIns="0" rtlCol="0" anchor="ctr"/>
          <a:lstStyle/>
          <a:p>
            <a:pPr indent="0" marL="0">
              <a:buNone/>
            </a:pPr>
            <a:r>
              <a:rPr lang="en-US" sz="1100" i="1" dirty="0">
                <a:solidFill>
                  <a:srgbClr val="5B6670"/>
                </a:solidFill>
                <a:latin typeface="Arial" pitchFamily="34" charset="0"/>
                <a:ea typeface="Arial" pitchFamily="34" charset="-122"/>
                <a:cs typeface="Arial" pitchFamily="34" charset="-120"/>
              </a:rPr>
              <a:t>Offline, once per dataset</a:t>
            </a:r>
            <a:endParaRPr lang="en-US" sz="1100" dirty="0"/>
          </a:p>
        </p:txBody>
      </p:sp>
      <p:sp>
        <p:nvSpPr>
          <p:cNvPr id="20" name="Arch: corpus"/>
          <p:cNvSpPr/>
          <p:nvPr/>
        </p:nvSpPr>
        <p:spPr>
          <a:xfrm>
            <a:off x="6473952" y="2871216"/>
            <a:ext cx="1600200" cy="603504"/>
          </a:xfrm>
          <a:prstGeom prst="roundRect">
            <a:avLst>
              <a:gd name="adj" fmla="val 12121"/>
            </a:avLst>
          </a:prstGeom>
          <a:solidFill>
            <a:srgbClr val="E4F3F6"/>
          </a:solidFill>
          <a:ln w="12700">
            <a:solidFill>
              <a:srgbClr val="1597AB"/>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Corpus vectors</a:t>
            </a:r>
            <a:endParaRPr lang="en-US" sz="1100" dirty="0"/>
          </a:p>
        </p:txBody>
      </p:sp>
      <p:sp>
        <p:nvSpPr>
          <p:cNvPr id="21" name="Arch: ks"/>
          <p:cNvSpPr/>
          <p:nvPr/>
        </p:nvSpPr>
        <p:spPr>
          <a:xfrm>
            <a:off x="8348472" y="2871216"/>
            <a:ext cx="1600200" cy="603504"/>
          </a:xfrm>
          <a:prstGeom prst="roundRect">
            <a:avLst>
              <a:gd name="adj" fmla="val 12121"/>
            </a:avLst>
          </a:prstGeom>
          <a:solidFill>
            <a:srgbClr val="E4F3F6"/>
          </a:solidFill>
          <a:ln w="12700">
            <a:solidFill>
              <a:srgbClr val="1597AB"/>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KS test: are similarities Gaussian?</a:t>
            </a:r>
            <a:endParaRPr lang="en-US" sz="1100" dirty="0"/>
          </a:p>
        </p:txBody>
      </p:sp>
      <p:sp>
        <p:nvSpPr>
          <p:cNvPr id="22" name="Arch: calibration"/>
          <p:cNvSpPr/>
          <p:nvPr/>
        </p:nvSpPr>
        <p:spPr>
          <a:xfrm>
            <a:off x="10222992" y="2871216"/>
            <a:ext cx="1600200" cy="603504"/>
          </a:xfrm>
          <a:prstGeom prst="roundRect">
            <a:avLst>
              <a:gd name="adj" fmla="val 12121"/>
            </a:avLst>
          </a:prstGeom>
          <a:solidFill>
            <a:srgbClr val="E4F3F6"/>
          </a:solidFill>
          <a:ln w="12700">
            <a:solidFill>
              <a:srgbClr val="1597AB"/>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Percentile bins + calibrated ef table</a:t>
            </a:r>
            <a:endParaRPr lang="en-US" sz="1100" dirty="0"/>
          </a:p>
        </p:txBody>
      </p:sp>
      <p:sp>
        <p:nvSpPr>
          <p:cNvPr id="23" name="Arrow: corpus-ks"/>
          <p:cNvSpPr/>
          <p:nvPr/>
        </p:nvSpPr>
        <p:spPr>
          <a:xfrm>
            <a:off x="8074152" y="3172968"/>
            <a:ext cx="274320" cy="0"/>
          </a:xfrm>
          <a:prstGeom prst="line">
            <a:avLst/>
          </a:prstGeom>
          <a:noFill/>
          <a:ln w="19050">
            <a:solidFill>
              <a:srgbClr val="5B6670"/>
            </a:solidFill>
            <a:prstDash val="solid"/>
            <a:tailEnd type="triangle"/>
          </a:ln>
        </p:spPr>
      </p:sp>
      <p:sp>
        <p:nvSpPr>
          <p:cNvPr id="24" name="Arrow: ks-calibration"/>
          <p:cNvSpPr/>
          <p:nvPr/>
        </p:nvSpPr>
        <p:spPr>
          <a:xfrm>
            <a:off x="9948672" y="3172968"/>
            <a:ext cx="274320" cy="0"/>
          </a:xfrm>
          <a:prstGeom prst="line">
            <a:avLst/>
          </a:prstGeom>
          <a:noFill/>
          <a:ln w="19050">
            <a:solidFill>
              <a:srgbClr val="5B6670"/>
            </a:solidFill>
            <a:prstDash val="solid"/>
            <a:tailEnd type="triangle"/>
          </a:ln>
        </p:spPr>
      </p:sp>
      <p:sp>
        <p:nvSpPr>
          <p:cNvPr id="25" name="Lane: online"/>
          <p:cNvSpPr txBox="1"/>
          <p:nvPr/>
        </p:nvSpPr>
        <p:spPr>
          <a:xfrm>
            <a:off x="6473952" y="3511296"/>
            <a:ext cx="5340096" cy="256032"/>
          </a:xfrm>
          <a:prstGeom prst="rect">
            <a:avLst/>
          </a:prstGeom>
          <a:noFill/>
          <a:ln/>
        </p:spPr>
        <p:txBody>
          <a:bodyPr wrap="square" lIns="0" tIns="0" rIns="0" bIns="0" rtlCol="0" anchor="ctr"/>
          <a:lstStyle/>
          <a:p>
            <a:pPr indent="0" marL="0">
              <a:buNone/>
            </a:pPr>
            <a:r>
              <a:rPr lang="en-US" sz="1100" i="1" dirty="0">
                <a:solidFill>
                  <a:srgbClr val="5B6670"/>
                </a:solidFill>
                <a:latin typeface="Arial" pitchFamily="34" charset="0"/>
                <a:ea typeface="Arial" pitchFamily="34" charset="-122"/>
                <a:cs typeface="Arial" pitchFamily="34" charset="-120"/>
              </a:rPr>
              <a:t>Online, per query</a:t>
            </a:r>
            <a:endParaRPr lang="en-US" sz="1100" dirty="0"/>
          </a:p>
        </p:txBody>
      </p:sp>
      <p:sp>
        <p:nvSpPr>
          <p:cNvPr id="26" name="Arch: query"/>
          <p:cNvSpPr/>
          <p:nvPr/>
        </p:nvSpPr>
        <p:spPr>
          <a:xfrm>
            <a:off x="6473952" y="3803904"/>
            <a:ext cx="1600200" cy="603504"/>
          </a:xfrm>
          <a:prstGeom prst="roundRect">
            <a:avLst>
              <a:gd name="adj" fmla="val 12121"/>
            </a:avLst>
          </a:prstGeom>
          <a:solidFill>
            <a:srgbClr val="E9EDF0"/>
          </a:solidFill>
          <a:ln w="12700">
            <a:solidFill>
              <a:srgbClr val="485B6C"/>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Query vector</a:t>
            </a:r>
            <a:endParaRPr lang="en-US" sz="1100" dirty="0"/>
          </a:p>
        </p:txBody>
      </p:sp>
      <p:sp>
        <p:nvSpPr>
          <p:cNvPr id="27" name="Arch: probe"/>
          <p:cNvSpPr/>
          <p:nvPr/>
        </p:nvSpPr>
        <p:spPr>
          <a:xfrm>
            <a:off x="8348472" y="3803904"/>
            <a:ext cx="1600200" cy="603504"/>
          </a:xfrm>
          <a:prstGeom prst="roundRect">
            <a:avLst>
              <a:gd name="adj" fmla="val 12121"/>
            </a:avLst>
          </a:prstGeom>
          <a:solidFill>
            <a:srgbClr val="E9EDF0"/>
          </a:solidFill>
          <a:ln w="12700">
            <a:solidFill>
              <a:srgbClr val="485B6C"/>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HNSW probe: first 100 distances</a:t>
            </a:r>
            <a:endParaRPr lang="en-US" sz="1100" dirty="0"/>
          </a:p>
        </p:txBody>
      </p:sp>
      <p:sp>
        <p:nvSpPr>
          <p:cNvPr id="28" name="Arch: score"/>
          <p:cNvSpPr/>
          <p:nvPr/>
        </p:nvSpPr>
        <p:spPr>
          <a:xfrm>
            <a:off x="10222992" y="3803904"/>
            <a:ext cx="1600200" cy="603504"/>
          </a:xfrm>
          <a:prstGeom prst="roundRect">
            <a:avLst>
              <a:gd name="adj" fmla="val 12121"/>
            </a:avLst>
          </a:prstGeom>
          <a:solidFill>
            <a:srgbClr val="1597AB"/>
          </a:solidFill>
          <a:ln w="12700">
            <a:solidFill>
              <a:srgbClr val="1597AB"/>
            </a:solidFill>
          </a:ln>
        </p:spPr>
        <p:txBody>
          <a:bodyPr wrap="square" lIns="38100" tIns="38100" rIns="38100" bIns="3810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Difficulty score from empirical bins</a:t>
            </a:r>
            <a:endParaRPr lang="en-US" sz="1100" dirty="0"/>
          </a:p>
        </p:txBody>
      </p:sp>
      <p:sp>
        <p:nvSpPr>
          <p:cNvPr id="29" name="Arrow: query-probe"/>
          <p:cNvSpPr/>
          <p:nvPr/>
        </p:nvSpPr>
        <p:spPr>
          <a:xfrm>
            <a:off x="8074152" y="4105656"/>
            <a:ext cx="274320" cy="0"/>
          </a:xfrm>
          <a:prstGeom prst="line">
            <a:avLst/>
          </a:prstGeom>
          <a:noFill/>
          <a:ln w="19050">
            <a:solidFill>
              <a:srgbClr val="5B6670"/>
            </a:solidFill>
            <a:prstDash val="solid"/>
            <a:tailEnd type="triangle"/>
          </a:ln>
        </p:spPr>
      </p:sp>
      <p:sp>
        <p:nvSpPr>
          <p:cNvPr id="30" name="Arrow: probe-score"/>
          <p:cNvSpPr/>
          <p:nvPr/>
        </p:nvSpPr>
        <p:spPr>
          <a:xfrm>
            <a:off x="9948672" y="4105656"/>
            <a:ext cx="274320" cy="0"/>
          </a:xfrm>
          <a:prstGeom prst="line">
            <a:avLst/>
          </a:prstGeom>
          <a:noFill/>
          <a:ln w="19050">
            <a:solidFill>
              <a:srgbClr val="5B6670"/>
            </a:solidFill>
            <a:prstDash val="solid"/>
            <a:tailEnd type="triangle"/>
          </a:ln>
        </p:spPr>
      </p:sp>
      <p:sp>
        <p:nvSpPr>
          <p:cNvPr id="31" name="Arrow: calibration-score"/>
          <p:cNvSpPr/>
          <p:nvPr/>
        </p:nvSpPr>
        <p:spPr>
          <a:xfrm>
            <a:off x="11023092" y="3474720"/>
            <a:ext cx="0" cy="329184"/>
          </a:xfrm>
          <a:prstGeom prst="line">
            <a:avLst/>
          </a:prstGeom>
          <a:noFill/>
          <a:ln w="19050">
            <a:solidFill>
              <a:srgbClr val="5B6670"/>
            </a:solidFill>
            <a:prstDash val="solid"/>
            <a:tailEnd type="triangle"/>
          </a:ln>
        </p:spPr>
      </p:sp>
      <p:sp>
        <p:nvSpPr>
          <p:cNvPr id="32" name="Arch: lookup"/>
          <p:cNvSpPr/>
          <p:nvPr/>
        </p:nvSpPr>
        <p:spPr>
          <a:xfrm>
            <a:off x="10222992" y="4681728"/>
            <a:ext cx="1600200" cy="603504"/>
          </a:xfrm>
          <a:prstGeom prst="roundRect">
            <a:avLst>
              <a:gd name="adj" fmla="val 12121"/>
            </a:avLst>
          </a:prstGeom>
          <a:solidFill>
            <a:srgbClr val="E9EDF0"/>
          </a:solidFill>
          <a:ln w="12700">
            <a:solidFill>
              <a:srgbClr val="485B6C"/>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Look up ef for this query</a:t>
            </a:r>
            <a:endParaRPr lang="en-US" sz="1100" dirty="0"/>
          </a:p>
        </p:txBody>
      </p:sp>
      <p:sp>
        <p:nvSpPr>
          <p:cNvPr id="33" name="Arch: continue"/>
          <p:cNvSpPr/>
          <p:nvPr/>
        </p:nvSpPr>
        <p:spPr>
          <a:xfrm>
            <a:off x="8348472" y="4681728"/>
            <a:ext cx="1600200" cy="603504"/>
          </a:xfrm>
          <a:prstGeom prst="roundRect">
            <a:avLst>
              <a:gd name="adj" fmla="val 12121"/>
            </a:avLst>
          </a:prstGeom>
          <a:solidFill>
            <a:srgbClr val="E9EDF0"/>
          </a:solidFill>
          <a:ln w="12700">
            <a:solidFill>
              <a:srgbClr val="485B6C"/>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Continue the same search at that ef</a:t>
            </a:r>
            <a:endParaRPr lang="en-US" sz="1100" dirty="0"/>
          </a:p>
        </p:txBody>
      </p:sp>
      <p:sp>
        <p:nvSpPr>
          <p:cNvPr id="34" name="Arch: results"/>
          <p:cNvSpPr/>
          <p:nvPr/>
        </p:nvSpPr>
        <p:spPr>
          <a:xfrm>
            <a:off x="6473952" y="4681728"/>
            <a:ext cx="1600200" cy="603504"/>
          </a:xfrm>
          <a:prstGeom prst="roundRect">
            <a:avLst>
              <a:gd name="adj" fmla="val 12121"/>
            </a:avLst>
          </a:prstGeom>
          <a:solidFill>
            <a:srgbClr val="E9EDF0"/>
          </a:solidFill>
          <a:ln w="12700">
            <a:solidFill>
              <a:srgbClr val="485B6C"/>
            </a:solidFill>
          </a:ln>
        </p:spPr>
        <p:txBody>
          <a:bodyPr wrap="square" lIns="38100" tIns="38100" rIns="38100" bIns="3810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Top-k neighbours</a:t>
            </a:r>
            <a:endParaRPr lang="en-US" sz="1100" dirty="0"/>
          </a:p>
        </p:txBody>
      </p:sp>
      <p:sp>
        <p:nvSpPr>
          <p:cNvPr id="35" name="Arrow: score-lookup"/>
          <p:cNvSpPr/>
          <p:nvPr/>
        </p:nvSpPr>
        <p:spPr>
          <a:xfrm>
            <a:off x="11023092" y="4407408"/>
            <a:ext cx="0" cy="274320"/>
          </a:xfrm>
          <a:prstGeom prst="line">
            <a:avLst/>
          </a:prstGeom>
          <a:noFill/>
          <a:ln w="19050">
            <a:solidFill>
              <a:srgbClr val="5B6670"/>
            </a:solidFill>
            <a:prstDash val="solid"/>
            <a:tailEnd type="triangle"/>
          </a:ln>
        </p:spPr>
      </p:sp>
      <p:sp>
        <p:nvSpPr>
          <p:cNvPr id="36" name="Arrow: lookup-continue"/>
          <p:cNvSpPr/>
          <p:nvPr/>
        </p:nvSpPr>
        <p:spPr>
          <a:xfrm flipH="1">
            <a:off x="9948672" y="4983480"/>
            <a:ext cx="274320" cy="0"/>
          </a:xfrm>
          <a:prstGeom prst="line">
            <a:avLst/>
          </a:prstGeom>
          <a:noFill/>
          <a:ln w="19050">
            <a:solidFill>
              <a:srgbClr val="5B6670"/>
            </a:solidFill>
            <a:prstDash val="solid"/>
            <a:tailEnd type="triangle"/>
          </a:ln>
        </p:spPr>
      </p:sp>
      <p:sp>
        <p:nvSpPr>
          <p:cNvPr id="37" name="Arrow: continue-results"/>
          <p:cNvSpPr/>
          <p:nvPr/>
        </p:nvSpPr>
        <p:spPr>
          <a:xfrm flipH="1">
            <a:off x="8074152" y="4983480"/>
            <a:ext cx="274320" cy="0"/>
          </a:xfrm>
          <a:prstGeom prst="line">
            <a:avLst/>
          </a:prstGeom>
          <a:noFill/>
          <a:ln w="19050">
            <a:solidFill>
              <a:srgbClr val="5B6670"/>
            </a:solidFill>
            <a:prstDash val="solid"/>
            <a:tailEnd type="triangle"/>
          </a:ln>
        </p:spPr>
      </p:sp>
      <p:sp>
        <p:nvSpPr>
          <p:cNvPr id="38" name="Methodology header"/>
          <p:cNvSpPr txBox="1"/>
          <p:nvPr/>
        </p:nvSpPr>
        <p:spPr>
          <a:xfrm>
            <a:off x="6355080" y="5532120"/>
            <a:ext cx="5577840" cy="502920"/>
          </a:xfrm>
          <a:prstGeom prst="rect">
            <a:avLst/>
          </a:prstGeom>
          <a:solidFill>
            <a:srgbClr val="485B6C"/>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PROPOSED METHODOLOGY</a:t>
            </a:r>
            <a:endParaRPr lang="en-US" sz="2000" dirty="0"/>
          </a:p>
        </p:txBody>
      </p:sp>
      <p:sp>
        <p:nvSpPr>
          <p:cNvPr id="39" name="Methodology box"/>
          <p:cNvSpPr/>
          <p:nvPr/>
        </p:nvSpPr>
        <p:spPr>
          <a:xfrm>
            <a:off x="6355080" y="6035040"/>
            <a:ext cx="5577840" cy="2240280"/>
          </a:xfrm>
          <a:prstGeom prst="rect">
            <a:avLst/>
          </a:prstGeom>
          <a:solidFill>
            <a:srgbClr val="FFFFFF"/>
          </a:solidFill>
          <a:ln w="9525">
            <a:solidFill>
              <a:srgbClr val="CFD8DE"/>
            </a:solidFill>
            <a:prstDash val="solid"/>
          </a:ln>
        </p:spPr>
      </p:sp>
      <p:sp>
        <p:nvSpPr>
          <p:cNvPr id="40" name="Methodology text"/>
          <p:cNvSpPr txBox="1"/>
          <p:nvPr/>
        </p:nvSpPr>
        <p:spPr>
          <a:xfrm>
            <a:off x="6428232" y="6089904"/>
            <a:ext cx="5431536" cy="2130552"/>
          </a:xfrm>
          <a:prstGeom prst="rect">
            <a:avLst/>
          </a:prstGeom>
          <a:noFill/>
          <a:ln/>
        </p:spPr>
        <p:txBody>
          <a:bodyPr wrap="square" lIns="50800" tIns="50800" rIns="50800" bIns="50800" rtlCol="0" anchor="t"/>
          <a:lstStyle/>
          <a:p>
            <a:pPr indent="0" marL="0">
              <a:spcAft>
                <a:spcPts val="200"/>
              </a:spcAft>
              <a:buNone/>
            </a:pPr>
            <a:r>
              <a:rPr lang="en-US" sz="1250" b="1" dirty="0">
                <a:solidFill>
                  <a:srgbClr val="1F2933"/>
                </a:solidFill>
                <a:latin typeface="Arial" pitchFamily="34" charset="0"/>
                <a:ea typeface="Arial" pitchFamily="34" charset="-122"/>
                <a:cs typeface="Arial" pitchFamily="34" charset="-120"/>
              </a:rPr>
              <a:t>a) Approach</a:t>
            </a:r>
            <a:endParaRPr lang="en-US" sz="1250" dirty="0"/>
          </a:p>
          <a:p>
            <a:pPr marL="152400" indent="-1524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Test: KS distance between each query's similarities and Ada-ef's Gaussian (seconds, no index).</a:t>
            </a:r>
            <a:endParaRPr lang="en-US" sz="1250" dirty="0"/>
          </a:p>
          <a:p>
            <a:pPr marL="152400" indent="-1524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Score: Ada-ef's binned score, with thresholds from the data's own distance percentiles.</a:t>
            </a:r>
            <a:endParaRPr lang="en-US" sz="1250" dirty="0"/>
          </a:p>
          <a:p>
            <a:pPr marL="152400" indent="-1524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Calibrate: isotonic fit of true minimum ef to score; no restart after the probe.</a:t>
            </a:r>
            <a:endParaRPr lang="en-US" sz="1250" dirty="0"/>
          </a:p>
          <a:p>
            <a:pPr indent="0" marL="0">
              <a:spcAft>
                <a:spcPts val="200"/>
              </a:spcAft>
              <a:buNone/>
            </a:pPr>
            <a:r>
              <a:rPr lang="en-US" sz="1250" b="1" dirty="0">
                <a:solidFill>
                  <a:srgbClr val="1F2933"/>
                </a:solidFill>
                <a:latin typeface="Arial" pitchFamily="34" charset="0"/>
                <a:ea typeface="Arial" pitchFamily="34" charset="-122"/>
                <a:cs typeface="Arial" pitchFamily="34" charset="-120"/>
              </a:rPr>
              <a:t>b) Constraints and assumptions</a:t>
            </a:r>
            <a:endParaRPr lang="en-US" sz="1250" dirty="0"/>
          </a:p>
          <a:p>
            <a:pPr marL="152400" indent="-1524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Ada-ef's protocol: M = 16, efC = 500, target recall 0.95, one thread.</a:t>
            </a:r>
            <a:endParaRPr lang="en-US" sz="1250" dirty="0"/>
          </a:p>
          <a:p>
            <a:pPr marL="152400" indent="-1524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Small calibration set; Cohere and LAION run as subsets (62 GB RAM).</a:t>
            </a:r>
            <a:endParaRPr lang="en-US" sz="1250" dirty="0"/>
          </a:p>
        </p:txBody>
      </p:sp>
      <p:sp>
        <p:nvSpPr>
          <p:cNvPr id="41" name="Results header"/>
          <p:cNvSpPr txBox="1"/>
          <p:nvPr/>
        </p:nvSpPr>
        <p:spPr>
          <a:xfrm>
            <a:off x="12207240" y="1965960"/>
            <a:ext cx="5577840" cy="502920"/>
          </a:xfrm>
          <a:prstGeom prst="rect">
            <a:avLst/>
          </a:prstGeom>
          <a:solidFill>
            <a:srgbClr val="1597AB"/>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RESULTS &amp; DISCUSSION</a:t>
            </a:r>
            <a:endParaRPr lang="en-US" sz="2000" dirty="0"/>
          </a:p>
        </p:txBody>
      </p:sp>
      <p:sp>
        <p:nvSpPr>
          <p:cNvPr id="42" name="Results box"/>
          <p:cNvSpPr/>
          <p:nvPr/>
        </p:nvSpPr>
        <p:spPr>
          <a:xfrm>
            <a:off x="12207240" y="2468880"/>
            <a:ext cx="5577840" cy="4114800"/>
          </a:xfrm>
          <a:prstGeom prst="rect">
            <a:avLst/>
          </a:prstGeom>
          <a:solidFill>
            <a:srgbClr val="FFFFFF"/>
          </a:solidFill>
          <a:ln w="9525">
            <a:solidFill>
              <a:srgbClr val="CFD8DE"/>
            </a:solidFill>
            <a:prstDash val="solid"/>
          </a:ln>
        </p:spPr>
      </p:sp>
      <p:pic>
        <p:nvPicPr>
          <p:cNvPr id="43" name="Results figure" descr="assets/fig2_p1_vs_ks.png">    </p:cNvPr>
          <p:cNvPicPr>
            <a:picLocks noChangeAspect="1"/>
          </p:cNvPicPr>
          <p:nvPr/>
        </p:nvPicPr>
        <p:blipFill>
          <a:blip r:embed="rId4"/>
          <a:stretch>
            <a:fillRect/>
          </a:stretch>
        </p:blipFill>
        <p:spPr>
          <a:xfrm>
            <a:off x="12298680" y="2560320"/>
            <a:ext cx="3401568" cy="3006892"/>
          </a:xfrm>
          <a:prstGeom prst="rect">
            <a:avLst/>
          </a:prstGeom>
        </p:spPr>
      </p:pic>
      <p:sp>
        <p:nvSpPr>
          <p:cNvPr id="44" name="Results figure caption"/>
          <p:cNvSpPr txBox="1"/>
          <p:nvPr/>
        </p:nvSpPr>
        <p:spPr>
          <a:xfrm>
            <a:off x="12298680" y="5585500"/>
            <a:ext cx="3401568" cy="384048"/>
          </a:xfrm>
          <a:prstGeom prst="rect">
            <a:avLst/>
          </a:prstGeom>
          <a:noFill/>
          <a:ln/>
        </p:spPr>
        <p:txBody>
          <a:bodyPr wrap="square" lIns="0" tIns="0" rIns="0" bIns="0" rtlCol="0" anchor="t"/>
          <a:lstStyle/>
          <a:p>
            <a:pPr indent="0" marL="0">
              <a:buNone/>
            </a:pPr>
            <a:r>
              <a:rPr lang="en-US" sz="1000" i="1" dirty="0">
                <a:solidFill>
                  <a:srgbClr val="5B6670"/>
                </a:solidFill>
                <a:latin typeface="Arial" pitchFamily="34" charset="0"/>
                <a:ea typeface="Arial" pitchFamily="34" charset="-122"/>
                <a:cs typeface="Arial" pitchFamily="34" charset="-120"/>
              </a:rPr>
              <a:t>Tail-recall gain over the best fixed ef, 20 datasets sorted by KS (top: least Gaussian).</a:t>
            </a:r>
            <a:endParaRPr lang="en-US" sz="1000" dirty="0"/>
          </a:p>
        </p:txBody>
      </p:sp>
      <p:sp>
        <p:nvSpPr>
          <p:cNvPr id="45" name="Stat 1 number"/>
          <p:cNvSpPr txBox="1"/>
          <p:nvPr/>
        </p:nvSpPr>
        <p:spPr>
          <a:xfrm>
            <a:off x="15837408" y="2606040"/>
            <a:ext cx="1856232" cy="457200"/>
          </a:xfrm>
          <a:prstGeom prst="rect">
            <a:avLst/>
          </a:prstGeom>
          <a:noFill/>
          <a:ln/>
        </p:spPr>
        <p:txBody>
          <a:bodyPr wrap="square" lIns="0" tIns="0" rIns="0" bIns="0" rtlCol="0" anchor="ctr"/>
          <a:lstStyle/>
          <a:p>
            <a:pPr indent="0" marL="0">
              <a:buNone/>
            </a:pPr>
            <a:r>
              <a:rPr lang="en-US" sz="2800" b="1" dirty="0">
                <a:solidFill>
                  <a:srgbClr val="1597AB"/>
                </a:solidFill>
                <a:latin typeface="Arial" pitchFamily="34" charset="0"/>
                <a:ea typeface="Arial" pitchFamily="34" charset="-122"/>
                <a:cs typeface="Arial" pitchFamily="34" charset="-120"/>
              </a:rPr>
              <a:t>16/16</a:t>
            </a:r>
            <a:endParaRPr lang="en-US" sz="2800" dirty="0"/>
          </a:p>
        </p:txBody>
      </p:sp>
      <p:sp>
        <p:nvSpPr>
          <p:cNvPr id="46" name="Stat 1 label"/>
          <p:cNvSpPr txBox="1"/>
          <p:nvPr/>
        </p:nvSpPr>
        <p:spPr>
          <a:xfrm>
            <a:off x="15837408" y="3063240"/>
            <a:ext cx="1856232" cy="621792"/>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runs on non-Gaussian data: PercEF's tail recall at least Ada-ef's</a:t>
            </a:r>
            <a:endParaRPr lang="en-US" sz="1100" dirty="0"/>
          </a:p>
        </p:txBody>
      </p:sp>
      <p:sp>
        <p:nvSpPr>
          <p:cNvPr id="47" name="Stat 2 number"/>
          <p:cNvSpPr txBox="1"/>
          <p:nvPr/>
        </p:nvSpPr>
        <p:spPr>
          <a:xfrm>
            <a:off x="15837408" y="3749040"/>
            <a:ext cx="1856232" cy="457200"/>
          </a:xfrm>
          <a:prstGeom prst="rect">
            <a:avLst/>
          </a:prstGeom>
          <a:noFill/>
          <a:ln/>
        </p:spPr>
        <p:txBody>
          <a:bodyPr wrap="square" lIns="0" tIns="0" rIns="0" bIns="0" rtlCol="0" anchor="ctr"/>
          <a:lstStyle/>
          <a:p>
            <a:pPr indent="0" marL="0">
              <a:buNone/>
            </a:pPr>
            <a:r>
              <a:rPr lang="en-US" sz="2800" b="1" dirty="0">
                <a:solidFill>
                  <a:srgbClr val="1597AB"/>
                </a:solidFill>
                <a:latin typeface="Arial" pitchFamily="34" charset="0"/>
                <a:ea typeface="Arial" pitchFamily="34" charset="-122"/>
                <a:cs typeface="Arial" pitchFamily="34" charset="-120"/>
              </a:rPr>
              <a:t>32/34</a:t>
            </a:r>
            <a:endParaRPr lang="en-US" sz="2800" dirty="0"/>
          </a:p>
        </p:txBody>
      </p:sp>
      <p:sp>
        <p:nvSpPr>
          <p:cNvPr id="48" name="Stat 2 label"/>
          <p:cNvSpPr txBox="1"/>
          <p:nvPr/>
        </p:nvSpPr>
        <p:spPr>
          <a:xfrm>
            <a:off x="15837408" y="4206240"/>
            <a:ext cx="1856232" cy="621792"/>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runs cheaper than the best fixed ef (Ada-ef: 10/34); never over +2.5%</a:t>
            </a:r>
            <a:endParaRPr lang="en-US" sz="1100" dirty="0"/>
          </a:p>
        </p:txBody>
      </p:sp>
      <p:sp>
        <p:nvSpPr>
          <p:cNvPr id="49" name="Stat 3 number"/>
          <p:cNvSpPr txBox="1"/>
          <p:nvPr/>
        </p:nvSpPr>
        <p:spPr>
          <a:xfrm>
            <a:off x="15837408" y="4892040"/>
            <a:ext cx="1856232" cy="457200"/>
          </a:xfrm>
          <a:prstGeom prst="rect">
            <a:avLst/>
          </a:prstGeom>
          <a:noFill/>
          <a:ln/>
        </p:spPr>
        <p:txBody>
          <a:bodyPr wrap="square" lIns="0" tIns="0" rIns="0" bIns="0" rtlCol="0" anchor="ctr"/>
          <a:lstStyle/>
          <a:p>
            <a:pPr indent="0" marL="0">
              <a:buNone/>
            </a:pPr>
            <a:r>
              <a:rPr lang="en-US" sz="2800" b="1" dirty="0">
                <a:solidFill>
                  <a:srgbClr val="1597AB"/>
                </a:solidFill>
                <a:latin typeface="Arial" pitchFamily="34" charset="0"/>
                <a:ea typeface="Arial" pitchFamily="34" charset="-122"/>
                <a:cs typeface="Arial" pitchFamily="34" charset="-120"/>
              </a:rPr>
              <a:t>18/19</a:t>
            </a:r>
            <a:endParaRPr lang="en-US" sz="2800" dirty="0"/>
          </a:p>
        </p:txBody>
      </p:sp>
      <p:sp>
        <p:nvSpPr>
          <p:cNvPr id="50" name="Stat 3 label"/>
          <p:cNvSpPr txBox="1"/>
          <p:nvPr/>
        </p:nvSpPr>
        <p:spPr>
          <a:xfrm>
            <a:off x="15837408" y="5349240"/>
            <a:ext cx="1856232" cy="621792"/>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datasets where the KS test picks the better method</a:t>
            </a:r>
            <a:endParaRPr lang="en-US" sz="1100" dirty="0"/>
          </a:p>
        </p:txBody>
      </p:sp>
      <p:sp>
        <p:nvSpPr>
          <p:cNvPr id="51" name="Results limits"/>
          <p:cNvSpPr txBox="1"/>
          <p:nvPr/>
        </p:nvSpPr>
        <p:spPr>
          <a:xfrm>
            <a:off x="12298680" y="6016752"/>
            <a:ext cx="5394960" cy="512064"/>
          </a:xfrm>
          <a:prstGeom prst="rect">
            <a:avLst/>
          </a:prstGeom>
          <a:noFill/>
          <a:ln/>
        </p:spPr>
        <p:txBody>
          <a:bodyPr wrap="square" lIns="0" tIns="0" rIns="0" bIns="0" rtlCol="0" anchor="t"/>
          <a:lstStyle/>
          <a:p>
            <a:pPr indent="0" marL="0">
              <a:buNone/>
            </a:pPr>
            <a:r>
              <a:rPr lang="en-US" sz="1150" b="1" dirty="0">
                <a:solidFill>
                  <a:srgbClr val="1F2933"/>
                </a:solidFill>
                <a:latin typeface="Arial" pitchFamily="34" charset="0"/>
                <a:ea typeface="Arial" pitchFamily="34" charset="-122"/>
                <a:cs typeface="Arial" pitchFamily="34" charset="-120"/>
              </a:rPr>
              <a:t>Limits: </a:t>
            </a:r>
            <a:pPr indent="0" marL="0">
              <a:buNone/>
            </a:pPr>
            <a:r>
              <a:rPr lang="en-US" sz="1150" dirty="0">
                <a:solidFill>
                  <a:srgbClr val="1F2933"/>
                </a:solidFill>
                <a:latin typeface="Arial" pitchFamily="34" charset="0"/>
                <a:ea typeface="Arial" pitchFamily="34" charset="-122"/>
                <a:cs typeface="Arial" pitchFamily="34" charset="-120"/>
              </a:rPr>
              <a:t>on near-Gaussian text embeddings Ada-ef keeps the better tail; neither method adapts when queries come from another modality (text searching images).</a:t>
            </a:r>
            <a:endParaRPr lang="en-US" sz="1150" dirty="0"/>
          </a:p>
        </p:txBody>
      </p:sp>
      <p:sp>
        <p:nvSpPr>
          <p:cNvPr id="52" name="Conclusions header"/>
          <p:cNvSpPr txBox="1"/>
          <p:nvPr/>
        </p:nvSpPr>
        <p:spPr>
          <a:xfrm>
            <a:off x="12207240" y="6720840"/>
            <a:ext cx="5577840" cy="502920"/>
          </a:xfrm>
          <a:prstGeom prst="rect">
            <a:avLst/>
          </a:prstGeom>
          <a:solidFill>
            <a:srgbClr val="1597AB"/>
          </a:solidFill>
          <a:ln/>
        </p:spPr>
        <p:txBody>
          <a:bodyPr wrap="square" lIns="127000" tIns="25400" rIns="127000" bIns="25400" rtlCol="0" anchor="ctr"/>
          <a:lstStyle/>
          <a:p>
            <a:pPr indent="0" marL="0">
              <a:buNone/>
            </a:pPr>
            <a:r>
              <a:rPr lang="en-US" sz="2000" b="1" dirty="0">
                <a:solidFill>
                  <a:srgbClr val="FFFFFF"/>
                </a:solidFill>
                <a:latin typeface="Arial" pitchFamily="34" charset="0"/>
                <a:ea typeface="Arial" pitchFamily="34" charset="-122"/>
                <a:cs typeface="Arial" pitchFamily="34" charset="-120"/>
              </a:rPr>
              <a:t>CONCLUSIONS AND FUTURE WORK</a:t>
            </a:r>
            <a:endParaRPr lang="en-US" sz="2000" dirty="0"/>
          </a:p>
        </p:txBody>
      </p:sp>
      <p:sp>
        <p:nvSpPr>
          <p:cNvPr id="53" name="Conclusions box"/>
          <p:cNvSpPr/>
          <p:nvPr/>
        </p:nvSpPr>
        <p:spPr>
          <a:xfrm>
            <a:off x="12207240" y="7223760"/>
            <a:ext cx="5577840" cy="1051560"/>
          </a:xfrm>
          <a:prstGeom prst="rect">
            <a:avLst/>
          </a:prstGeom>
          <a:solidFill>
            <a:srgbClr val="FFFFFF"/>
          </a:solidFill>
          <a:ln w="9525">
            <a:solidFill>
              <a:srgbClr val="CFD8DE"/>
            </a:solidFill>
            <a:prstDash val="solid"/>
          </a:ln>
        </p:spPr>
      </p:sp>
      <p:sp>
        <p:nvSpPr>
          <p:cNvPr id="54" name="Conclusions text"/>
          <p:cNvSpPr txBox="1"/>
          <p:nvPr/>
        </p:nvSpPr>
        <p:spPr>
          <a:xfrm>
            <a:off x="12280392" y="7278624"/>
            <a:ext cx="5431536" cy="941832"/>
          </a:xfrm>
          <a:prstGeom prst="rect">
            <a:avLst/>
          </a:prstGeom>
          <a:noFill/>
          <a:ln/>
        </p:spPr>
        <p:txBody>
          <a:bodyPr wrap="square" lIns="50800" tIns="50800" rIns="50800" bIns="50800" rtlCol="0" anchor="t"/>
          <a:lstStyle/>
          <a:p>
            <a:pPr indent="0" marL="0">
              <a:buNone/>
            </a:pPr>
            <a:r>
              <a:rPr lang="en-US" sz="1200" b="1" dirty="0">
                <a:solidFill>
                  <a:srgbClr val="1F2933"/>
                </a:solidFill>
                <a:latin typeface="Arial" pitchFamily="34" charset="0"/>
                <a:ea typeface="Arial" pitchFamily="34" charset="-122"/>
                <a:cs typeface="Arial" pitchFamily="34" charset="-120"/>
              </a:rPr>
              <a:t>a) </a:t>
            </a:r>
            <a:pPr indent="0" marL="0">
              <a:spcAft>
                <a:spcPts val="500"/>
              </a:spcAft>
              <a:buNone/>
            </a:pPr>
            <a:r>
              <a:rPr lang="en-US" sz="1200" dirty="0">
                <a:solidFill>
                  <a:srgbClr val="1F2933"/>
                </a:solidFill>
                <a:latin typeface="Arial" pitchFamily="34" charset="0"/>
                <a:ea typeface="Arial" pitchFamily="34" charset="-122"/>
                <a:cs typeface="Arial" pitchFamily="34" charset="-120"/>
              </a:rPr>
              <a:t>Ada-ef's Gaussian model fails on 9 of 41 datasets (6 learned embeddings); there PercEF gives better tail recall, at most 2.5% over the best fixed ef.</a:t>
            </a:r>
            <a:endParaRPr lang="en-US" sz="1200" dirty="0"/>
          </a:p>
          <a:p>
            <a:pPr indent="0" marL="0">
              <a:buNone/>
            </a:pPr>
            <a:r>
              <a:rPr lang="en-US" sz="1200" b="1" dirty="0">
                <a:solidFill>
                  <a:srgbClr val="1F2933"/>
                </a:solidFill>
                <a:latin typeface="Arial" pitchFamily="34" charset="0"/>
                <a:ea typeface="Arial" pitchFamily="34" charset="-122"/>
                <a:cs typeface="Arial" pitchFamily="34" charset="-120"/>
              </a:rPr>
              <a:t>b) </a:t>
            </a:r>
            <a:pPr indent="0" marL="0">
              <a:spcAft>
                <a:spcPts val="500"/>
              </a:spcAft>
              <a:buNone/>
            </a:pPr>
            <a:r>
              <a:rPr lang="en-US" sz="1200" dirty="0">
                <a:solidFill>
                  <a:srgbClr val="1F2933"/>
                </a:solidFill>
                <a:latin typeface="Arial" pitchFamily="34" charset="0"/>
                <a:ea typeface="Arial" pitchFamily="34" charset="-122"/>
                <a:cs typeface="Arial" pitchFamily="34" charset="-120"/>
              </a:rPr>
              <a:t>DARTH (learned): best tail, up to 2.3x slower. Next: the SIFT-1B miss, cross-modal queries.</a:t>
            </a:r>
            <a:endParaRPr lang="en-US" sz="1200" dirty="0"/>
          </a:p>
        </p:txBody>
      </p:sp>
      <p:sp>
        <p:nvSpPr>
          <p:cNvPr id="55" name="Member 1 photo"/>
          <p:cNvSpPr/>
          <p:nvPr/>
        </p:nvSpPr>
        <p:spPr>
          <a:xfrm>
            <a:off x="640080" y="8549640"/>
            <a:ext cx="1188720" cy="1325880"/>
          </a:xfrm>
          <a:prstGeom prst="roundRect">
            <a:avLst>
              <a:gd name="adj" fmla="val 7692"/>
            </a:avLst>
          </a:prstGeom>
          <a:solidFill>
            <a:srgbClr val="EEF1F3"/>
          </a:solidFill>
          <a:ln w="9525">
            <a:solidFill>
              <a:srgbClr val="CFD8DE"/>
            </a:solidFill>
          </a:ln>
        </p:spPr>
        <p:txBody>
          <a:bodyPr wrap="square" rtlCol="0" anchor="ctr"/>
          <a:lstStyle/>
          <a:p>
            <a:pPr algn="ctr" indent="0" marL="0">
              <a:buNone/>
            </a:pPr>
            <a:r>
              <a:rPr lang="en-US" sz="1100" dirty="0">
                <a:solidFill>
                  <a:srgbClr val="5B6670"/>
                </a:solidFill>
                <a:latin typeface="Arial" pitchFamily="34" charset="0"/>
                <a:ea typeface="Arial" pitchFamily="34" charset="-122"/>
                <a:cs typeface="Arial" pitchFamily="34" charset="-120"/>
              </a:rPr>
              <a:t>Photo</a:t>
            </a:r>
            <a:endParaRPr lang="en-US" sz="1100" dirty="0"/>
          </a:p>
        </p:txBody>
      </p:sp>
      <p:sp>
        <p:nvSpPr>
          <p:cNvPr id="56" name="Member 1 name"/>
          <p:cNvSpPr txBox="1"/>
          <p:nvPr/>
        </p:nvSpPr>
        <p:spPr>
          <a:xfrm>
            <a:off x="1984248" y="8823960"/>
            <a:ext cx="1856232" cy="86868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Member 1: Name</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SRN</a:t>
            </a:r>
            <a:endParaRPr lang="en-US" sz="1300" dirty="0"/>
          </a:p>
        </p:txBody>
      </p:sp>
      <p:sp>
        <p:nvSpPr>
          <p:cNvPr id="57" name="Member 2 photo"/>
          <p:cNvSpPr/>
          <p:nvPr/>
        </p:nvSpPr>
        <p:spPr>
          <a:xfrm>
            <a:off x="4096512" y="8549640"/>
            <a:ext cx="1188720" cy="1325880"/>
          </a:xfrm>
          <a:prstGeom prst="roundRect">
            <a:avLst>
              <a:gd name="adj" fmla="val 7692"/>
            </a:avLst>
          </a:prstGeom>
          <a:solidFill>
            <a:srgbClr val="EEF1F3"/>
          </a:solidFill>
          <a:ln w="9525">
            <a:solidFill>
              <a:srgbClr val="CFD8DE"/>
            </a:solidFill>
          </a:ln>
        </p:spPr>
        <p:txBody>
          <a:bodyPr wrap="square" rtlCol="0" anchor="ctr"/>
          <a:lstStyle/>
          <a:p>
            <a:pPr algn="ctr" indent="0" marL="0">
              <a:buNone/>
            </a:pPr>
            <a:r>
              <a:rPr lang="en-US" sz="1100" dirty="0">
                <a:solidFill>
                  <a:srgbClr val="5B6670"/>
                </a:solidFill>
                <a:latin typeface="Arial" pitchFamily="34" charset="0"/>
                <a:ea typeface="Arial" pitchFamily="34" charset="-122"/>
                <a:cs typeface="Arial" pitchFamily="34" charset="-120"/>
              </a:rPr>
              <a:t>Photo</a:t>
            </a:r>
            <a:endParaRPr lang="en-US" sz="1100" dirty="0"/>
          </a:p>
        </p:txBody>
      </p:sp>
      <p:sp>
        <p:nvSpPr>
          <p:cNvPr id="58" name="Member 2 name"/>
          <p:cNvSpPr txBox="1"/>
          <p:nvPr/>
        </p:nvSpPr>
        <p:spPr>
          <a:xfrm>
            <a:off x="5440680" y="8823960"/>
            <a:ext cx="1856232" cy="86868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Member 2: Name</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SRN</a:t>
            </a:r>
            <a:endParaRPr lang="en-US" sz="1300" dirty="0"/>
          </a:p>
        </p:txBody>
      </p:sp>
      <p:sp>
        <p:nvSpPr>
          <p:cNvPr id="59" name="Separator 1"/>
          <p:cNvSpPr/>
          <p:nvPr/>
        </p:nvSpPr>
        <p:spPr>
          <a:xfrm>
            <a:off x="3941064" y="8686800"/>
            <a:ext cx="0" cy="1143000"/>
          </a:xfrm>
          <a:prstGeom prst="line">
            <a:avLst/>
          </a:prstGeom>
          <a:noFill/>
          <a:ln w="12700">
            <a:solidFill>
              <a:srgbClr val="CFD8DE"/>
            </a:solidFill>
            <a:prstDash val="solid"/>
          </a:ln>
        </p:spPr>
      </p:sp>
      <p:sp>
        <p:nvSpPr>
          <p:cNvPr id="60" name="Member 3 photo"/>
          <p:cNvSpPr/>
          <p:nvPr/>
        </p:nvSpPr>
        <p:spPr>
          <a:xfrm>
            <a:off x="7552944" y="8549640"/>
            <a:ext cx="1188720" cy="1325880"/>
          </a:xfrm>
          <a:prstGeom prst="roundRect">
            <a:avLst>
              <a:gd name="adj" fmla="val 7692"/>
            </a:avLst>
          </a:prstGeom>
          <a:solidFill>
            <a:srgbClr val="EEF1F3"/>
          </a:solidFill>
          <a:ln w="9525">
            <a:solidFill>
              <a:srgbClr val="CFD8DE"/>
            </a:solidFill>
          </a:ln>
        </p:spPr>
        <p:txBody>
          <a:bodyPr wrap="square" rtlCol="0" anchor="ctr"/>
          <a:lstStyle/>
          <a:p>
            <a:pPr algn="ctr" indent="0" marL="0">
              <a:buNone/>
            </a:pPr>
            <a:r>
              <a:rPr lang="en-US" sz="1100" dirty="0">
                <a:solidFill>
                  <a:srgbClr val="5B6670"/>
                </a:solidFill>
                <a:latin typeface="Arial" pitchFamily="34" charset="0"/>
                <a:ea typeface="Arial" pitchFamily="34" charset="-122"/>
                <a:cs typeface="Arial" pitchFamily="34" charset="-120"/>
              </a:rPr>
              <a:t>Photo</a:t>
            </a:r>
            <a:endParaRPr lang="en-US" sz="1100" dirty="0"/>
          </a:p>
        </p:txBody>
      </p:sp>
      <p:sp>
        <p:nvSpPr>
          <p:cNvPr id="61" name="Member 3 name"/>
          <p:cNvSpPr txBox="1"/>
          <p:nvPr/>
        </p:nvSpPr>
        <p:spPr>
          <a:xfrm>
            <a:off x="8897112" y="8823960"/>
            <a:ext cx="1856232" cy="86868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Member 3: Name</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SRN</a:t>
            </a:r>
            <a:endParaRPr lang="en-US" sz="1300" dirty="0"/>
          </a:p>
        </p:txBody>
      </p:sp>
      <p:sp>
        <p:nvSpPr>
          <p:cNvPr id="62" name="Separator 2"/>
          <p:cNvSpPr/>
          <p:nvPr/>
        </p:nvSpPr>
        <p:spPr>
          <a:xfrm>
            <a:off x="7397496" y="8686800"/>
            <a:ext cx="0" cy="1143000"/>
          </a:xfrm>
          <a:prstGeom prst="line">
            <a:avLst/>
          </a:prstGeom>
          <a:noFill/>
          <a:ln w="12700">
            <a:solidFill>
              <a:srgbClr val="CFD8DE"/>
            </a:solidFill>
            <a:prstDash val="solid"/>
          </a:ln>
        </p:spPr>
      </p:sp>
      <p:sp>
        <p:nvSpPr>
          <p:cNvPr id="63" name="Member 4 photo"/>
          <p:cNvSpPr/>
          <p:nvPr/>
        </p:nvSpPr>
        <p:spPr>
          <a:xfrm>
            <a:off x="11009376" y="8549640"/>
            <a:ext cx="1188720" cy="1325880"/>
          </a:xfrm>
          <a:prstGeom prst="roundRect">
            <a:avLst>
              <a:gd name="adj" fmla="val 7692"/>
            </a:avLst>
          </a:prstGeom>
          <a:solidFill>
            <a:srgbClr val="EEF1F3"/>
          </a:solidFill>
          <a:ln w="9525">
            <a:solidFill>
              <a:srgbClr val="CFD8DE"/>
            </a:solidFill>
          </a:ln>
        </p:spPr>
        <p:txBody>
          <a:bodyPr wrap="square" rtlCol="0" anchor="ctr"/>
          <a:lstStyle/>
          <a:p>
            <a:pPr algn="ctr" indent="0" marL="0">
              <a:buNone/>
            </a:pPr>
            <a:r>
              <a:rPr lang="en-US" sz="1100" dirty="0">
                <a:solidFill>
                  <a:srgbClr val="5B6670"/>
                </a:solidFill>
                <a:latin typeface="Arial" pitchFamily="34" charset="0"/>
                <a:ea typeface="Arial" pitchFamily="34" charset="-122"/>
                <a:cs typeface="Arial" pitchFamily="34" charset="-120"/>
              </a:rPr>
              <a:t>Photo</a:t>
            </a:r>
            <a:endParaRPr lang="en-US" sz="1100" dirty="0"/>
          </a:p>
        </p:txBody>
      </p:sp>
      <p:sp>
        <p:nvSpPr>
          <p:cNvPr id="64" name="Member 4 name"/>
          <p:cNvSpPr txBox="1"/>
          <p:nvPr/>
        </p:nvSpPr>
        <p:spPr>
          <a:xfrm>
            <a:off x="12353544" y="8823960"/>
            <a:ext cx="1856232" cy="86868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Member 4: Name</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SRN</a:t>
            </a:r>
            <a:endParaRPr lang="en-US" sz="1300" dirty="0"/>
          </a:p>
        </p:txBody>
      </p:sp>
      <p:sp>
        <p:nvSpPr>
          <p:cNvPr id="65" name="Separator 3"/>
          <p:cNvSpPr/>
          <p:nvPr/>
        </p:nvSpPr>
        <p:spPr>
          <a:xfrm>
            <a:off x="10853928" y="8686800"/>
            <a:ext cx="0" cy="1143000"/>
          </a:xfrm>
          <a:prstGeom prst="line">
            <a:avLst/>
          </a:prstGeom>
          <a:noFill/>
          <a:ln w="12700">
            <a:solidFill>
              <a:srgbClr val="CFD8DE"/>
            </a:solidFill>
            <a:prstDash val="solid"/>
          </a:ln>
        </p:spPr>
      </p:sp>
      <p:sp>
        <p:nvSpPr>
          <p:cNvPr id="66" name="Guide photo"/>
          <p:cNvSpPr/>
          <p:nvPr/>
        </p:nvSpPr>
        <p:spPr>
          <a:xfrm>
            <a:off x="14465808" y="8549640"/>
            <a:ext cx="1188720" cy="1325880"/>
          </a:xfrm>
          <a:prstGeom prst="roundRect">
            <a:avLst>
              <a:gd name="adj" fmla="val 7692"/>
            </a:avLst>
          </a:prstGeom>
          <a:solidFill>
            <a:srgbClr val="EEF1F3"/>
          </a:solidFill>
          <a:ln w="9525">
            <a:solidFill>
              <a:srgbClr val="CFD8DE"/>
            </a:solidFill>
          </a:ln>
        </p:spPr>
        <p:txBody>
          <a:bodyPr wrap="square" rtlCol="0" anchor="ctr"/>
          <a:lstStyle/>
          <a:p>
            <a:pPr algn="ctr" indent="0" marL="0">
              <a:buNone/>
            </a:pPr>
            <a:r>
              <a:rPr lang="en-US" sz="1100" dirty="0">
                <a:solidFill>
                  <a:srgbClr val="5B6670"/>
                </a:solidFill>
                <a:latin typeface="Arial" pitchFamily="34" charset="0"/>
                <a:ea typeface="Arial" pitchFamily="34" charset="-122"/>
                <a:cs typeface="Arial" pitchFamily="34" charset="-120"/>
              </a:rPr>
              <a:t>Photo</a:t>
            </a:r>
            <a:endParaRPr lang="en-US" sz="1100" dirty="0"/>
          </a:p>
        </p:txBody>
      </p:sp>
      <p:sp>
        <p:nvSpPr>
          <p:cNvPr id="67" name="Guide name"/>
          <p:cNvSpPr txBox="1"/>
          <p:nvPr/>
        </p:nvSpPr>
        <p:spPr>
          <a:xfrm>
            <a:off x="15809976" y="8823960"/>
            <a:ext cx="1856232" cy="86868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Guide: Name</a:t>
            </a:r>
            <a:endParaRPr lang="en-US" sz="1300" dirty="0"/>
          </a:p>
          <a:p>
            <a:pPr indent="0" marL="0">
              <a:buNone/>
            </a:pPr>
            <a:r>
              <a:rPr lang="en-US" sz="1300" dirty="0">
                <a:solidFill>
                  <a:srgbClr val="1F2933"/>
                </a:solidFill>
                <a:latin typeface="Arial" pitchFamily="34" charset="0"/>
                <a:ea typeface="Arial" pitchFamily="34" charset="-122"/>
                <a:cs typeface="Arial" pitchFamily="34" charset="-120"/>
              </a:rPr>
              <a:t>Designation</a:t>
            </a:r>
            <a:endParaRPr lang="en-US" sz="1300" dirty="0"/>
          </a:p>
        </p:txBody>
      </p:sp>
      <p:sp>
        <p:nvSpPr>
          <p:cNvPr id="68" name="Separator 4"/>
          <p:cNvSpPr/>
          <p:nvPr/>
        </p:nvSpPr>
        <p:spPr>
          <a:xfrm>
            <a:off x="14310360" y="8686800"/>
            <a:ext cx="0" cy="1143000"/>
          </a:xfrm>
          <a:prstGeom prst="line">
            <a:avLst/>
          </a:prstGeom>
          <a:noFill/>
          <a:ln w="12700">
            <a:solidFill>
              <a:srgbClr val="CFD8D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fair poster</dc:title>
  <dc:subject>PptxGenJS Presentation</dc:subject>
  <dc:creator>PptxGenJS</dc:creator>
  <cp:lastModifiedBy>PptxGenJS</cp:lastModifiedBy>
  <cp:revision>1</cp:revision>
  <dcterms:created xsi:type="dcterms:W3CDTF">2026-10-06T09:24:15Z</dcterms:created>
  <dcterms:modified xsi:type="dcterms:W3CDTF">2026-10-06T09:24:15Z</dcterms:modified>
</cp:coreProperties>
</file>