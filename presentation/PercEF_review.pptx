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1C2FD61-5D50-79B7-A46E-81168758B339}">
          <p14:sldIdLst>
            <p14:sldId id="256"/>
            <p14:sldId id="257"/>
          </p14:sldIdLst>
        </p14:section>
        <p14:section name="Problem statement" id="{988665BA-8B1F-880A-FAA3-47F08A546CDF}">
          <p14:sldIdLst>
            <p14:sldId id="258"/>
          </p14:sldIdLst>
        </p14:section>
        <p14:section name="Existing methodology" id="{93049634-5BEF-34E9-C149-830AA7A56E58}">
          <p14:sldIdLst>
            <p14:sldId id="259"/>
            <p14:sldId id="260"/>
          </p14:sldIdLst>
        </p14:section>
        <p14:section name="Our method" id="{4FF71BA2-8873-7C4A-9A9A-DF0A8DF772A7}">
          <p14:sldIdLst>
            <p14:sldId id="261"/>
            <p14:sldId id="262"/>
            <p14:sldId id="263"/>
          </p14:sldIdLst>
        </p14:section>
        <p14:section name="Novelty" id="{481929F3-0EEA-D124-8109-DA4FCB41B362}">
          <p14:sldIdLst>
            <p14:sldId id="264"/>
          </p14:sldIdLst>
        </p14:section>
        <p14:section name="Results" id="{A2FCD2E8-91C0-FEDE-E967-37B717023D5C}">
          <p14:sldIdLst>
            <p14:sldId id="265"/>
            <p14:sldId id="266"/>
            <p14:sldId id="267"/>
            <p14:sldId id="268"/>
            <p14:sldId id="269"/>
          </p14:sldIdLst>
        </p14:section>
        <p14:section name="Wrap-up" id="{3C1638AC-C8F2-F208-C353-4CF03ECC2C02}">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3"/>
                </a:solidFill>
                <a:latin typeface="+mn-lt"/>
              </a:defRPr>
            </a:pPr>
            <a:r>
              <a:rPr lang="en-US" sz="1400" b="0" i="0" u="none" strike="noStrike">
                <a:solidFill>
                  <a:srgbClr val="1F2933"/>
                </a:solidFill>
                <a:latin typeface="+mn-lt"/>
              </a:rPr>
              <a:t>p1 recall gain over the tuned fixed ef (percentage points)</a:t>
            </a:r>
          </a:p>
        </c:rich>
      </c:tx>
      <c:overlay val="0"/>
    </c:title>
    <c:autoTitleDeleted val="0"/>
    <c:plotArea>
      <c:layout/>
      <c:barChart>
        <c:barDir val="bar"/>
        <c:grouping val="clustered"/>
        <c:varyColors val="0"/>
        <c:ser>
          <c:idx val="0"/>
          <c:order val="0"/>
          <c:tx>
            <c:strRef>
              <c:f>Sheet1!$B$1</c:f>
              <c:strCache>
                <c:ptCount val="1"/>
                <c:pt idx="0">
                  <c:v>PercEF</c:v>
                </c:pt>
              </c:strCache>
            </c:strRef>
          </c:tx>
          <c:spPr>
            <a:solidFill>
              <a:srgbClr val="2A78D6"/>
            </a:solidFill>
            <a:effectLst/>
          </c:spPr>
          <c:invertIfNegative val="0"/>
          <c:dLbls>
            <c:numFmt formatCode="0.0" sourceLinked="0"/>
            <c:spPr>
              <a:noFill/>
              <a:ln>
                <a:noFill/>
              </a:ln>
              <a:effectLst/>
            </c:spPr>
            <c:txPr>
              <a:bodyPr/>
              <a:lstStyle/>
              <a:p>
                <a:pPr>
                  <a:defRPr sz="10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DeepImage</c:v>
                </c:pt>
                <c:pt idx="1">
                  <c:v>Deep1B</c:v>
                </c:pt>
                <c:pt idx="2">
                  <c:v>Landmark-DINO</c:v>
                </c:pt>
                <c:pt idx="3">
                  <c:v>iNat-ResNet</c:v>
                </c:pt>
                <c:pt idx="4">
                  <c:v>SIFT-1M</c:v>
                </c:pt>
                <c:pt idx="5">
                  <c:v>Fashion-MNIST</c:v>
                </c:pt>
                <c:pt idx="6">
                  <c:v>Yambda</c:v>
                </c:pt>
                <c:pt idx="7">
                  <c:v>GIST</c:v>
                </c:pt>
              </c:strCache>
            </c:strRef>
          </c:cat>
          <c:val>
            <c:numRef>
              <c:f>Sheet1!$B$2:$B$9</c:f>
              <c:numCache>
                <c:formatCode>General</c:formatCode>
                <c:ptCount val="8"/>
                <c:pt idx="0">
                  <c:v>8.5</c:v>
                </c:pt>
                <c:pt idx="1">
                  <c:v>7.9</c:v>
                </c:pt>
                <c:pt idx="2">
                  <c:v>3.8</c:v>
                </c:pt>
                <c:pt idx="3">
                  <c:v>3.4</c:v>
                </c:pt>
                <c:pt idx="4">
                  <c:v>2.8</c:v>
                </c:pt>
                <c:pt idx="5">
                  <c:v>1.1000000000000001</c:v>
                </c:pt>
                <c:pt idx="6">
                  <c:v>0.7</c:v>
                </c:pt>
                <c:pt idx="7">
                  <c:v>-0.9</c:v>
                </c:pt>
              </c:numCache>
            </c:numRef>
          </c:val>
          <c:extLst>
            <c:ext xmlns:c16="http://schemas.microsoft.com/office/drawing/2014/chart" uri="{C3380CC4-5D6E-409C-BE32-E72D297353CC}">
              <c16:uniqueId val="{00000000-A4A3-471C-8C4B-505DFD22CC44}"/>
            </c:ext>
          </c:extLst>
        </c:ser>
        <c:ser>
          <c:idx val="1"/>
          <c:order val="1"/>
          <c:tx>
            <c:strRef>
              <c:f>Sheet1!$C$1</c:f>
              <c:strCache>
                <c:ptCount val="1"/>
                <c:pt idx="0">
                  <c:v>Ada-ef</c:v>
                </c:pt>
              </c:strCache>
            </c:strRef>
          </c:tx>
          <c:spPr>
            <a:solidFill>
              <a:srgbClr val="EB6834"/>
            </a:solidFill>
            <a:effectLst/>
          </c:spPr>
          <c:invertIfNegative val="0"/>
          <c:dLbls>
            <c:numFmt formatCode="0.0" sourceLinked="0"/>
            <c:spPr>
              <a:noFill/>
              <a:ln>
                <a:noFill/>
              </a:ln>
              <a:effectLst/>
            </c:spPr>
            <c:txPr>
              <a:bodyPr/>
              <a:lstStyle/>
              <a:p>
                <a:pPr>
                  <a:defRPr sz="10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DeepImage</c:v>
                </c:pt>
                <c:pt idx="1">
                  <c:v>Deep1B</c:v>
                </c:pt>
                <c:pt idx="2">
                  <c:v>Landmark-DINO</c:v>
                </c:pt>
                <c:pt idx="3">
                  <c:v>iNat-ResNet</c:v>
                </c:pt>
                <c:pt idx="4">
                  <c:v>SIFT-1M</c:v>
                </c:pt>
                <c:pt idx="5">
                  <c:v>Fashion-MNIST</c:v>
                </c:pt>
                <c:pt idx="6">
                  <c:v>Yambda</c:v>
                </c:pt>
                <c:pt idx="7">
                  <c:v>GIST</c:v>
                </c:pt>
              </c:strCache>
            </c:strRef>
          </c:cat>
          <c:val>
            <c:numRef>
              <c:f>Sheet1!$C$2:$C$9</c:f>
              <c:numCache>
                <c:formatCode>General</c:formatCode>
                <c:ptCount val="8"/>
                <c:pt idx="0">
                  <c:v>4.3</c:v>
                </c:pt>
                <c:pt idx="1">
                  <c:v>4.3</c:v>
                </c:pt>
                <c:pt idx="2">
                  <c:v>0.7</c:v>
                </c:pt>
                <c:pt idx="3">
                  <c:v>0.1</c:v>
                </c:pt>
                <c:pt idx="4">
                  <c:v>0</c:v>
                </c:pt>
                <c:pt idx="5">
                  <c:v>-1.1000000000000001</c:v>
                </c:pt>
                <c:pt idx="6">
                  <c:v>-0.1</c:v>
                </c:pt>
                <c:pt idx="7">
                  <c:v>-3</c:v>
                </c:pt>
              </c:numCache>
            </c:numRef>
          </c:val>
          <c:extLst>
            <c:ext xmlns:c16="http://schemas.microsoft.com/office/drawing/2014/chart" uri="{C3380CC4-5D6E-409C-BE32-E72D297353CC}">
              <c16:uniqueId val="{00000001-A4A3-471C-8C4B-505DFD22CC4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9525" cap="flat">
              <a:solidFill>
                <a:srgbClr val="E2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3"/>
                </a:solidFill>
                <a:latin typeface="+mn-lt"/>
              </a:defRPr>
            </a:pPr>
            <a:r>
              <a:rPr lang="en-US" sz="1400" b="0" i="0" u="none" strike="noStrike">
                <a:solidFill>
                  <a:srgbClr val="1F2933"/>
                </a:solidFill>
                <a:latin typeface="+mn-lt"/>
              </a:rPr>
              <a:t>PercEF speed-up over Ada-ef at about the same recall (x, setting R)</a:t>
            </a:r>
          </a:p>
        </c:rich>
      </c:tx>
      <c:overlay val="0"/>
    </c:title>
    <c:autoTitleDeleted val="0"/>
    <c:plotArea>
      <c:layout/>
      <c:barChart>
        <c:barDir val="bar"/>
        <c:grouping val="clustered"/>
        <c:varyColors val="0"/>
        <c:ser>
          <c:idx val="0"/>
          <c:order val="0"/>
          <c:tx>
            <c:strRef>
              <c:f>Sheet1!$B$1</c:f>
              <c:strCache>
                <c:ptCount val="1"/>
                <c:pt idx="0">
                  <c:v>Speed-up</c:v>
                </c:pt>
              </c:strCache>
            </c:strRef>
          </c:tx>
          <c:spPr>
            <a:solidFill>
              <a:srgbClr val="2A78D6"/>
            </a:solidFill>
            <a:effectLst/>
          </c:spPr>
          <c:invertIfNegative val="0"/>
          <c:dLbls>
            <c:numFmt formatCode="0.00" sourceLinked="0"/>
            <c:spPr>
              <a:noFill/>
              <a:ln>
                <a:noFill/>
              </a:ln>
              <a:effectLst/>
            </c:spPr>
            <c:txPr>
              <a:bodyPr/>
              <a:lstStyle/>
              <a:p>
                <a:pPr>
                  <a:defRPr sz="1100" b="0" i="0" u="none" strike="noStrike">
                    <a:solidFill>
                      <a:srgbClr val="1F29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Fashion-MNIST</c:v>
                </c:pt>
                <c:pt idx="1">
                  <c:v>DBpedia</c:v>
                </c:pt>
                <c:pt idx="2">
                  <c:v>COCO-I2I</c:v>
                </c:pt>
                <c:pt idx="3">
                  <c:v>LAION</c:v>
                </c:pt>
                <c:pt idx="4">
                  <c:v>Yambda</c:v>
                </c:pt>
                <c:pt idx="5">
                  <c:v>SIFT-1M</c:v>
                </c:pt>
                <c:pt idx="6">
                  <c:v>Yahoo-MiniLM</c:v>
                </c:pt>
                <c:pt idx="7">
                  <c:v>Deep1B</c:v>
                </c:pt>
                <c:pt idx="8">
                  <c:v>Cohere</c:v>
                </c:pt>
                <c:pt idx="9">
                  <c:v>BIGANN</c:v>
                </c:pt>
                <c:pt idx="10">
                  <c:v>GIST</c:v>
                </c:pt>
                <c:pt idx="11">
                  <c:v>MS Turing</c:v>
                </c:pt>
                <c:pt idx="12">
                  <c:v>MS MARCO</c:v>
                </c:pt>
              </c:strCache>
            </c:strRef>
          </c:cat>
          <c:val>
            <c:numRef>
              <c:f>Sheet1!$B$2:$B$14</c:f>
              <c:numCache>
                <c:formatCode>General</c:formatCode>
                <c:ptCount val="13"/>
                <c:pt idx="0">
                  <c:v>1.82</c:v>
                </c:pt>
                <c:pt idx="1">
                  <c:v>1.38</c:v>
                </c:pt>
                <c:pt idx="2">
                  <c:v>1.37</c:v>
                </c:pt>
                <c:pt idx="3">
                  <c:v>1.34</c:v>
                </c:pt>
                <c:pt idx="4">
                  <c:v>1.33</c:v>
                </c:pt>
                <c:pt idx="5">
                  <c:v>1.25</c:v>
                </c:pt>
                <c:pt idx="6">
                  <c:v>1.22</c:v>
                </c:pt>
                <c:pt idx="7">
                  <c:v>1.19</c:v>
                </c:pt>
                <c:pt idx="8">
                  <c:v>1.18</c:v>
                </c:pt>
                <c:pt idx="9">
                  <c:v>1.1100000000000001</c:v>
                </c:pt>
                <c:pt idx="10">
                  <c:v>1.1000000000000001</c:v>
                </c:pt>
                <c:pt idx="11">
                  <c:v>1.08</c:v>
                </c:pt>
                <c:pt idx="12">
                  <c:v>1.03</c:v>
                </c:pt>
              </c:numCache>
            </c:numRef>
          </c:val>
          <c:extLst>
            <c:ext xmlns:c16="http://schemas.microsoft.com/office/drawing/2014/chart" uri="{C3380CC4-5D6E-409C-BE32-E72D297353CC}">
              <c16:uniqueId val="{00000000-8945-45BB-8AAB-81E9B3D7506C}"/>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t"/>
        <c:majorGridlines>
          <c:spPr>
            <a:ln w="9525" cap="flat">
              <a:solidFill>
                <a:srgbClr val="E2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724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Hi, we are [team]. Our project is PercEF: making adaptive vector search work when the data is not bell-shaped.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Vector search finds the items closest to a query among millions of embeddings. To be fast, an index like HNSW walks a layered graph from the top down. A setting called ef decides how many candidates the search keeps: more is more accurate, but slower.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Most systems use one ef for every query. Easy queries waste work, and hard queries miss some of their neighbours.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Existing fixes either train a model per dataset, like DARTH, or, like Ada-ef from SIGMOD 2026, assume that a query's similarities follow a bell curve.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Ada-ef places its difficulty thresholds using that bell curve. Nobody had checked whether real data is bell-shaped.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We tested it on 41 datasets. Nine are clearly not bell-shaped, including SIFT and GIST, and you cannot tell from the kind of data. On those, Ada-ef stops adapting.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Our method, PercEF, keeps Ada-ef's design but measures the thresholds from the data's own distance percentiles, with a ten times shorter probe and no covariance matrix.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A KS test on the raw vectors, which takes seconds, tells you which method to use. It picked the right one on 18 of 19 datasets, with every prediction written down before the 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So we contribute the first test of this assumption, a distribution-free score, a cost floor, and an offline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We followed Ada-ef's own protocol on 20 datasets and compared everything against the best fixed ef.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Each pair of bars is a dataset; longer to the right is better. On the non-Gaussian datasets PercEF ranks queries better in every run and beats Ada-ef's worst case in 15 of 16: on DeepImage by 8.5 recall points, against 4.3. To match that worst case, a fixed ef is slower in 13 of 16 runs.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PercEF does less work than the best fixed ef in 32 of 34 runs, never more than 2.5 percent extra. Matched on the worst case, it is faster than the fixed ef in 31 of 34 runs, and up to 1.8 times faster than Ada-ef. On bell-shaped data it is cheaper and faster in every run; Ada-ef's advantage there is a larger worst-case gain.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The gain comes from the thresholds, not the shorter probe. The learned method DARTH has a better worst case, but is up to 2.3 times slower.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skipped when presenting) Tested idea that did not hold: PercEF's score with Ada-ef's 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On bell-shaped text data Ada-ef gives larger worst-case gains, on DeepImage PercEF is a few percent slower than the fixed ef at the same mean recall, and cross-modal queries remain open.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In short: measure the distribution, don't assume it.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7373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731520" y="3931920"/>
            <a:ext cx="10698480" cy="256032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PercEF  ·  PES University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737360"/>
          </a:xfrm>
          <a:prstGeom prst="rect">
            <a:avLst/>
          </a:prstGeom>
          <a:noFill/>
          <a:ln/>
        </p:spPr>
        <p:txBody>
          <a:bodyPr wrap="square" lIns="0" tIns="0" rIns="0" bIns="0" rtlCol="0" anchor="b"/>
          <a:lstStyle/>
          <a:p>
            <a:pPr marL="0" indent="0" algn="l">
              <a:buNone/>
            </a:pPr>
            <a:r>
              <a:rPr lang="en-US" sz="3600" b="1" dirty="0">
                <a:solidFill>
                  <a:schemeClr val="bg1"/>
                </a:solidFill>
              </a:rPr>
              <a:t>PercEF: Exploiting Empirical Percentiles for Adaptive HNSW Search Beyond the Gaussian Assumption</a:t>
            </a:r>
            <a:endParaRPr lang="en-US" sz="3600" dirty="0"/>
          </a:p>
        </p:txBody>
      </p:sp>
      <p:sp>
        <p:nvSpPr>
          <p:cNvPr id="3" name="Text 0"/>
          <p:cNvSpPr>
            <a:spLocks noGrp="1"/>
          </p:cNvSpPr>
          <p:nvPr>
            <p:ph type="body" idx="101" hasCustomPrompt="1"/>
          </p:nvPr>
        </p:nvSpPr>
        <p:spPr>
          <a:xfrm>
            <a:off x="731520" y="3931920"/>
            <a:ext cx="10698480" cy="2560320"/>
          </a:xfrm>
          <a:prstGeom prst="rect">
            <a:avLst/>
          </a:prstGeom>
          <a:noFill/>
          <a:ln/>
        </p:spPr>
        <p:txBody>
          <a:bodyPr wrap="square" lIns="0" tIns="0" rIns="0" bIns="0" rtlCol="0" anchor="t"/>
          <a:lstStyle/>
          <a:p>
            <a:pPr marL="0" indent="0">
              <a:spcAft>
                <a:spcPts val="1000"/>
              </a:spcAft>
              <a:buNone/>
            </a:pPr>
            <a:r>
              <a:rPr lang="en-US" sz="1800" dirty="0">
                <a:solidFill>
                  <a:schemeClr val="bg2"/>
                </a:solidFill>
              </a:rPr>
              <a:t>Project review  ·  Department of Computer Science and Engineering, PES University</a:t>
            </a:r>
            <a:endParaRPr lang="en-US" sz="1800" dirty="0"/>
          </a:p>
          <a:p>
            <a:pPr marL="0" indent="0">
              <a:buNone/>
            </a:pPr>
            <a:r>
              <a:rPr lang="en-US" sz="1600" dirty="0">
                <a:solidFill>
                  <a:schemeClr val="bg2"/>
                </a:solidFill>
              </a:rPr>
              <a:t>Pranav.N.Shenvi (PES1UG23CS912)    ·    M.G.Shrivardhan Swaroop (PES1UG23CS334)</a:t>
            </a:r>
            <a:endParaRPr lang="en-US" sz="1800" dirty="0"/>
          </a:p>
          <a:p>
            <a:pPr marL="0" indent="0">
              <a:buNone/>
            </a:pPr>
            <a:r>
              <a:rPr lang="en-US" sz="1600" dirty="0">
                <a:solidFill>
                  <a:schemeClr val="bg2"/>
                </a:solidFill>
              </a:rPr>
              <a:t>Megha H Shah (PES1UG23CS354)    ·    Kiran Hombal (Alumnus, PhD at UIUC)</a:t>
            </a:r>
            <a:endParaRPr lang="en-US" sz="1800" dirty="0"/>
          </a:p>
          <a:p>
            <a:pPr marL="0" indent="0">
              <a:buNone/>
            </a:pPr>
            <a:r>
              <a:rPr lang="en-US" sz="1600" b="1" dirty="0">
                <a:solidFill>
                  <a:schemeClr val="bg2"/>
                </a:solidFill>
              </a:rPr>
              <a:t>Guide: Dr Shylaja S S, Centre Director for CCBD/CDSAML</a:t>
            </a:r>
            <a:endParaRPr lang="en-US" sz="1800" dirty="0"/>
          </a:p>
        </p:txBody>
      </p:sp>
      <p:sp>
        <p:nvSpPr>
          <p:cNvPr id="4" name="Logo backing"/>
          <p:cNvSpPr/>
          <p:nvPr/>
        </p:nvSpPr>
        <p:spPr>
          <a:xfrm>
            <a:off x="731520" y="548640"/>
            <a:ext cx="2743200" cy="1463040"/>
          </a:xfrm>
          <a:prstGeom prst="roundRect">
            <a:avLst>
              <a:gd name="adj" fmla="val 6250"/>
            </a:avLst>
          </a:prstGeom>
          <a:solidFill>
            <a:schemeClr val="bg1"/>
          </a:solidFill>
          <a:ln w="12700">
            <a:solidFill>
              <a:schemeClr val="bg1"/>
            </a:solidFill>
            <a:prstDash val="solid"/>
          </a:ln>
        </p:spPr>
      </p:sp>
      <p:pic>
        <p:nvPicPr>
          <p:cNvPr id="5" name="PES logo" descr="E:\shenvipranav\projects\hybridAdaEf\poster\assets\logo_pes.png"/>
          <p:cNvPicPr>
            <a:picLocks noChangeAspect="1"/>
          </p:cNvPicPr>
          <p:nvPr/>
        </p:nvPicPr>
        <p:blipFill>
          <a:blip r:embed="rId3"/>
          <a:stretch>
            <a:fillRect/>
          </a:stretch>
        </p:blipFill>
        <p:spPr>
          <a:xfrm>
            <a:off x="868680" y="658368"/>
            <a:ext cx="2468880" cy="12667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Background: vector search and HNSW</a:t>
            </a:r>
            <a:endParaRPr lang="en-US" sz="3200" dirty="0"/>
          </a:p>
        </p:txBody>
      </p:sp>
      <p:sp>
        <p:nvSpPr>
          <p:cNvPr id="3" name="Background text"/>
          <p:cNvSpPr txBox="1"/>
          <p:nvPr/>
        </p:nvSpPr>
        <p:spPr>
          <a:xfrm>
            <a:off x="548640" y="1234440"/>
            <a:ext cx="5394960" cy="4937760"/>
          </a:xfrm>
          <a:prstGeom prst="rect">
            <a:avLst/>
          </a:prstGeom>
          <a:noFill/>
          <a:ln/>
        </p:spPr>
        <p:txBody>
          <a:bodyPr wrap="square" lIns="0" tIns="0" rIns="0" bIns="0" rtlCol="0" anchor="t"/>
          <a:lstStyle/>
          <a:p>
            <a:pPr marL="0" indent="0">
              <a:buNone/>
            </a:pPr>
            <a:r>
              <a:rPr lang="en-US" sz="1500" b="1" dirty="0">
                <a:solidFill>
                  <a:schemeClr val="tx2"/>
                </a:solidFill>
              </a:rPr>
              <a:t>Vector search. </a:t>
            </a:r>
            <a:r>
              <a:rPr lang="en-US" sz="1500" dirty="0">
                <a:solidFill>
                  <a:schemeClr val="tx1"/>
                </a:solidFill>
              </a:rPr>
              <a:t>Text, images and audio are turned into vectors (embeddings); similar items get nearby vectors. A query is answered by finding its nearest vectors.</a:t>
            </a:r>
            <a:endParaRPr lang="en-US" sz="1500" dirty="0"/>
          </a:p>
          <a:p>
            <a:pPr marL="0" indent="0">
              <a:buNone/>
            </a:pPr>
            <a:r>
              <a:rPr lang="en-US" sz="1500" b="1" dirty="0">
                <a:solidFill>
                  <a:schemeClr val="tx2"/>
                </a:solidFill>
              </a:rPr>
              <a:t>Why it matters. </a:t>
            </a:r>
            <a:r>
              <a:rPr lang="en-US" sz="1500" dirty="0">
                <a:solidFill>
                  <a:schemeClr val="tx1"/>
                </a:solidFill>
              </a:rPr>
              <a:t>Semantic search, recommendations and retrieval for LLMs (RAG) all run on it.</a:t>
            </a:r>
            <a:endParaRPr lang="en-US" sz="1500" dirty="0"/>
          </a:p>
          <a:p>
            <a:pPr marL="0" indent="0">
              <a:buNone/>
            </a:pPr>
            <a:r>
              <a:rPr lang="en-US" sz="1500" b="1" dirty="0">
                <a:solidFill>
                  <a:schemeClr val="tx2"/>
                </a:solidFill>
              </a:rPr>
              <a:t>Why an index. </a:t>
            </a:r>
            <a:r>
              <a:rPr lang="en-US" sz="1500" dirty="0">
                <a:solidFill>
                  <a:schemeClr val="tx1"/>
                </a:solidFill>
              </a:rPr>
              <a:t>Comparing a query with millions of vectors is too slow, so an index searches only a small part of the data and returns approximate neighbours.</a:t>
            </a:r>
            <a:endParaRPr lang="en-US" sz="1500" dirty="0"/>
          </a:p>
          <a:p>
            <a:pPr marL="0" indent="0">
              <a:buNone/>
            </a:pPr>
            <a:r>
              <a:rPr lang="en-US" sz="1500" b="1" dirty="0">
                <a:solidFill>
                  <a:schemeClr val="tx2"/>
                </a:solidFill>
              </a:rPr>
              <a:t>HNSW. </a:t>
            </a:r>
            <a:r>
              <a:rPr lang="en-US" sz="1500" dirty="0">
                <a:solidFill>
                  <a:schemeClr val="tx1"/>
                </a:solidFill>
              </a:rPr>
              <a:t>A layered graph: the search enters at the sparse top layer, moves towards the query and drops down a layer at a time.</a:t>
            </a:r>
            <a:endParaRPr lang="en-US" sz="1500" dirty="0"/>
          </a:p>
          <a:p>
            <a:pPr marL="0" indent="0">
              <a:buNone/>
            </a:pPr>
            <a:r>
              <a:rPr lang="en-US" sz="1500" b="1" dirty="0">
                <a:solidFill>
                  <a:schemeClr val="accent1"/>
                </a:solidFill>
              </a:rPr>
              <a:t>ef. </a:t>
            </a:r>
            <a:r>
              <a:rPr lang="en-US" sz="1500" dirty="0">
                <a:solidFill>
                  <a:schemeClr val="tx1"/>
                </a:solidFill>
              </a:rPr>
              <a:t>How many candidates the bottom-layer search keeps. Larger ef: more accurate, but slower.</a:t>
            </a:r>
            <a:endParaRPr lang="en-US" sz="1500" dirty="0"/>
          </a:p>
        </p:txBody>
      </p:sp>
      <p:sp>
        <p:nvSpPr>
          <p:cNvPr id="4" name="HNSW Layer 2: few nodes"/>
          <p:cNvSpPr/>
          <p:nvPr/>
        </p:nvSpPr>
        <p:spPr>
          <a:xfrm>
            <a:off x="6355080" y="1280160"/>
            <a:ext cx="5303520" cy="1188720"/>
          </a:xfrm>
          <a:prstGeom prst="roundRect">
            <a:avLst>
              <a:gd name="adj" fmla="val 6154"/>
            </a:avLst>
          </a:prstGeom>
          <a:solidFill>
            <a:schemeClr val="bg2"/>
          </a:solidFill>
          <a:ln w="12700">
            <a:solidFill>
              <a:schemeClr val="bg2"/>
            </a:solidFill>
            <a:prstDash val="solid"/>
          </a:ln>
        </p:spPr>
      </p:sp>
      <p:sp>
        <p:nvSpPr>
          <p:cNvPr id="5" name="HNSW label 0"/>
          <p:cNvSpPr txBox="1"/>
          <p:nvPr/>
        </p:nvSpPr>
        <p:spPr>
          <a:xfrm>
            <a:off x="6464808" y="1325880"/>
            <a:ext cx="2743200" cy="274320"/>
          </a:xfrm>
          <a:prstGeom prst="rect">
            <a:avLst/>
          </a:prstGeom>
          <a:noFill/>
          <a:ln/>
        </p:spPr>
        <p:txBody>
          <a:bodyPr wrap="square" lIns="0" tIns="0" rIns="0" bIns="0" rtlCol="0" anchor="ctr"/>
          <a:lstStyle/>
          <a:p>
            <a:pPr marL="0" indent="0">
              <a:buNone/>
            </a:pPr>
            <a:r>
              <a:rPr lang="en-US" sz="1100" i="1" dirty="0">
                <a:solidFill>
                  <a:schemeClr val="accent6"/>
                </a:solidFill>
              </a:rPr>
              <a:t>Layer 2: few nodes</a:t>
            </a:r>
            <a:endParaRPr lang="en-US" sz="1100" dirty="0"/>
          </a:p>
        </p:txBody>
      </p:sp>
      <p:sp>
        <p:nvSpPr>
          <p:cNvPr id="6" name="HNSW edge 0-1"/>
          <p:cNvSpPr/>
          <p:nvPr/>
        </p:nvSpPr>
        <p:spPr>
          <a:xfrm>
            <a:off x="7452360" y="1965960"/>
            <a:ext cx="1645920" cy="914"/>
          </a:xfrm>
          <a:prstGeom prst="line">
            <a:avLst/>
          </a:prstGeom>
          <a:noFill/>
          <a:ln w="12700">
            <a:solidFill>
              <a:srgbClr val="C9CED3"/>
            </a:solidFill>
            <a:prstDash val="solid"/>
          </a:ln>
        </p:spPr>
      </p:sp>
      <p:sp>
        <p:nvSpPr>
          <p:cNvPr id="7" name="HNSW edge 0-2"/>
          <p:cNvSpPr/>
          <p:nvPr/>
        </p:nvSpPr>
        <p:spPr>
          <a:xfrm>
            <a:off x="9098280" y="1965960"/>
            <a:ext cx="1645920" cy="914"/>
          </a:xfrm>
          <a:prstGeom prst="line">
            <a:avLst/>
          </a:prstGeom>
          <a:noFill/>
          <a:ln w="12700">
            <a:solidFill>
              <a:srgbClr val="C9CED3"/>
            </a:solidFill>
            <a:prstDash val="solid"/>
          </a:ln>
        </p:spPr>
      </p:sp>
      <p:sp>
        <p:nvSpPr>
          <p:cNvPr id="8" name="HNSW Layer 1"/>
          <p:cNvSpPr/>
          <p:nvPr/>
        </p:nvSpPr>
        <p:spPr>
          <a:xfrm>
            <a:off x="6355080" y="2697480"/>
            <a:ext cx="5303520" cy="1188720"/>
          </a:xfrm>
          <a:prstGeom prst="roundRect">
            <a:avLst>
              <a:gd name="adj" fmla="val 6154"/>
            </a:avLst>
          </a:prstGeom>
          <a:solidFill>
            <a:schemeClr val="bg2"/>
          </a:solidFill>
          <a:ln w="12700">
            <a:solidFill>
              <a:schemeClr val="bg2"/>
            </a:solidFill>
            <a:prstDash val="solid"/>
          </a:ln>
        </p:spPr>
      </p:sp>
      <p:sp>
        <p:nvSpPr>
          <p:cNvPr id="9" name="HNSW label 1"/>
          <p:cNvSpPr txBox="1"/>
          <p:nvPr/>
        </p:nvSpPr>
        <p:spPr>
          <a:xfrm>
            <a:off x="6464808" y="2743200"/>
            <a:ext cx="2743200" cy="274320"/>
          </a:xfrm>
          <a:prstGeom prst="rect">
            <a:avLst/>
          </a:prstGeom>
          <a:noFill/>
          <a:ln/>
        </p:spPr>
        <p:txBody>
          <a:bodyPr wrap="square" lIns="0" tIns="0" rIns="0" bIns="0" rtlCol="0" anchor="ctr"/>
          <a:lstStyle/>
          <a:p>
            <a:pPr marL="0" indent="0">
              <a:buNone/>
            </a:pPr>
            <a:r>
              <a:rPr lang="en-US" sz="1100" i="1" dirty="0">
                <a:solidFill>
                  <a:schemeClr val="accent6"/>
                </a:solidFill>
              </a:rPr>
              <a:t>Layer 1</a:t>
            </a:r>
            <a:endParaRPr lang="en-US" sz="1100" dirty="0"/>
          </a:p>
        </p:txBody>
      </p:sp>
      <p:sp>
        <p:nvSpPr>
          <p:cNvPr id="10" name="HNSW edge 1-1"/>
          <p:cNvSpPr/>
          <p:nvPr/>
        </p:nvSpPr>
        <p:spPr>
          <a:xfrm>
            <a:off x="6629400" y="3291840"/>
            <a:ext cx="822960" cy="182880"/>
          </a:xfrm>
          <a:prstGeom prst="line">
            <a:avLst/>
          </a:prstGeom>
          <a:noFill/>
          <a:ln w="12700">
            <a:solidFill>
              <a:srgbClr val="C9CED3"/>
            </a:solidFill>
            <a:prstDash val="solid"/>
          </a:ln>
        </p:spPr>
      </p:sp>
      <p:sp>
        <p:nvSpPr>
          <p:cNvPr id="11" name="HNSW edge 1-2"/>
          <p:cNvSpPr/>
          <p:nvPr/>
        </p:nvSpPr>
        <p:spPr>
          <a:xfrm flipV="1">
            <a:off x="7452360" y="3291840"/>
            <a:ext cx="822960" cy="182880"/>
          </a:xfrm>
          <a:prstGeom prst="line">
            <a:avLst/>
          </a:prstGeom>
          <a:noFill/>
          <a:ln w="12700">
            <a:solidFill>
              <a:srgbClr val="C9CED3"/>
            </a:solidFill>
            <a:prstDash val="solid"/>
          </a:ln>
        </p:spPr>
      </p:sp>
      <p:sp>
        <p:nvSpPr>
          <p:cNvPr id="12" name="HNSW edge 1-3"/>
          <p:cNvSpPr/>
          <p:nvPr/>
        </p:nvSpPr>
        <p:spPr>
          <a:xfrm>
            <a:off x="8275320" y="3291840"/>
            <a:ext cx="822960" cy="182880"/>
          </a:xfrm>
          <a:prstGeom prst="line">
            <a:avLst/>
          </a:prstGeom>
          <a:noFill/>
          <a:ln w="12700">
            <a:solidFill>
              <a:srgbClr val="C9CED3"/>
            </a:solidFill>
            <a:prstDash val="solid"/>
          </a:ln>
        </p:spPr>
      </p:sp>
      <p:sp>
        <p:nvSpPr>
          <p:cNvPr id="13" name="HNSW edge 1-4"/>
          <p:cNvSpPr/>
          <p:nvPr/>
        </p:nvSpPr>
        <p:spPr>
          <a:xfrm flipV="1">
            <a:off x="9098280" y="3291840"/>
            <a:ext cx="822960" cy="182880"/>
          </a:xfrm>
          <a:prstGeom prst="line">
            <a:avLst/>
          </a:prstGeom>
          <a:noFill/>
          <a:ln w="12700">
            <a:solidFill>
              <a:srgbClr val="C9CED3"/>
            </a:solidFill>
            <a:prstDash val="solid"/>
          </a:ln>
        </p:spPr>
      </p:sp>
      <p:sp>
        <p:nvSpPr>
          <p:cNvPr id="14" name="HNSW edge 1-5"/>
          <p:cNvSpPr/>
          <p:nvPr/>
        </p:nvSpPr>
        <p:spPr>
          <a:xfrm>
            <a:off x="9921240" y="3291840"/>
            <a:ext cx="822960" cy="182880"/>
          </a:xfrm>
          <a:prstGeom prst="line">
            <a:avLst/>
          </a:prstGeom>
          <a:noFill/>
          <a:ln w="12700">
            <a:solidFill>
              <a:srgbClr val="C9CED3"/>
            </a:solidFill>
            <a:prstDash val="solid"/>
          </a:ln>
        </p:spPr>
      </p:sp>
      <p:sp>
        <p:nvSpPr>
          <p:cNvPr id="15" name="HNSW Layer 0: every vector"/>
          <p:cNvSpPr/>
          <p:nvPr/>
        </p:nvSpPr>
        <p:spPr>
          <a:xfrm>
            <a:off x="6355080" y="4114800"/>
            <a:ext cx="5303520" cy="1188720"/>
          </a:xfrm>
          <a:prstGeom prst="roundRect">
            <a:avLst>
              <a:gd name="adj" fmla="val 6154"/>
            </a:avLst>
          </a:prstGeom>
          <a:solidFill>
            <a:schemeClr val="bg2"/>
          </a:solidFill>
          <a:ln w="12700">
            <a:solidFill>
              <a:schemeClr val="bg2"/>
            </a:solidFill>
            <a:prstDash val="solid"/>
          </a:ln>
        </p:spPr>
      </p:sp>
      <p:sp>
        <p:nvSpPr>
          <p:cNvPr id="16" name="HNSW label 2"/>
          <p:cNvSpPr txBox="1"/>
          <p:nvPr/>
        </p:nvSpPr>
        <p:spPr>
          <a:xfrm>
            <a:off x="6464808" y="4160520"/>
            <a:ext cx="2743200" cy="274320"/>
          </a:xfrm>
          <a:prstGeom prst="rect">
            <a:avLst/>
          </a:prstGeom>
          <a:noFill/>
          <a:ln/>
        </p:spPr>
        <p:txBody>
          <a:bodyPr wrap="square" lIns="0" tIns="0" rIns="0" bIns="0" rtlCol="0" anchor="ctr"/>
          <a:lstStyle/>
          <a:p>
            <a:pPr marL="0" indent="0">
              <a:buNone/>
            </a:pPr>
            <a:r>
              <a:rPr lang="en-US" sz="1100" i="1" dirty="0">
                <a:solidFill>
                  <a:schemeClr val="accent6"/>
                </a:solidFill>
              </a:rPr>
              <a:t>Layer 0: every vector</a:t>
            </a:r>
            <a:endParaRPr lang="en-US" sz="1100" dirty="0"/>
          </a:p>
        </p:txBody>
      </p:sp>
      <p:sp>
        <p:nvSpPr>
          <p:cNvPr id="17" name="HNSW edge 2-1"/>
          <p:cNvSpPr/>
          <p:nvPr/>
        </p:nvSpPr>
        <p:spPr>
          <a:xfrm>
            <a:off x="6629400" y="4690872"/>
            <a:ext cx="411480" cy="274320"/>
          </a:xfrm>
          <a:prstGeom prst="line">
            <a:avLst/>
          </a:prstGeom>
          <a:noFill/>
          <a:ln w="12700">
            <a:solidFill>
              <a:srgbClr val="C9CED3"/>
            </a:solidFill>
            <a:prstDash val="solid"/>
          </a:ln>
        </p:spPr>
      </p:sp>
      <p:sp>
        <p:nvSpPr>
          <p:cNvPr id="18" name="HNSW edge 2-2"/>
          <p:cNvSpPr/>
          <p:nvPr/>
        </p:nvSpPr>
        <p:spPr>
          <a:xfrm flipV="1">
            <a:off x="7040880" y="4690872"/>
            <a:ext cx="411480" cy="274320"/>
          </a:xfrm>
          <a:prstGeom prst="line">
            <a:avLst/>
          </a:prstGeom>
          <a:noFill/>
          <a:ln w="12700">
            <a:solidFill>
              <a:srgbClr val="C9CED3"/>
            </a:solidFill>
            <a:prstDash val="solid"/>
          </a:ln>
        </p:spPr>
      </p:sp>
      <p:sp>
        <p:nvSpPr>
          <p:cNvPr id="19" name="HNSW edge 2-3"/>
          <p:cNvSpPr/>
          <p:nvPr/>
        </p:nvSpPr>
        <p:spPr>
          <a:xfrm>
            <a:off x="7452360" y="4690872"/>
            <a:ext cx="411480" cy="274320"/>
          </a:xfrm>
          <a:prstGeom prst="line">
            <a:avLst/>
          </a:prstGeom>
          <a:noFill/>
          <a:ln w="12700">
            <a:solidFill>
              <a:srgbClr val="C9CED3"/>
            </a:solidFill>
            <a:prstDash val="solid"/>
          </a:ln>
        </p:spPr>
      </p:sp>
      <p:sp>
        <p:nvSpPr>
          <p:cNvPr id="20" name="HNSW edge 2-4"/>
          <p:cNvSpPr/>
          <p:nvPr/>
        </p:nvSpPr>
        <p:spPr>
          <a:xfrm flipV="1">
            <a:off x="7863840" y="4690872"/>
            <a:ext cx="411480" cy="274320"/>
          </a:xfrm>
          <a:prstGeom prst="line">
            <a:avLst/>
          </a:prstGeom>
          <a:noFill/>
          <a:ln w="12700">
            <a:solidFill>
              <a:srgbClr val="C9CED3"/>
            </a:solidFill>
            <a:prstDash val="solid"/>
          </a:ln>
        </p:spPr>
      </p:sp>
      <p:sp>
        <p:nvSpPr>
          <p:cNvPr id="21" name="HNSW edge 2-5"/>
          <p:cNvSpPr/>
          <p:nvPr/>
        </p:nvSpPr>
        <p:spPr>
          <a:xfrm>
            <a:off x="8275320" y="4690872"/>
            <a:ext cx="411480" cy="274320"/>
          </a:xfrm>
          <a:prstGeom prst="line">
            <a:avLst/>
          </a:prstGeom>
          <a:noFill/>
          <a:ln w="12700">
            <a:solidFill>
              <a:srgbClr val="C9CED3"/>
            </a:solidFill>
            <a:prstDash val="solid"/>
          </a:ln>
        </p:spPr>
      </p:sp>
      <p:sp>
        <p:nvSpPr>
          <p:cNvPr id="22" name="HNSW edge 2-6"/>
          <p:cNvSpPr/>
          <p:nvPr/>
        </p:nvSpPr>
        <p:spPr>
          <a:xfrm flipV="1">
            <a:off x="8686800" y="4690872"/>
            <a:ext cx="411480" cy="274320"/>
          </a:xfrm>
          <a:prstGeom prst="line">
            <a:avLst/>
          </a:prstGeom>
          <a:noFill/>
          <a:ln w="12700">
            <a:solidFill>
              <a:srgbClr val="C9CED3"/>
            </a:solidFill>
            <a:prstDash val="solid"/>
          </a:ln>
        </p:spPr>
      </p:sp>
      <p:sp>
        <p:nvSpPr>
          <p:cNvPr id="23" name="HNSW edge 2-7"/>
          <p:cNvSpPr/>
          <p:nvPr/>
        </p:nvSpPr>
        <p:spPr>
          <a:xfrm>
            <a:off x="9098280" y="4690872"/>
            <a:ext cx="411480" cy="274320"/>
          </a:xfrm>
          <a:prstGeom prst="line">
            <a:avLst/>
          </a:prstGeom>
          <a:noFill/>
          <a:ln w="12700">
            <a:solidFill>
              <a:srgbClr val="C9CED3"/>
            </a:solidFill>
            <a:prstDash val="solid"/>
          </a:ln>
        </p:spPr>
      </p:sp>
      <p:sp>
        <p:nvSpPr>
          <p:cNvPr id="24" name="HNSW edge 2-8"/>
          <p:cNvSpPr/>
          <p:nvPr/>
        </p:nvSpPr>
        <p:spPr>
          <a:xfrm flipV="1">
            <a:off x="9509760" y="4690872"/>
            <a:ext cx="411480" cy="274320"/>
          </a:xfrm>
          <a:prstGeom prst="line">
            <a:avLst/>
          </a:prstGeom>
          <a:noFill/>
          <a:ln w="12700">
            <a:solidFill>
              <a:srgbClr val="C9CED3"/>
            </a:solidFill>
            <a:prstDash val="solid"/>
          </a:ln>
        </p:spPr>
      </p:sp>
      <p:sp>
        <p:nvSpPr>
          <p:cNvPr id="25" name="HNSW edge 2-9"/>
          <p:cNvSpPr/>
          <p:nvPr/>
        </p:nvSpPr>
        <p:spPr>
          <a:xfrm>
            <a:off x="9921240" y="4690872"/>
            <a:ext cx="411480" cy="274320"/>
          </a:xfrm>
          <a:prstGeom prst="line">
            <a:avLst/>
          </a:prstGeom>
          <a:noFill/>
          <a:ln w="12700">
            <a:solidFill>
              <a:srgbClr val="C9CED3"/>
            </a:solidFill>
            <a:prstDash val="solid"/>
          </a:ln>
        </p:spPr>
      </p:sp>
      <p:sp>
        <p:nvSpPr>
          <p:cNvPr id="26" name="HNSW edge 2-10"/>
          <p:cNvSpPr/>
          <p:nvPr/>
        </p:nvSpPr>
        <p:spPr>
          <a:xfrm flipV="1">
            <a:off x="10332720" y="4690872"/>
            <a:ext cx="411480" cy="274320"/>
          </a:xfrm>
          <a:prstGeom prst="line">
            <a:avLst/>
          </a:prstGeom>
          <a:noFill/>
          <a:ln w="12700">
            <a:solidFill>
              <a:srgbClr val="C9CED3"/>
            </a:solidFill>
            <a:prstDash val="solid"/>
          </a:ln>
        </p:spPr>
      </p:sp>
      <p:sp>
        <p:nvSpPr>
          <p:cNvPr id="27" name="HNSW edge 2-11"/>
          <p:cNvSpPr/>
          <p:nvPr/>
        </p:nvSpPr>
        <p:spPr>
          <a:xfrm>
            <a:off x="10744200" y="4690872"/>
            <a:ext cx="411480" cy="274320"/>
          </a:xfrm>
          <a:prstGeom prst="line">
            <a:avLst/>
          </a:prstGeom>
          <a:noFill/>
          <a:ln w="12700">
            <a:solidFill>
              <a:srgbClr val="C9CED3"/>
            </a:solidFill>
            <a:prstDash val="solid"/>
          </a:ln>
        </p:spPr>
      </p:sp>
      <p:sp>
        <p:nvSpPr>
          <p:cNvPr id="28" name="HNSW ef window"/>
          <p:cNvSpPr/>
          <p:nvPr/>
        </p:nvSpPr>
        <p:spPr>
          <a:xfrm>
            <a:off x="9326880" y="4498848"/>
            <a:ext cx="1645920" cy="685800"/>
          </a:xfrm>
          <a:prstGeom prst="roundRect">
            <a:avLst>
              <a:gd name="adj" fmla="val 16000"/>
            </a:avLst>
          </a:prstGeom>
          <a:solidFill>
            <a:schemeClr val="accent1">
              <a:alpha val="25000"/>
            </a:schemeClr>
          </a:solidFill>
          <a:ln w="15875">
            <a:solidFill>
              <a:schemeClr val="accent1"/>
            </a:solidFill>
            <a:prstDash val="solid"/>
          </a:ln>
        </p:spPr>
      </p:sp>
      <p:sp>
        <p:nvSpPr>
          <p:cNvPr id="29" name="HNSW ef label"/>
          <p:cNvSpPr txBox="1"/>
          <p:nvPr/>
        </p:nvSpPr>
        <p:spPr>
          <a:xfrm>
            <a:off x="9326880" y="5193792"/>
            <a:ext cx="1645920" cy="256032"/>
          </a:xfrm>
          <a:prstGeom prst="rect">
            <a:avLst/>
          </a:prstGeom>
          <a:noFill/>
          <a:ln/>
        </p:spPr>
        <p:txBody>
          <a:bodyPr wrap="square" lIns="0" tIns="0" rIns="0" bIns="0" rtlCol="0" anchor="ctr"/>
          <a:lstStyle/>
          <a:p>
            <a:pPr marL="0" indent="0" algn="ctr">
              <a:buNone/>
            </a:pPr>
            <a:r>
              <a:rPr lang="en-US" sz="1100" b="1" dirty="0">
                <a:solidFill>
                  <a:schemeClr val="accent1"/>
                </a:solidFill>
              </a:rPr>
              <a:t>ef candidates</a:t>
            </a:r>
            <a:endParaRPr lang="en-US" sz="1100" dirty="0"/>
          </a:p>
        </p:txBody>
      </p:sp>
      <p:sp>
        <p:nvSpPr>
          <p:cNvPr id="30" name="HNSW node 0-2"/>
          <p:cNvSpPr/>
          <p:nvPr/>
        </p:nvSpPr>
        <p:spPr>
          <a:xfrm>
            <a:off x="7370064" y="1883664"/>
            <a:ext cx="164592" cy="164592"/>
          </a:xfrm>
          <a:prstGeom prst="ellipse">
            <a:avLst/>
          </a:prstGeom>
          <a:solidFill>
            <a:schemeClr val="accent2"/>
          </a:solidFill>
          <a:ln w="12700">
            <a:solidFill>
              <a:schemeClr val="bg1"/>
            </a:solidFill>
            <a:prstDash val="solid"/>
          </a:ln>
        </p:spPr>
      </p:sp>
      <p:sp>
        <p:nvSpPr>
          <p:cNvPr id="31" name="HNSW node 0-6"/>
          <p:cNvSpPr/>
          <p:nvPr/>
        </p:nvSpPr>
        <p:spPr>
          <a:xfrm>
            <a:off x="9015984" y="1883664"/>
            <a:ext cx="164592" cy="164592"/>
          </a:xfrm>
          <a:prstGeom prst="ellipse">
            <a:avLst/>
          </a:prstGeom>
          <a:solidFill>
            <a:schemeClr val="accent2"/>
          </a:solidFill>
          <a:ln w="12700">
            <a:solidFill>
              <a:schemeClr val="bg1"/>
            </a:solidFill>
            <a:prstDash val="solid"/>
          </a:ln>
        </p:spPr>
      </p:sp>
      <p:sp>
        <p:nvSpPr>
          <p:cNvPr id="32" name="HNSW node 0-10"/>
          <p:cNvSpPr/>
          <p:nvPr/>
        </p:nvSpPr>
        <p:spPr>
          <a:xfrm>
            <a:off x="10661904" y="1883664"/>
            <a:ext cx="164592" cy="164592"/>
          </a:xfrm>
          <a:prstGeom prst="ellipse">
            <a:avLst/>
          </a:prstGeom>
          <a:solidFill>
            <a:schemeClr val="accent2"/>
          </a:solidFill>
          <a:ln w="12700">
            <a:solidFill>
              <a:schemeClr val="bg1"/>
            </a:solidFill>
            <a:prstDash val="solid"/>
          </a:ln>
        </p:spPr>
      </p:sp>
      <p:sp>
        <p:nvSpPr>
          <p:cNvPr id="33" name="HNSW node 1-0"/>
          <p:cNvSpPr/>
          <p:nvPr/>
        </p:nvSpPr>
        <p:spPr>
          <a:xfrm>
            <a:off x="6547104" y="3209544"/>
            <a:ext cx="164592" cy="164592"/>
          </a:xfrm>
          <a:prstGeom prst="ellipse">
            <a:avLst/>
          </a:prstGeom>
          <a:solidFill>
            <a:schemeClr val="accent2"/>
          </a:solidFill>
          <a:ln w="12700">
            <a:solidFill>
              <a:schemeClr val="bg1"/>
            </a:solidFill>
            <a:prstDash val="solid"/>
          </a:ln>
        </p:spPr>
      </p:sp>
      <p:sp>
        <p:nvSpPr>
          <p:cNvPr id="34" name="HNSW node 1-2"/>
          <p:cNvSpPr/>
          <p:nvPr/>
        </p:nvSpPr>
        <p:spPr>
          <a:xfrm>
            <a:off x="7370064" y="3392424"/>
            <a:ext cx="164592" cy="164592"/>
          </a:xfrm>
          <a:prstGeom prst="ellipse">
            <a:avLst/>
          </a:prstGeom>
          <a:solidFill>
            <a:schemeClr val="accent2"/>
          </a:solidFill>
          <a:ln w="12700">
            <a:solidFill>
              <a:schemeClr val="bg1"/>
            </a:solidFill>
            <a:prstDash val="solid"/>
          </a:ln>
        </p:spPr>
      </p:sp>
      <p:sp>
        <p:nvSpPr>
          <p:cNvPr id="35" name="HNSW node 1-4"/>
          <p:cNvSpPr/>
          <p:nvPr/>
        </p:nvSpPr>
        <p:spPr>
          <a:xfrm>
            <a:off x="8193024" y="3209544"/>
            <a:ext cx="164592" cy="164592"/>
          </a:xfrm>
          <a:prstGeom prst="ellipse">
            <a:avLst/>
          </a:prstGeom>
          <a:solidFill>
            <a:schemeClr val="accent2"/>
          </a:solidFill>
          <a:ln w="12700">
            <a:solidFill>
              <a:schemeClr val="bg1"/>
            </a:solidFill>
            <a:prstDash val="solid"/>
          </a:ln>
        </p:spPr>
      </p:sp>
      <p:sp>
        <p:nvSpPr>
          <p:cNvPr id="36" name="HNSW node 1-6"/>
          <p:cNvSpPr/>
          <p:nvPr/>
        </p:nvSpPr>
        <p:spPr>
          <a:xfrm>
            <a:off x="9015984" y="3392424"/>
            <a:ext cx="164592" cy="164592"/>
          </a:xfrm>
          <a:prstGeom prst="ellipse">
            <a:avLst/>
          </a:prstGeom>
          <a:solidFill>
            <a:schemeClr val="accent2"/>
          </a:solidFill>
          <a:ln w="12700">
            <a:solidFill>
              <a:schemeClr val="bg1"/>
            </a:solidFill>
            <a:prstDash val="solid"/>
          </a:ln>
        </p:spPr>
      </p:sp>
      <p:sp>
        <p:nvSpPr>
          <p:cNvPr id="37" name="HNSW node 1-8"/>
          <p:cNvSpPr/>
          <p:nvPr/>
        </p:nvSpPr>
        <p:spPr>
          <a:xfrm>
            <a:off x="9838944" y="3209544"/>
            <a:ext cx="164592" cy="164592"/>
          </a:xfrm>
          <a:prstGeom prst="ellipse">
            <a:avLst/>
          </a:prstGeom>
          <a:solidFill>
            <a:schemeClr val="accent2"/>
          </a:solidFill>
          <a:ln w="12700">
            <a:solidFill>
              <a:schemeClr val="bg1"/>
            </a:solidFill>
            <a:prstDash val="solid"/>
          </a:ln>
        </p:spPr>
      </p:sp>
      <p:sp>
        <p:nvSpPr>
          <p:cNvPr id="38" name="HNSW node 1-10"/>
          <p:cNvSpPr/>
          <p:nvPr/>
        </p:nvSpPr>
        <p:spPr>
          <a:xfrm>
            <a:off x="10661904" y="3392424"/>
            <a:ext cx="164592" cy="164592"/>
          </a:xfrm>
          <a:prstGeom prst="ellipse">
            <a:avLst/>
          </a:prstGeom>
          <a:solidFill>
            <a:schemeClr val="accent2"/>
          </a:solidFill>
          <a:ln w="12700">
            <a:solidFill>
              <a:schemeClr val="bg1"/>
            </a:solidFill>
            <a:prstDash val="solid"/>
          </a:ln>
        </p:spPr>
      </p:sp>
      <p:sp>
        <p:nvSpPr>
          <p:cNvPr id="39" name="HNSW node 2-0"/>
          <p:cNvSpPr/>
          <p:nvPr/>
        </p:nvSpPr>
        <p:spPr>
          <a:xfrm>
            <a:off x="6547104" y="4608576"/>
            <a:ext cx="164592" cy="164592"/>
          </a:xfrm>
          <a:prstGeom prst="ellipse">
            <a:avLst/>
          </a:prstGeom>
          <a:solidFill>
            <a:schemeClr val="accent2"/>
          </a:solidFill>
          <a:ln w="12700">
            <a:solidFill>
              <a:schemeClr val="bg1"/>
            </a:solidFill>
            <a:prstDash val="solid"/>
          </a:ln>
        </p:spPr>
      </p:sp>
      <p:sp>
        <p:nvSpPr>
          <p:cNvPr id="40" name="HNSW node 2-1"/>
          <p:cNvSpPr/>
          <p:nvPr/>
        </p:nvSpPr>
        <p:spPr>
          <a:xfrm>
            <a:off x="6958584" y="4882896"/>
            <a:ext cx="164592" cy="164592"/>
          </a:xfrm>
          <a:prstGeom prst="ellipse">
            <a:avLst/>
          </a:prstGeom>
          <a:solidFill>
            <a:schemeClr val="accent2"/>
          </a:solidFill>
          <a:ln w="12700">
            <a:solidFill>
              <a:schemeClr val="bg1"/>
            </a:solidFill>
            <a:prstDash val="solid"/>
          </a:ln>
        </p:spPr>
      </p:sp>
      <p:sp>
        <p:nvSpPr>
          <p:cNvPr id="41" name="HNSW node 2-2"/>
          <p:cNvSpPr/>
          <p:nvPr/>
        </p:nvSpPr>
        <p:spPr>
          <a:xfrm>
            <a:off x="7370064" y="4608576"/>
            <a:ext cx="164592" cy="164592"/>
          </a:xfrm>
          <a:prstGeom prst="ellipse">
            <a:avLst/>
          </a:prstGeom>
          <a:solidFill>
            <a:schemeClr val="accent2"/>
          </a:solidFill>
          <a:ln w="12700">
            <a:solidFill>
              <a:schemeClr val="bg1"/>
            </a:solidFill>
            <a:prstDash val="solid"/>
          </a:ln>
        </p:spPr>
      </p:sp>
      <p:sp>
        <p:nvSpPr>
          <p:cNvPr id="42" name="HNSW node 2-3"/>
          <p:cNvSpPr/>
          <p:nvPr/>
        </p:nvSpPr>
        <p:spPr>
          <a:xfrm>
            <a:off x="7781544" y="4882896"/>
            <a:ext cx="164592" cy="164592"/>
          </a:xfrm>
          <a:prstGeom prst="ellipse">
            <a:avLst/>
          </a:prstGeom>
          <a:solidFill>
            <a:schemeClr val="accent2"/>
          </a:solidFill>
          <a:ln w="12700">
            <a:solidFill>
              <a:schemeClr val="bg1"/>
            </a:solidFill>
            <a:prstDash val="solid"/>
          </a:ln>
        </p:spPr>
      </p:sp>
      <p:sp>
        <p:nvSpPr>
          <p:cNvPr id="43" name="HNSW node 2-4"/>
          <p:cNvSpPr/>
          <p:nvPr/>
        </p:nvSpPr>
        <p:spPr>
          <a:xfrm>
            <a:off x="8193024" y="4608576"/>
            <a:ext cx="164592" cy="164592"/>
          </a:xfrm>
          <a:prstGeom prst="ellipse">
            <a:avLst/>
          </a:prstGeom>
          <a:solidFill>
            <a:schemeClr val="accent2"/>
          </a:solidFill>
          <a:ln w="12700">
            <a:solidFill>
              <a:schemeClr val="bg1"/>
            </a:solidFill>
            <a:prstDash val="solid"/>
          </a:ln>
        </p:spPr>
      </p:sp>
      <p:sp>
        <p:nvSpPr>
          <p:cNvPr id="44" name="HNSW node 2-5"/>
          <p:cNvSpPr/>
          <p:nvPr/>
        </p:nvSpPr>
        <p:spPr>
          <a:xfrm>
            <a:off x="8604504" y="4882896"/>
            <a:ext cx="164592" cy="164592"/>
          </a:xfrm>
          <a:prstGeom prst="ellipse">
            <a:avLst/>
          </a:prstGeom>
          <a:solidFill>
            <a:schemeClr val="accent2"/>
          </a:solidFill>
          <a:ln w="12700">
            <a:solidFill>
              <a:schemeClr val="bg1"/>
            </a:solidFill>
            <a:prstDash val="solid"/>
          </a:ln>
        </p:spPr>
      </p:sp>
      <p:sp>
        <p:nvSpPr>
          <p:cNvPr id="45" name="HNSW node 2-6"/>
          <p:cNvSpPr/>
          <p:nvPr/>
        </p:nvSpPr>
        <p:spPr>
          <a:xfrm>
            <a:off x="9015984" y="4608576"/>
            <a:ext cx="164592" cy="164592"/>
          </a:xfrm>
          <a:prstGeom prst="ellipse">
            <a:avLst/>
          </a:prstGeom>
          <a:solidFill>
            <a:schemeClr val="accent2"/>
          </a:solidFill>
          <a:ln w="12700">
            <a:solidFill>
              <a:schemeClr val="bg1"/>
            </a:solidFill>
            <a:prstDash val="solid"/>
          </a:ln>
        </p:spPr>
      </p:sp>
      <p:sp>
        <p:nvSpPr>
          <p:cNvPr id="46" name="HNSW node 2-7"/>
          <p:cNvSpPr/>
          <p:nvPr/>
        </p:nvSpPr>
        <p:spPr>
          <a:xfrm>
            <a:off x="9427464" y="4882896"/>
            <a:ext cx="164592" cy="164592"/>
          </a:xfrm>
          <a:prstGeom prst="ellipse">
            <a:avLst/>
          </a:prstGeom>
          <a:solidFill>
            <a:schemeClr val="accent2"/>
          </a:solidFill>
          <a:ln w="12700">
            <a:solidFill>
              <a:schemeClr val="bg1"/>
            </a:solidFill>
            <a:prstDash val="solid"/>
          </a:ln>
        </p:spPr>
      </p:sp>
      <p:sp>
        <p:nvSpPr>
          <p:cNvPr id="47" name="HNSW node 2-8"/>
          <p:cNvSpPr/>
          <p:nvPr/>
        </p:nvSpPr>
        <p:spPr>
          <a:xfrm>
            <a:off x="9838944" y="4608576"/>
            <a:ext cx="164592" cy="164592"/>
          </a:xfrm>
          <a:prstGeom prst="ellipse">
            <a:avLst/>
          </a:prstGeom>
          <a:solidFill>
            <a:schemeClr val="accent2"/>
          </a:solidFill>
          <a:ln w="12700">
            <a:solidFill>
              <a:schemeClr val="bg1"/>
            </a:solidFill>
            <a:prstDash val="solid"/>
          </a:ln>
        </p:spPr>
      </p:sp>
      <p:sp>
        <p:nvSpPr>
          <p:cNvPr id="48" name="HNSW node 2-9"/>
          <p:cNvSpPr/>
          <p:nvPr/>
        </p:nvSpPr>
        <p:spPr>
          <a:xfrm>
            <a:off x="10250424" y="4882896"/>
            <a:ext cx="164592" cy="164592"/>
          </a:xfrm>
          <a:prstGeom prst="ellipse">
            <a:avLst/>
          </a:prstGeom>
          <a:solidFill>
            <a:schemeClr val="accent2"/>
          </a:solidFill>
          <a:ln w="12700">
            <a:solidFill>
              <a:schemeClr val="bg1"/>
            </a:solidFill>
            <a:prstDash val="solid"/>
          </a:ln>
        </p:spPr>
      </p:sp>
      <p:sp>
        <p:nvSpPr>
          <p:cNvPr id="49" name="HNSW node 2-10"/>
          <p:cNvSpPr/>
          <p:nvPr/>
        </p:nvSpPr>
        <p:spPr>
          <a:xfrm>
            <a:off x="10661904" y="4608576"/>
            <a:ext cx="164592" cy="164592"/>
          </a:xfrm>
          <a:prstGeom prst="ellipse">
            <a:avLst/>
          </a:prstGeom>
          <a:solidFill>
            <a:schemeClr val="accent2"/>
          </a:solidFill>
          <a:ln w="12700">
            <a:solidFill>
              <a:schemeClr val="bg1"/>
            </a:solidFill>
            <a:prstDash val="solid"/>
          </a:ln>
        </p:spPr>
      </p:sp>
      <p:sp>
        <p:nvSpPr>
          <p:cNvPr id="50" name="HNSW node 2-11"/>
          <p:cNvSpPr/>
          <p:nvPr/>
        </p:nvSpPr>
        <p:spPr>
          <a:xfrm>
            <a:off x="11073384" y="4882896"/>
            <a:ext cx="164592" cy="164592"/>
          </a:xfrm>
          <a:prstGeom prst="ellipse">
            <a:avLst/>
          </a:prstGeom>
          <a:solidFill>
            <a:schemeClr val="accent2"/>
          </a:solidFill>
          <a:ln w="12700">
            <a:solidFill>
              <a:schemeClr val="bg1"/>
            </a:solidFill>
            <a:prstDash val="solid"/>
          </a:ln>
        </p:spPr>
      </p:sp>
      <p:sp>
        <p:nvSpPr>
          <p:cNvPr id="51" name="HNSW search step 1"/>
          <p:cNvSpPr/>
          <p:nvPr/>
        </p:nvSpPr>
        <p:spPr>
          <a:xfrm>
            <a:off x="7452360" y="1965960"/>
            <a:ext cx="1645920" cy="914"/>
          </a:xfrm>
          <a:prstGeom prst="line">
            <a:avLst/>
          </a:prstGeom>
          <a:noFill/>
          <a:ln w="28575">
            <a:solidFill>
              <a:schemeClr val="accent1"/>
            </a:solidFill>
            <a:prstDash val="solid"/>
            <a:tailEnd type="triangle"/>
          </a:ln>
        </p:spPr>
      </p:sp>
      <p:sp>
        <p:nvSpPr>
          <p:cNvPr id="52" name="HNSW search step 2"/>
          <p:cNvSpPr/>
          <p:nvPr/>
        </p:nvSpPr>
        <p:spPr>
          <a:xfrm>
            <a:off x="9098280" y="1965960"/>
            <a:ext cx="914" cy="1508760"/>
          </a:xfrm>
          <a:prstGeom prst="line">
            <a:avLst/>
          </a:prstGeom>
          <a:noFill/>
          <a:ln w="28575">
            <a:solidFill>
              <a:schemeClr val="accent1"/>
            </a:solidFill>
            <a:prstDash val="dash"/>
            <a:tailEnd type="triangle"/>
          </a:ln>
        </p:spPr>
      </p:sp>
      <p:sp>
        <p:nvSpPr>
          <p:cNvPr id="53" name="HNSW search step 3"/>
          <p:cNvSpPr/>
          <p:nvPr/>
        </p:nvSpPr>
        <p:spPr>
          <a:xfrm flipV="1">
            <a:off x="9098280" y="3291840"/>
            <a:ext cx="822960" cy="182880"/>
          </a:xfrm>
          <a:prstGeom prst="line">
            <a:avLst/>
          </a:prstGeom>
          <a:noFill/>
          <a:ln w="28575">
            <a:solidFill>
              <a:schemeClr val="accent1"/>
            </a:solidFill>
            <a:prstDash val="solid"/>
            <a:tailEnd type="triangle"/>
          </a:ln>
        </p:spPr>
      </p:sp>
      <p:sp>
        <p:nvSpPr>
          <p:cNvPr id="54" name="HNSW search step 4"/>
          <p:cNvSpPr/>
          <p:nvPr/>
        </p:nvSpPr>
        <p:spPr>
          <a:xfrm>
            <a:off x="9921240" y="3291840"/>
            <a:ext cx="914" cy="1399032"/>
          </a:xfrm>
          <a:prstGeom prst="line">
            <a:avLst/>
          </a:prstGeom>
          <a:noFill/>
          <a:ln w="28575">
            <a:solidFill>
              <a:schemeClr val="accent1"/>
            </a:solidFill>
            <a:prstDash val="dash"/>
            <a:tailEnd type="triangle"/>
          </a:ln>
        </p:spPr>
      </p:sp>
      <p:sp>
        <p:nvSpPr>
          <p:cNvPr id="55" name="HNSW search step 5"/>
          <p:cNvSpPr/>
          <p:nvPr/>
        </p:nvSpPr>
        <p:spPr>
          <a:xfrm>
            <a:off x="9921240" y="4690872"/>
            <a:ext cx="411480" cy="274320"/>
          </a:xfrm>
          <a:prstGeom prst="line">
            <a:avLst/>
          </a:prstGeom>
          <a:noFill/>
          <a:ln w="28575">
            <a:solidFill>
              <a:schemeClr val="accent1"/>
            </a:solidFill>
            <a:prstDash val="solid"/>
            <a:tailEnd type="triangle"/>
          </a:ln>
        </p:spPr>
      </p:sp>
      <p:sp>
        <p:nvSpPr>
          <p:cNvPr id="56" name="HNSW query"/>
          <p:cNvSpPr/>
          <p:nvPr/>
        </p:nvSpPr>
        <p:spPr>
          <a:xfrm>
            <a:off x="10369296" y="4864608"/>
            <a:ext cx="292608" cy="292608"/>
          </a:xfrm>
          <a:prstGeom prst="star5">
            <a:avLst/>
          </a:prstGeom>
          <a:solidFill>
            <a:schemeClr val="accent4"/>
          </a:solidFill>
          <a:ln w="12700">
            <a:solidFill>
              <a:schemeClr val="accent4"/>
            </a:solidFill>
            <a:prstDash val="solid"/>
          </a:ln>
        </p:spPr>
      </p:sp>
      <p:sp>
        <p:nvSpPr>
          <p:cNvPr id="57" name="HNSW query label"/>
          <p:cNvSpPr txBox="1"/>
          <p:nvPr/>
        </p:nvSpPr>
        <p:spPr>
          <a:xfrm>
            <a:off x="10625328" y="5120640"/>
            <a:ext cx="822960" cy="274320"/>
          </a:xfrm>
          <a:prstGeom prst="rect">
            <a:avLst/>
          </a:prstGeom>
          <a:noFill/>
          <a:ln/>
        </p:spPr>
        <p:txBody>
          <a:bodyPr wrap="square" lIns="0" tIns="0" rIns="0" bIns="0" rtlCol="0" anchor="ctr"/>
          <a:lstStyle/>
          <a:p>
            <a:pPr marL="0" indent="0">
              <a:buNone/>
            </a:pPr>
            <a:r>
              <a:rPr lang="en-US" sz="1100" b="1" dirty="0">
                <a:solidFill>
                  <a:schemeClr val="accent4"/>
                </a:solidFill>
              </a:rPr>
              <a:t>query</a:t>
            </a:r>
            <a:endParaRPr lang="en-US" sz="1100" dirty="0"/>
          </a:p>
        </p:txBody>
      </p:sp>
      <p:sp>
        <p:nvSpPr>
          <p:cNvPr id="58" name="HNSW entry label"/>
          <p:cNvSpPr txBox="1"/>
          <p:nvPr/>
        </p:nvSpPr>
        <p:spPr>
          <a:xfrm>
            <a:off x="7040880" y="1554480"/>
            <a:ext cx="822960" cy="256032"/>
          </a:xfrm>
          <a:prstGeom prst="rect">
            <a:avLst/>
          </a:prstGeom>
          <a:noFill/>
          <a:ln/>
        </p:spPr>
        <p:txBody>
          <a:bodyPr wrap="square" lIns="0" tIns="0" rIns="0" bIns="0" rtlCol="0" anchor="ctr"/>
          <a:lstStyle/>
          <a:p>
            <a:pPr marL="0" indent="0" algn="ctr">
              <a:buNone/>
            </a:pPr>
            <a:r>
              <a:rPr lang="en-US" sz="1100" b="1" dirty="0">
                <a:solidFill>
                  <a:schemeClr val="accent1"/>
                </a:solidFill>
              </a:rPr>
              <a:t>entry</a:t>
            </a:r>
            <a:endParaRPr lang="en-US" sz="1100" dirty="0"/>
          </a:p>
        </p:txBody>
      </p:sp>
      <p:sp>
        <p:nvSpPr>
          <p:cNvPr id="5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One ef for every query does not fit</a:t>
            </a:r>
            <a:endParaRPr lang="en-US" sz="3200" dirty="0"/>
          </a:p>
        </p:txBody>
      </p:sp>
      <p:sp>
        <p:nvSpPr>
          <p:cNvPr id="3" name="Problem intro"/>
          <p:cNvSpPr txBox="1"/>
          <p:nvPr/>
        </p:nvSpPr>
        <p:spPr>
          <a:xfrm>
            <a:off x="548640" y="1234440"/>
            <a:ext cx="11064240" cy="822960"/>
          </a:xfrm>
          <a:prstGeom prst="rect">
            <a:avLst/>
          </a:prstGeom>
          <a:noFill/>
          <a:ln/>
        </p:spPr>
        <p:txBody>
          <a:bodyPr wrap="square" lIns="0" tIns="0" rIns="0" bIns="0" rtlCol="0" anchor="ctr"/>
          <a:lstStyle/>
          <a:p>
            <a:pPr marL="0" indent="0">
              <a:buNone/>
            </a:pPr>
            <a:r>
              <a:rPr lang="en-US" sz="1800" dirty="0">
                <a:solidFill>
                  <a:schemeClr val="tx1"/>
                </a:solidFill>
              </a:rPr>
              <a:t>Vector databases answer a query with an HNSW graph search. One setting, ef, decides how much of the graph each search explores; most systems use the same ef for every query.</a:t>
            </a:r>
            <a:endParaRPr lang="en-US" sz="1800" dirty="0"/>
          </a:p>
        </p:txBody>
      </p:sp>
      <p:sp>
        <p:nvSpPr>
          <p:cNvPr id="4" name="Card: Easy query"/>
          <p:cNvSpPr/>
          <p:nvPr/>
        </p:nvSpPr>
        <p:spPr>
          <a:xfrm>
            <a:off x="548640" y="2240280"/>
            <a:ext cx="3520440" cy="2011680"/>
          </a:xfrm>
          <a:prstGeom prst="roundRect">
            <a:avLst>
              <a:gd name="adj" fmla="val 3636"/>
            </a:avLst>
          </a:prstGeom>
          <a:solidFill>
            <a:schemeClr val="bg2"/>
          </a:solidFill>
          <a:ln w="12700">
            <a:solidFill>
              <a:schemeClr val="bg2"/>
            </a:solidFill>
            <a:prstDash val="solid"/>
          </a:ln>
        </p:spPr>
      </p:sp>
      <p:sp>
        <p:nvSpPr>
          <p:cNvPr id="5" name="Card head: Easy query"/>
          <p:cNvSpPr txBox="1"/>
          <p:nvPr/>
        </p:nvSpPr>
        <p:spPr>
          <a:xfrm>
            <a:off x="777240" y="2423160"/>
            <a:ext cx="3063240" cy="457200"/>
          </a:xfrm>
          <a:prstGeom prst="rect">
            <a:avLst/>
          </a:prstGeom>
          <a:noFill/>
          <a:ln/>
        </p:spPr>
        <p:txBody>
          <a:bodyPr wrap="square" lIns="0" tIns="0" rIns="0" bIns="0" rtlCol="0" anchor="t"/>
          <a:lstStyle/>
          <a:p>
            <a:pPr marL="0" indent="0">
              <a:buNone/>
            </a:pPr>
            <a:r>
              <a:rPr lang="en-US" sz="1800" b="1" dirty="0">
                <a:solidFill>
                  <a:schemeClr val="tx2"/>
                </a:solidFill>
              </a:rPr>
              <a:t>Easy query</a:t>
            </a:r>
            <a:endParaRPr lang="en-US" sz="1800" dirty="0"/>
          </a:p>
        </p:txBody>
      </p:sp>
      <p:sp>
        <p:nvSpPr>
          <p:cNvPr id="6" name="Card body: Easy query"/>
          <p:cNvSpPr txBox="1"/>
          <p:nvPr/>
        </p:nvSpPr>
        <p:spPr>
          <a:xfrm>
            <a:off x="777240" y="2926080"/>
            <a:ext cx="3063240" cy="1143000"/>
          </a:xfrm>
          <a:prstGeom prst="rect">
            <a:avLst/>
          </a:prstGeom>
          <a:noFill/>
          <a:ln/>
        </p:spPr>
        <p:txBody>
          <a:bodyPr wrap="square" lIns="0" tIns="0" rIns="0" bIns="0" rtlCol="0" anchor="t"/>
          <a:lstStyle/>
          <a:p>
            <a:pPr marL="0" indent="0">
              <a:buNone/>
            </a:pPr>
            <a:r>
              <a:rPr lang="en-US" sz="1500" dirty="0">
                <a:solidFill>
                  <a:schemeClr val="tx1"/>
                </a:solidFill>
              </a:rPr>
              <a:t>Finds its neighbours with a small ef.</a:t>
            </a:r>
            <a:endParaRPr lang="en-US" sz="1500" dirty="0"/>
          </a:p>
          <a:p>
            <a:pPr marL="0" indent="0">
              <a:buNone/>
            </a:pPr>
            <a:r>
              <a:rPr lang="en-US" sz="1500" dirty="0">
                <a:solidFill>
                  <a:schemeClr val="tx1"/>
                </a:solidFill>
              </a:rPr>
              <a:t>A large shared ef wastes work on it.</a:t>
            </a:r>
            <a:endParaRPr lang="en-US" sz="1500" dirty="0"/>
          </a:p>
          <a:p>
            <a:pPr marL="0" indent="0">
              <a:buNone/>
            </a:pPr>
            <a:r>
              <a:rPr lang="en-US" sz="1500" dirty="0">
                <a:solidFill>
                  <a:schemeClr val="tx1"/>
                </a:solidFill>
              </a:rPr>
              <a:t>→ over-searching</a:t>
            </a:r>
            <a:endParaRPr lang="en-US" sz="1500" dirty="0"/>
          </a:p>
        </p:txBody>
      </p:sp>
      <p:sp>
        <p:nvSpPr>
          <p:cNvPr id="7" name="Card: Hard query"/>
          <p:cNvSpPr/>
          <p:nvPr/>
        </p:nvSpPr>
        <p:spPr>
          <a:xfrm>
            <a:off x="4343400" y="2240280"/>
            <a:ext cx="3520440" cy="2011680"/>
          </a:xfrm>
          <a:prstGeom prst="roundRect">
            <a:avLst>
              <a:gd name="adj" fmla="val 3636"/>
            </a:avLst>
          </a:prstGeom>
          <a:solidFill>
            <a:schemeClr val="bg2"/>
          </a:solidFill>
          <a:ln w="12700">
            <a:solidFill>
              <a:schemeClr val="bg2"/>
            </a:solidFill>
            <a:prstDash val="solid"/>
          </a:ln>
        </p:spPr>
      </p:sp>
      <p:sp>
        <p:nvSpPr>
          <p:cNvPr id="8" name="Card head: Hard query"/>
          <p:cNvSpPr txBox="1"/>
          <p:nvPr/>
        </p:nvSpPr>
        <p:spPr>
          <a:xfrm>
            <a:off x="4572000" y="2423160"/>
            <a:ext cx="3063240" cy="457200"/>
          </a:xfrm>
          <a:prstGeom prst="rect">
            <a:avLst/>
          </a:prstGeom>
          <a:noFill/>
          <a:ln/>
        </p:spPr>
        <p:txBody>
          <a:bodyPr wrap="square" lIns="0" tIns="0" rIns="0" bIns="0" rtlCol="0" anchor="t"/>
          <a:lstStyle/>
          <a:p>
            <a:pPr marL="0" indent="0">
              <a:buNone/>
            </a:pPr>
            <a:r>
              <a:rPr lang="en-US" sz="1800" b="1" dirty="0">
                <a:solidFill>
                  <a:schemeClr val="accent4"/>
                </a:solidFill>
              </a:rPr>
              <a:t>Hard query</a:t>
            </a:r>
            <a:endParaRPr lang="en-US" sz="1800" dirty="0"/>
          </a:p>
        </p:txBody>
      </p:sp>
      <p:sp>
        <p:nvSpPr>
          <p:cNvPr id="9" name="Card body: Hard query"/>
          <p:cNvSpPr txBox="1"/>
          <p:nvPr/>
        </p:nvSpPr>
        <p:spPr>
          <a:xfrm>
            <a:off x="4572000" y="2926080"/>
            <a:ext cx="3063240" cy="1143000"/>
          </a:xfrm>
          <a:prstGeom prst="rect">
            <a:avLst/>
          </a:prstGeom>
          <a:noFill/>
          <a:ln/>
        </p:spPr>
        <p:txBody>
          <a:bodyPr wrap="square" lIns="0" tIns="0" rIns="0" bIns="0" rtlCol="0" anchor="t"/>
          <a:lstStyle/>
          <a:p>
            <a:pPr marL="0" indent="0">
              <a:buNone/>
            </a:pPr>
            <a:r>
              <a:rPr lang="en-US" sz="1500" dirty="0">
                <a:solidFill>
                  <a:schemeClr val="tx1"/>
                </a:solidFill>
              </a:rPr>
              <a:t>Needs a large ef.</a:t>
            </a:r>
            <a:endParaRPr lang="en-US" sz="1500" dirty="0"/>
          </a:p>
          <a:p>
            <a:pPr marL="0" indent="0">
              <a:buNone/>
            </a:pPr>
            <a:r>
              <a:rPr lang="en-US" sz="1500" dirty="0">
                <a:solidFill>
                  <a:schemeClr val="tx1"/>
                </a:solidFill>
              </a:rPr>
              <a:t>A small shared ef leaves it short of its neighbours.</a:t>
            </a:r>
            <a:endParaRPr lang="en-US" sz="1500" dirty="0"/>
          </a:p>
          <a:p>
            <a:pPr marL="0" indent="0">
              <a:buNone/>
            </a:pPr>
            <a:r>
              <a:rPr lang="en-US" sz="1500" dirty="0">
                <a:solidFill>
                  <a:schemeClr val="tx1"/>
                </a:solidFill>
              </a:rPr>
              <a:t>→ under-searching</a:t>
            </a:r>
            <a:endParaRPr lang="en-US" sz="1500" dirty="0"/>
          </a:p>
        </p:txBody>
      </p:sp>
      <p:sp>
        <p:nvSpPr>
          <p:cNvPr id="10" name="Card: Goal"/>
          <p:cNvSpPr/>
          <p:nvPr/>
        </p:nvSpPr>
        <p:spPr>
          <a:xfrm>
            <a:off x="8138160" y="2240280"/>
            <a:ext cx="3520440" cy="2011680"/>
          </a:xfrm>
          <a:prstGeom prst="roundRect">
            <a:avLst>
              <a:gd name="adj" fmla="val 3636"/>
            </a:avLst>
          </a:prstGeom>
          <a:solidFill>
            <a:schemeClr val="accent1"/>
          </a:solidFill>
          <a:ln w="12700">
            <a:solidFill>
              <a:schemeClr val="accent1"/>
            </a:solidFill>
            <a:prstDash val="solid"/>
          </a:ln>
        </p:spPr>
      </p:sp>
      <p:sp>
        <p:nvSpPr>
          <p:cNvPr id="11" name="Card head: Goal"/>
          <p:cNvSpPr txBox="1"/>
          <p:nvPr/>
        </p:nvSpPr>
        <p:spPr>
          <a:xfrm>
            <a:off x="8366760" y="2423160"/>
            <a:ext cx="3063240" cy="457200"/>
          </a:xfrm>
          <a:prstGeom prst="rect">
            <a:avLst/>
          </a:prstGeom>
          <a:noFill/>
          <a:ln/>
        </p:spPr>
        <p:txBody>
          <a:bodyPr wrap="square" lIns="0" tIns="0" rIns="0" bIns="0" rtlCol="0" anchor="t"/>
          <a:lstStyle/>
          <a:p>
            <a:pPr marL="0" indent="0">
              <a:buNone/>
            </a:pPr>
            <a:r>
              <a:rPr lang="en-US" sz="1800" b="1" dirty="0">
                <a:solidFill>
                  <a:schemeClr val="bg1"/>
                </a:solidFill>
              </a:rPr>
              <a:t>Goal</a:t>
            </a:r>
            <a:endParaRPr lang="en-US" sz="1800" dirty="0"/>
          </a:p>
        </p:txBody>
      </p:sp>
      <p:sp>
        <p:nvSpPr>
          <p:cNvPr id="12" name="Card body: Goal"/>
          <p:cNvSpPr txBox="1"/>
          <p:nvPr/>
        </p:nvSpPr>
        <p:spPr>
          <a:xfrm>
            <a:off x="8366760" y="2926080"/>
            <a:ext cx="3063240" cy="1143000"/>
          </a:xfrm>
          <a:prstGeom prst="rect">
            <a:avLst/>
          </a:prstGeom>
          <a:noFill/>
          <a:ln/>
        </p:spPr>
        <p:txBody>
          <a:bodyPr wrap="square" lIns="0" tIns="0" rIns="0" bIns="0" rtlCol="0" anchor="t"/>
          <a:lstStyle/>
          <a:p>
            <a:pPr marL="0" indent="0">
              <a:buNone/>
            </a:pPr>
            <a:r>
              <a:rPr lang="en-US" sz="1500" dirty="0">
                <a:solidFill>
                  <a:schemeClr val="tx1"/>
                </a:solidFill>
              </a:rPr>
              <a:t>Choose ef per query: meet the target recall (95%), help the worst queries, and cost no more than one well-tuned ef.</a:t>
            </a:r>
            <a:endParaRPr lang="en-US" sz="1500" dirty="0"/>
          </a:p>
        </p:txBody>
      </p:sp>
      <p:sp>
        <p:nvSpPr>
          <p:cNvPr id="13" name="Recall definition"/>
          <p:cNvSpPr txBox="1"/>
          <p:nvPr/>
        </p:nvSpPr>
        <p:spPr>
          <a:xfrm>
            <a:off x="548640" y="4526280"/>
            <a:ext cx="11064240" cy="457200"/>
          </a:xfrm>
          <a:prstGeom prst="rect">
            <a:avLst/>
          </a:prstGeom>
          <a:noFill/>
          <a:ln/>
        </p:spPr>
        <p:txBody>
          <a:bodyPr wrap="square" lIns="0" tIns="0" rIns="0" bIns="0" rtlCol="0" anchor="ctr"/>
          <a:lstStyle/>
          <a:p>
            <a:pPr marL="0" indent="0">
              <a:buNone/>
            </a:pPr>
            <a:r>
              <a:rPr lang="en-US" sz="1500" i="1" dirty="0">
                <a:solidFill>
                  <a:schemeClr val="accent2"/>
                </a:solidFill>
              </a:rPr>
              <a:t>Recall = share of a query's 100 true nearest neighbours that the search finds.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Existing work: two ways to adapt ef</a:t>
            </a:r>
            <a:endParaRPr lang="en-US" sz="3200" dirty="0"/>
          </a:p>
        </p:txBody>
      </p:sp>
      <p:sp>
        <p:nvSpPr>
          <p:cNvPr id="3" name="Card: Learned early termination"/>
          <p:cNvSpPr/>
          <p:nvPr/>
        </p:nvSpPr>
        <p:spPr>
          <a:xfrm>
            <a:off x="548640" y="1325880"/>
            <a:ext cx="5440680" cy="3383280"/>
          </a:xfrm>
          <a:prstGeom prst="roundRect">
            <a:avLst>
              <a:gd name="adj" fmla="val 2162"/>
            </a:avLst>
          </a:prstGeom>
          <a:solidFill>
            <a:schemeClr val="bg2"/>
          </a:solidFill>
          <a:ln w="12700">
            <a:solidFill>
              <a:schemeClr val="bg2"/>
            </a:solidFill>
            <a:prstDash val="solid"/>
          </a:ln>
        </p:spPr>
      </p:sp>
      <p:sp>
        <p:nvSpPr>
          <p:cNvPr id="4" name="Card head: Learned early termination"/>
          <p:cNvSpPr txBox="1"/>
          <p:nvPr/>
        </p:nvSpPr>
        <p:spPr>
          <a:xfrm>
            <a:off x="777240" y="1508760"/>
            <a:ext cx="4983480" cy="457200"/>
          </a:xfrm>
          <a:prstGeom prst="rect">
            <a:avLst/>
          </a:prstGeom>
          <a:noFill/>
          <a:ln/>
        </p:spPr>
        <p:txBody>
          <a:bodyPr wrap="square" lIns="0" tIns="0" rIns="0" bIns="0" rtlCol="0" anchor="t"/>
          <a:lstStyle/>
          <a:p>
            <a:pPr marL="0" indent="0">
              <a:buNone/>
            </a:pPr>
            <a:r>
              <a:rPr lang="en-US" sz="1800" b="1" dirty="0">
                <a:solidFill>
                  <a:schemeClr val="tx2"/>
                </a:solidFill>
              </a:rPr>
              <a:t>Learned early termination</a:t>
            </a:r>
            <a:endParaRPr lang="en-US" sz="1800" dirty="0"/>
          </a:p>
        </p:txBody>
      </p:sp>
      <p:sp>
        <p:nvSpPr>
          <p:cNvPr id="5" name="Card body: Learned early termination"/>
          <p:cNvSpPr txBox="1"/>
          <p:nvPr/>
        </p:nvSpPr>
        <p:spPr>
          <a:xfrm>
            <a:off x="777240" y="2011680"/>
            <a:ext cx="4983480" cy="2514600"/>
          </a:xfrm>
          <a:prstGeom prst="rect">
            <a:avLst/>
          </a:prstGeom>
          <a:noFill/>
          <a:ln/>
        </p:spPr>
        <p:txBody>
          <a:bodyPr wrap="square" lIns="0" tIns="0" rIns="0" bIns="0" rtlCol="0" anchor="t"/>
          <a:lstStyle/>
          <a:p>
            <a:pPr marL="0" indent="0">
              <a:buNone/>
            </a:pPr>
            <a:r>
              <a:rPr lang="en-US" sz="1600" dirty="0">
                <a:solidFill>
                  <a:schemeClr val="tx1"/>
                </a:solidFill>
              </a:rPr>
              <a:t>LAET (SIGMOD 2020), DARTH (SIGMOD 2026)</a:t>
            </a:r>
            <a:endParaRPr lang="en-US" sz="1600" dirty="0"/>
          </a:p>
          <a:p>
            <a:pPr marL="0" indent="0">
              <a:buNone/>
            </a:pPr>
            <a:endParaRPr lang="en-US" sz="1600" dirty="0"/>
          </a:p>
          <a:p>
            <a:pPr marL="0" indent="0">
              <a:buNone/>
            </a:pPr>
            <a:r>
              <a:rPr lang="en-US" sz="1600" dirty="0">
                <a:solidFill>
                  <a:schemeClr val="tx1"/>
                </a:solidFill>
              </a:rPr>
              <a:t>• A trained model watches each search and predicts when the target recall is reached</a:t>
            </a:r>
            <a:endParaRPr lang="en-US" sz="1600" dirty="0"/>
          </a:p>
          <a:p>
            <a:pPr marL="0" indent="0">
              <a:buNone/>
            </a:pPr>
            <a:r>
              <a:rPr lang="en-US" sz="1600" dirty="0">
                <a:solidFill>
                  <a:schemeClr val="tx1"/>
                </a:solidFill>
              </a:rPr>
              <a:t>• Needs training data and a model per dataset</a:t>
            </a:r>
            <a:endParaRPr lang="en-US" sz="1600" dirty="0"/>
          </a:p>
          <a:p>
            <a:pPr marL="0" indent="0">
              <a:buNone/>
            </a:pPr>
            <a:r>
              <a:rPr lang="en-US" sz="1600" dirty="0">
                <a:solidFill>
                  <a:schemeClr val="tx1"/>
                </a:solidFill>
              </a:rPr>
              <a:t>• Model calls run inside every search</a:t>
            </a:r>
            <a:endParaRPr lang="en-US" sz="1600" dirty="0"/>
          </a:p>
        </p:txBody>
      </p:sp>
      <p:sp>
        <p:nvSpPr>
          <p:cNvPr id="6" name="Card: Distribution-aware: Ada-ef"/>
          <p:cNvSpPr/>
          <p:nvPr/>
        </p:nvSpPr>
        <p:spPr>
          <a:xfrm>
            <a:off x="6263640" y="1325880"/>
            <a:ext cx="5394960" cy="3383280"/>
          </a:xfrm>
          <a:prstGeom prst="roundRect">
            <a:avLst>
              <a:gd name="adj" fmla="val 2162"/>
            </a:avLst>
          </a:prstGeom>
          <a:solidFill>
            <a:srgbClr val="DCEFF3"/>
          </a:solidFill>
          <a:ln w="12700">
            <a:solidFill>
              <a:srgbClr val="DCEFF3"/>
            </a:solidFill>
            <a:prstDash val="solid"/>
          </a:ln>
        </p:spPr>
      </p:sp>
      <p:sp>
        <p:nvSpPr>
          <p:cNvPr id="7" name="Card head: Distribution-aware: Ada-ef"/>
          <p:cNvSpPr txBox="1"/>
          <p:nvPr/>
        </p:nvSpPr>
        <p:spPr>
          <a:xfrm>
            <a:off x="6492240" y="1508760"/>
            <a:ext cx="4937760" cy="457200"/>
          </a:xfrm>
          <a:prstGeom prst="rect">
            <a:avLst/>
          </a:prstGeom>
          <a:noFill/>
          <a:ln/>
        </p:spPr>
        <p:txBody>
          <a:bodyPr wrap="square" lIns="0" tIns="0" rIns="0" bIns="0" rtlCol="0" anchor="t"/>
          <a:lstStyle/>
          <a:p>
            <a:pPr marL="0" indent="0">
              <a:buNone/>
            </a:pPr>
            <a:r>
              <a:rPr lang="en-US" sz="1800" b="1" dirty="0">
                <a:solidFill>
                  <a:schemeClr val="tx2"/>
                </a:solidFill>
              </a:rPr>
              <a:t>Distribution-aware: Ada-ef</a:t>
            </a:r>
            <a:endParaRPr lang="en-US" sz="1800" dirty="0"/>
          </a:p>
        </p:txBody>
      </p:sp>
      <p:sp>
        <p:nvSpPr>
          <p:cNvPr id="8" name="Card body: Distribution-aware: Ada-ef"/>
          <p:cNvSpPr txBox="1"/>
          <p:nvPr/>
        </p:nvSpPr>
        <p:spPr>
          <a:xfrm>
            <a:off x="6492240" y="2011680"/>
            <a:ext cx="4937760" cy="2514600"/>
          </a:xfrm>
          <a:prstGeom prst="rect">
            <a:avLst/>
          </a:prstGeom>
          <a:noFill/>
          <a:ln/>
        </p:spPr>
        <p:txBody>
          <a:bodyPr wrap="square" lIns="0" tIns="0" rIns="0" bIns="0" rtlCol="0" anchor="t"/>
          <a:lstStyle/>
          <a:p>
            <a:pPr marL="0" indent="0">
              <a:buNone/>
            </a:pPr>
            <a:r>
              <a:rPr lang="en-US" sz="1600" dirty="0">
                <a:solidFill>
                  <a:schemeClr val="tx1"/>
                </a:solidFill>
              </a:rPr>
              <a:t>Zhang &amp; Miller, SIGMOD 2026</a:t>
            </a:r>
            <a:endParaRPr lang="en-US" sz="1600" dirty="0"/>
          </a:p>
          <a:p>
            <a:pPr marL="0" indent="0">
              <a:buNone/>
            </a:pPr>
            <a:endParaRPr lang="en-US" sz="1600" dirty="0"/>
          </a:p>
          <a:p>
            <a:pPr marL="0" indent="0">
              <a:buNone/>
            </a:pPr>
            <a:r>
              <a:rPr lang="en-US" sz="1600" dirty="0">
                <a:solidFill>
                  <a:schemeClr val="tx1"/>
                </a:solidFill>
              </a:rPr>
              <a:t>• Models a query's similarities to the data as a bell curve (central limit theorem)</a:t>
            </a:r>
            <a:endParaRPr lang="en-US" sz="1600" dirty="0"/>
          </a:p>
          <a:p>
            <a:pPr marL="0" indent="0">
              <a:buNone/>
            </a:pPr>
            <a:r>
              <a:rPr lang="en-US" sz="1600" dirty="0">
                <a:solidFill>
                  <a:schemeClr val="tx1"/>
                </a:solidFill>
              </a:rPr>
              <a:t>• A short probe scores how hard the query is; a table maps score to ef</a:t>
            </a:r>
            <a:endParaRPr lang="en-US" sz="1600" dirty="0"/>
          </a:p>
          <a:p>
            <a:pPr marL="0" indent="0">
              <a:buNone/>
            </a:pPr>
            <a:r>
              <a:rPr lang="en-US" sz="1600" dirty="0">
                <a:solidFill>
                  <a:schemeClr val="tx1"/>
                </a:solidFill>
              </a:rPr>
              <a:t>• No training; claims to meet a target recall while avoiding under- and over-searching, and up to 4x lower latency than learned methods</a:t>
            </a:r>
            <a:endParaRPr lang="en-US" sz="1600" dirty="0"/>
          </a:p>
        </p:txBody>
      </p:sp>
      <p:sp>
        <p:nvSpPr>
          <p:cNvPr id="9" name="Bridge question"/>
          <p:cNvSpPr txBox="1"/>
          <p:nvPr/>
        </p:nvSpPr>
        <p:spPr>
          <a:xfrm>
            <a:off x="548640" y="5029200"/>
            <a:ext cx="11064240" cy="548640"/>
          </a:xfrm>
          <a:prstGeom prst="rect">
            <a:avLst/>
          </a:prstGeom>
          <a:noFill/>
          <a:ln/>
        </p:spPr>
        <p:txBody>
          <a:bodyPr wrap="square" lIns="0" tIns="0" rIns="0" bIns="0" rtlCol="0" anchor="ctr"/>
          <a:lstStyle/>
          <a:p>
            <a:pPr marL="0" indent="0">
              <a:buNone/>
            </a:pPr>
            <a:r>
              <a:rPr lang="en-US" sz="2000" b="1" dirty="0">
                <a:solidFill>
                  <a:schemeClr val="accent1"/>
                </a:solidFill>
              </a:rPr>
              <a:t>Our question: does Ada-ef's bell-curve assumption hold on real data?</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Ada-ef assumes a bell curve</a:t>
            </a:r>
            <a:endParaRPr lang="en-US" sz="3200" dirty="0"/>
          </a:p>
        </p:txBody>
      </p:sp>
      <p:sp>
        <p:nvSpPr>
          <p:cNvPr id="3" name="Node: stats"/>
          <p:cNvSpPr/>
          <p:nvPr/>
        </p:nvSpPr>
        <p:spPr>
          <a:xfrm>
            <a:off x="548640" y="1600200"/>
            <a:ext cx="2057400" cy="1097280"/>
          </a:xfrm>
          <a:prstGeom prst="roundRect">
            <a:avLst>
              <a:gd name="adj" fmla="val 6667"/>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Database mean and covariance</a:t>
            </a:r>
            <a:endParaRPr lang="en-US" sz="1400" dirty="0"/>
          </a:p>
        </p:txBody>
      </p:sp>
      <p:sp>
        <p:nvSpPr>
          <p:cNvPr id="4" name="Node: normal"/>
          <p:cNvSpPr/>
          <p:nvPr/>
        </p:nvSpPr>
        <p:spPr>
          <a:xfrm>
            <a:off x="2788920" y="1600200"/>
            <a:ext cx="2057400" cy="1097280"/>
          </a:xfrm>
          <a:prstGeom prst="roundRect">
            <a:avLst>
              <a:gd name="adj" fmla="val 6667"/>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Predicted bell curve of similarities, per query</a:t>
            </a:r>
            <a:endParaRPr lang="en-US" sz="1400" dirty="0"/>
          </a:p>
        </p:txBody>
      </p:sp>
      <p:sp>
        <p:nvSpPr>
          <p:cNvPr id="5" name="Node: thresholds"/>
          <p:cNvSpPr/>
          <p:nvPr/>
        </p:nvSpPr>
        <p:spPr>
          <a:xfrm>
            <a:off x="5029200" y="1600200"/>
            <a:ext cx="2057400" cy="1097280"/>
          </a:xfrm>
          <a:prstGeom prst="roundRect">
            <a:avLst>
              <a:gd name="adj" fmla="val 6667"/>
            </a:avLst>
          </a:prstGeom>
          <a:solidFill>
            <a:schemeClr val="accent4"/>
          </a:solidFill>
          <a:ln w="12700">
            <a:solidFill>
              <a:schemeClr val="accent4"/>
            </a:solidFill>
          </a:ln>
        </p:spPr>
        <p:txBody>
          <a:bodyPr wrap="square" lIns="50800" tIns="50800" rIns="50800" bIns="50800" rtlCol="0" anchor="ctr"/>
          <a:lstStyle/>
          <a:p>
            <a:pPr marL="0" indent="0" algn="ctr">
              <a:buNone/>
            </a:pPr>
            <a:r>
              <a:rPr lang="en-US" sz="1400" b="1" dirty="0">
                <a:solidFill>
                  <a:schemeClr val="bg1"/>
                </a:solidFill>
              </a:rPr>
              <a:t>5 thresholds at the 0.1–0.5% closest</a:t>
            </a:r>
            <a:endParaRPr lang="en-US" sz="1400" dirty="0"/>
          </a:p>
        </p:txBody>
      </p:sp>
      <p:sp>
        <p:nvSpPr>
          <p:cNvPr id="6" name="Node: probe"/>
          <p:cNvSpPr/>
          <p:nvPr/>
        </p:nvSpPr>
        <p:spPr>
          <a:xfrm>
            <a:off x="7269480" y="1600200"/>
            <a:ext cx="2057400" cy="1097280"/>
          </a:xfrm>
          <a:prstGeom prst="roundRect">
            <a:avLst>
              <a:gd name="adj" fmla="val 6667"/>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Probe 1,025 distances; count those under each threshold</a:t>
            </a:r>
            <a:endParaRPr lang="en-US" sz="1400" dirty="0"/>
          </a:p>
        </p:txBody>
      </p:sp>
      <p:sp>
        <p:nvSpPr>
          <p:cNvPr id="7" name="Node: table"/>
          <p:cNvSpPr/>
          <p:nvPr/>
        </p:nvSpPr>
        <p:spPr>
          <a:xfrm>
            <a:off x="9509760" y="1600200"/>
            <a:ext cx="2057400" cy="1097280"/>
          </a:xfrm>
          <a:prstGeom prst="roundRect">
            <a:avLst>
              <a:gd name="adj" fmla="val 6667"/>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Score → ef from a calibrated table</a:t>
            </a:r>
            <a:endParaRPr lang="en-US" sz="1400" dirty="0"/>
          </a:p>
        </p:txBody>
      </p:sp>
      <p:sp>
        <p:nvSpPr>
          <p:cNvPr id="8" name="Arrow: ada 0"/>
          <p:cNvSpPr/>
          <p:nvPr/>
        </p:nvSpPr>
        <p:spPr>
          <a:xfrm>
            <a:off x="2606040" y="2148840"/>
            <a:ext cx="182880" cy="0"/>
          </a:xfrm>
          <a:prstGeom prst="line">
            <a:avLst/>
          </a:prstGeom>
          <a:noFill/>
          <a:ln w="22225">
            <a:solidFill>
              <a:srgbClr val="5B6670"/>
            </a:solidFill>
            <a:prstDash val="solid"/>
            <a:tailEnd type="triangle"/>
          </a:ln>
        </p:spPr>
      </p:sp>
      <p:sp>
        <p:nvSpPr>
          <p:cNvPr id="9" name="Arrow: ada 1"/>
          <p:cNvSpPr/>
          <p:nvPr/>
        </p:nvSpPr>
        <p:spPr>
          <a:xfrm>
            <a:off x="4846320" y="2148840"/>
            <a:ext cx="182880" cy="0"/>
          </a:xfrm>
          <a:prstGeom prst="line">
            <a:avLst/>
          </a:prstGeom>
          <a:noFill/>
          <a:ln w="22225">
            <a:solidFill>
              <a:srgbClr val="5B6670"/>
            </a:solidFill>
            <a:prstDash val="solid"/>
            <a:tailEnd type="triangle"/>
          </a:ln>
        </p:spPr>
      </p:sp>
      <p:sp>
        <p:nvSpPr>
          <p:cNvPr id="10" name="Arrow: ada 2"/>
          <p:cNvSpPr/>
          <p:nvPr/>
        </p:nvSpPr>
        <p:spPr>
          <a:xfrm>
            <a:off x="7086600" y="2148840"/>
            <a:ext cx="182880" cy="0"/>
          </a:xfrm>
          <a:prstGeom prst="line">
            <a:avLst/>
          </a:prstGeom>
          <a:noFill/>
          <a:ln w="22225">
            <a:solidFill>
              <a:srgbClr val="5B6670"/>
            </a:solidFill>
            <a:prstDash val="solid"/>
            <a:tailEnd type="triangle"/>
          </a:ln>
        </p:spPr>
      </p:sp>
      <p:sp>
        <p:nvSpPr>
          <p:cNvPr id="11" name="Arrow: ada 3"/>
          <p:cNvSpPr/>
          <p:nvPr/>
        </p:nvSpPr>
        <p:spPr>
          <a:xfrm>
            <a:off x="9326880" y="2148840"/>
            <a:ext cx="182880" cy="0"/>
          </a:xfrm>
          <a:prstGeom prst="line">
            <a:avLst/>
          </a:prstGeom>
          <a:noFill/>
          <a:ln w="22225">
            <a:solidFill>
              <a:srgbClr val="5B6670"/>
            </a:solidFill>
            <a:prstDash val="solid"/>
            <a:tailEnd type="triangle"/>
          </a:ln>
        </p:spPr>
      </p:sp>
      <p:sp>
        <p:nvSpPr>
          <p:cNvPr id="12" name="Ada-ef weakness"/>
          <p:cNvSpPr txBox="1"/>
          <p:nvPr/>
        </p:nvSpPr>
        <p:spPr>
          <a:xfrm>
            <a:off x="548640" y="3154680"/>
            <a:ext cx="11064240" cy="822960"/>
          </a:xfrm>
          <a:prstGeom prst="rect">
            <a:avLst/>
          </a:prstGeom>
          <a:noFill/>
          <a:ln/>
        </p:spPr>
        <p:txBody>
          <a:bodyPr wrap="square" lIns="0" tIns="0" rIns="0" bIns="0" rtlCol="0" anchor="ctr"/>
          <a:lstStyle/>
          <a:p>
            <a:pPr marL="0" indent="0">
              <a:buNone/>
            </a:pPr>
            <a:r>
              <a:rPr lang="en-US" sz="1800" dirty="0">
                <a:solidFill>
                  <a:schemeClr val="tx1"/>
                </a:solidFill>
              </a:rPr>
              <a:t>The thresholds come from the bell curve. If the real similarities are not bell-shaped, they sit in the wrong place, and the score can no longer tell easy queries from hard ones.</a:t>
            </a:r>
            <a:endParaRPr lang="en-US" sz="1800" dirty="0"/>
          </a:p>
        </p:txBody>
      </p:sp>
      <p:sp>
        <p:nvSpPr>
          <p:cNvPr id="13" name="Card: The gap"/>
          <p:cNvSpPr/>
          <p:nvPr/>
        </p:nvSpPr>
        <p:spPr>
          <a:xfrm>
            <a:off x="548640" y="4160520"/>
            <a:ext cx="11109960" cy="1554480"/>
          </a:xfrm>
          <a:prstGeom prst="roundRect">
            <a:avLst>
              <a:gd name="adj" fmla="val 4706"/>
            </a:avLst>
          </a:prstGeom>
          <a:solidFill>
            <a:srgbClr val="FCE9DF"/>
          </a:solidFill>
          <a:ln w="12700">
            <a:solidFill>
              <a:srgbClr val="FCE9DF"/>
            </a:solidFill>
            <a:prstDash val="solid"/>
          </a:ln>
        </p:spPr>
      </p:sp>
      <p:sp>
        <p:nvSpPr>
          <p:cNvPr id="14" name="Card head: The gap"/>
          <p:cNvSpPr txBox="1"/>
          <p:nvPr/>
        </p:nvSpPr>
        <p:spPr>
          <a:xfrm>
            <a:off x="777240" y="4343400"/>
            <a:ext cx="10652760" cy="457200"/>
          </a:xfrm>
          <a:prstGeom prst="rect">
            <a:avLst/>
          </a:prstGeom>
          <a:noFill/>
          <a:ln/>
        </p:spPr>
        <p:txBody>
          <a:bodyPr wrap="square" lIns="0" tIns="0" rIns="0" bIns="0" rtlCol="0" anchor="t"/>
          <a:lstStyle/>
          <a:p>
            <a:pPr marL="0" indent="0">
              <a:buNone/>
            </a:pPr>
            <a:r>
              <a:rPr lang="en-US" sz="1800" b="1" dirty="0">
                <a:solidFill>
                  <a:schemeClr val="accent4"/>
                </a:solidFill>
              </a:rPr>
              <a:t>The gap</a:t>
            </a:r>
            <a:endParaRPr lang="en-US" sz="1800" dirty="0"/>
          </a:p>
        </p:txBody>
      </p:sp>
      <p:sp>
        <p:nvSpPr>
          <p:cNvPr id="15" name="Card body: The gap"/>
          <p:cNvSpPr txBox="1"/>
          <p:nvPr/>
        </p:nvSpPr>
        <p:spPr>
          <a:xfrm>
            <a:off x="777240" y="4846320"/>
            <a:ext cx="10652760" cy="685800"/>
          </a:xfrm>
          <a:prstGeom prst="rect">
            <a:avLst/>
          </a:prstGeom>
          <a:noFill/>
          <a:ln/>
        </p:spPr>
        <p:txBody>
          <a:bodyPr wrap="square" lIns="0" tIns="0" rIns="0" bIns="0" rtlCol="0" anchor="t"/>
          <a:lstStyle/>
          <a:p>
            <a:pPr marL="0" indent="0">
              <a:buNone/>
            </a:pPr>
            <a:r>
              <a:rPr lang="en-US" sz="1600" dirty="0">
                <a:solidFill>
                  <a:schemeClr val="tx1"/>
                </a:solidFill>
              </a:rPr>
              <a:t>Ada-ef's paper states this assumption but never measures it on data. Neither does any other ANN paper we found.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The assumption fails on 9 of 41 datasets</a:t>
            </a:r>
            <a:endParaRPr lang="en-US" sz="3200" dirty="0"/>
          </a:p>
        </p:txBody>
      </p:sp>
      <p:pic>
        <p:nvPicPr>
          <p:cNvPr id="3" name="KS survey figure" descr="E:\shenvipranav\projects\hybridAdaEf\server_results\paper_out_20261007_112616\fig1_ks_survey.png"/>
          <p:cNvPicPr>
            <a:picLocks noChangeAspect="1"/>
          </p:cNvPicPr>
          <p:nvPr/>
        </p:nvPicPr>
        <p:blipFill>
          <a:blip r:embed="rId3"/>
          <a:stretch>
            <a:fillRect/>
          </a:stretch>
        </p:blipFill>
        <p:spPr>
          <a:xfrm>
            <a:off x="548640" y="1188720"/>
            <a:ext cx="4715583" cy="4937760"/>
          </a:xfrm>
          <a:prstGeom prst="rect">
            <a:avLst/>
          </a:prstGeom>
        </p:spPr>
      </p:pic>
      <p:sp>
        <p:nvSpPr>
          <p:cNvPr id="4" name="Diagnosis bullets"/>
          <p:cNvSpPr txBox="1"/>
          <p:nvPr/>
        </p:nvSpPr>
        <p:spPr>
          <a:xfrm>
            <a:off x="5897880" y="1280160"/>
            <a:ext cx="5760720" cy="4846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KS statistic: how far each query's similarities are from Ada-ef's bell curve (0 = perfect fit)</a:t>
            </a:r>
            <a:endParaRPr lang="en-US" sz="1600" dirty="0"/>
          </a:p>
          <a:p>
            <a:pPr marL="342900" indent="-342900">
              <a:spcAft>
                <a:spcPts val="800"/>
              </a:spcAft>
              <a:buSzPct val="100000"/>
              <a:buChar char="•"/>
            </a:pPr>
            <a:r>
              <a:rPr lang="en-US" sz="1600" dirty="0">
                <a:solidFill>
                  <a:schemeClr val="tx1"/>
                </a:solidFill>
              </a:rPr>
              <a:t>Measured on 41 public datasets (ann-benchmarks, Big-ANN, VIBE, Ada-ef's sources)</a:t>
            </a:r>
            <a:endParaRPr lang="en-US" sz="1600" dirty="0"/>
          </a:p>
          <a:p>
            <a:pPr marL="342900" indent="-342900">
              <a:spcAft>
                <a:spcPts val="800"/>
              </a:spcAft>
              <a:buSzPct val="100000"/>
              <a:buChar char="•"/>
            </a:pPr>
            <a:r>
              <a:rPr lang="en-US" sz="1600" b="1" dirty="0">
                <a:solidFill>
                  <a:schemeClr val="tx1"/>
                </a:solidFill>
              </a:rPr>
              <a:t>9 clearly non-Gaussian, including SIFT, GIST, Fashion-MNIST, DeepImage, Deep1B</a:t>
            </a:r>
            <a:endParaRPr lang="en-US" sz="1600" dirty="0"/>
          </a:p>
          <a:p>
            <a:pPr marL="342900" indent="-342900">
              <a:spcAft>
                <a:spcPts val="800"/>
              </a:spcAft>
              <a:buSzPct val="100000"/>
              <a:buChar char="•"/>
            </a:pPr>
            <a:r>
              <a:rPr lang="en-US" sz="1600" dirty="0">
                <a:solidFill>
                  <a:schemeClr val="tx1"/>
                </a:solidFill>
              </a:rPr>
              <a:t>6 of the 9 are learned embeddings, inside Ada-ef's stated scope</a:t>
            </a:r>
            <a:endParaRPr lang="en-US" sz="1600" dirty="0"/>
          </a:p>
          <a:p>
            <a:pPr marL="342900" indent="-342900">
              <a:spcAft>
                <a:spcPts val="800"/>
              </a:spcAft>
              <a:buSzPct val="100000"/>
              <a:buChar char="•"/>
            </a:pPr>
            <a:r>
              <a:rPr lang="en-US" sz="1600" dirty="0">
                <a:solidFill>
                  <a:schemeClr val="tx1"/>
                </a:solidFill>
              </a:rPr>
              <a:t>Data type does not predict it: SIFT-1M 0.126 vs SIFT-1B 0.029; Fashion-MNIST 0.073 vs MNIST 0.037</a:t>
            </a:r>
            <a:endParaRPr lang="en-US" sz="1600" dirty="0"/>
          </a:p>
          <a:p>
            <a:pPr marL="342900" indent="-342900">
              <a:spcAft>
                <a:spcPts val="800"/>
              </a:spcAft>
              <a:buSzPct val="100000"/>
              <a:buChar char="•"/>
            </a:pPr>
            <a:r>
              <a:rPr lang="en-US" sz="1600" dirty="0">
                <a:solidFill>
                  <a:schemeClr val="tx1"/>
                </a:solidFill>
              </a:rPr>
              <a:t>There, Ada-ef stops adapting: on SIFT it gives every query the same ef</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PercEF: measure the thresholds, don't assume them</a:t>
            </a:r>
            <a:endParaRPr lang="en-US" sz="3200" dirty="0"/>
          </a:p>
        </p:txBody>
      </p:sp>
      <p:sp>
        <p:nvSpPr>
          <p:cNvPr id="3" name="Lane offline"/>
          <p:cNvSpPr txBox="1"/>
          <p:nvPr/>
        </p:nvSpPr>
        <p:spPr>
          <a:xfrm>
            <a:off x="548640" y="1234440"/>
            <a:ext cx="5486400" cy="320040"/>
          </a:xfrm>
          <a:prstGeom prst="rect">
            <a:avLst/>
          </a:prstGeom>
          <a:noFill/>
          <a:ln/>
        </p:spPr>
        <p:txBody>
          <a:bodyPr wrap="square" lIns="0" tIns="0" rIns="0" bIns="0" rtlCol="0" anchor="ctr"/>
          <a:lstStyle/>
          <a:p>
            <a:pPr marL="0" indent="0">
              <a:buNone/>
            </a:pPr>
            <a:r>
              <a:rPr lang="en-US" sz="1400" i="1" dirty="0">
                <a:solidFill>
                  <a:schemeClr val="accent6"/>
                </a:solidFill>
              </a:rPr>
              <a:t>Offline, once per dataset</a:t>
            </a:r>
            <a:endParaRPr lang="en-US" sz="1400" dirty="0"/>
          </a:p>
        </p:txBody>
      </p:sp>
      <p:sp>
        <p:nvSpPr>
          <p:cNvPr id="4" name="Node: corpus"/>
          <p:cNvSpPr/>
          <p:nvPr/>
        </p:nvSpPr>
        <p:spPr>
          <a:xfrm>
            <a:off x="548640" y="1600200"/>
            <a:ext cx="2377440" cy="914400"/>
          </a:xfrm>
          <a:prstGeom prst="roundRect">
            <a:avLst>
              <a:gd name="adj" fmla="val 8000"/>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Corpus vectors</a:t>
            </a:r>
            <a:endParaRPr lang="en-US" sz="1400" dirty="0"/>
          </a:p>
        </p:txBody>
      </p:sp>
      <p:sp>
        <p:nvSpPr>
          <p:cNvPr id="5" name="Node: percentiles"/>
          <p:cNvSpPr/>
          <p:nvPr/>
        </p:nvSpPr>
        <p:spPr>
          <a:xfrm>
            <a:off x="3429000" y="1600200"/>
            <a:ext cx="23774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marL="0" indent="0" algn="ctr">
              <a:buNone/>
            </a:pPr>
            <a:r>
              <a:rPr lang="en-US" sz="1400" b="1" dirty="0">
                <a:solidFill>
                  <a:schemeClr val="bg1"/>
                </a:solidFill>
              </a:rPr>
              <a:t>Empirical distance percentiles (0.1–0.5%)</a:t>
            </a:r>
            <a:endParaRPr lang="en-US" sz="1400" dirty="0"/>
          </a:p>
        </p:txBody>
      </p:sp>
      <p:sp>
        <p:nvSpPr>
          <p:cNvPr id="6" name="Node: calibrate"/>
          <p:cNvSpPr/>
          <p:nvPr/>
        </p:nvSpPr>
        <p:spPr>
          <a:xfrm>
            <a:off x="6309360" y="1600200"/>
            <a:ext cx="2377440" cy="914400"/>
          </a:xfrm>
          <a:prstGeom prst="roundRect">
            <a:avLst>
              <a:gd name="adj" fmla="val 8000"/>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Calibrate ef table on 200–2,000 queries</a:t>
            </a:r>
            <a:endParaRPr lang="en-US" sz="1400" dirty="0"/>
          </a:p>
        </p:txBody>
      </p:sp>
      <p:sp>
        <p:nvSpPr>
          <p:cNvPr id="7" name="Arrow: o1"/>
          <p:cNvSpPr/>
          <p:nvPr/>
        </p:nvSpPr>
        <p:spPr>
          <a:xfrm>
            <a:off x="2926080" y="2057400"/>
            <a:ext cx="502920" cy="0"/>
          </a:xfrm>
          <a:prstGeom prst="line">
            <a:avLst/>
          </a:prstGeom>
          <a:noFill/>
          <a:ln w="22225">
            <a:solidFill>
              <a:srgbClr val="5B6670"/>
            </a:solidFill>
            <a:prstDash val="solid"/>
            <a:tailEnd type="triangle"/>
          </a:ln>
        </p:spPr>
      </p:sp>
      <p:sp>
        <p:nvSpPr>
          <p:cNvPr id="8" name="Arrow: o2"/>
          <p:cNvSpPr/>
          <p:nvPr/>
        </p:nvSpPr>
        <p:spPr>
          <a:xfrm>
            <a:off x="5806440" y="2057400"/>
            <a:ext cx="502920" cy="0"/>
          </a:xfrm>
          <a:prstGeom prst="line">
            <a:avLst/>
          </a:prstGeom>
          <a:noFill/>
          <a:ln w="22225">
            <a:solidFill>
              <a:srgbClr val="5B6670"/>
            </a:solidFill>
            <a:prstDash val="solid"/>
            <a:tailEnd type="triangle"/>
          </a:ln>
        </p:spPr>
      </p:sp>
      <p:sp>
        <p:nvSpPr>
          <p:cNvPr id="9" name="Lane online"/>
          <p:cNvSpPr txBox="1"/>
          <p:nvPr/>
        </p:nvSpPr>
        <p:spPr>
          <a:xfrm>
            <a:off x="548640" y="2788920"/>
            <a:ext cx="5486400" cy="320040"/>
          </a:xfrm>
          <a:prstGeom prst="rect">
            <a:avLst/>
          </a:prstGeom>
          <a:noFill/>
          <a:ln/>
        </p:spPr>
        <p:txBody>
          <a:bodyPr wrap="square" lIns="0" tIns="0" rIns="0" bIns="0" rtlCol="0" anchor="ctr"/>
          <a:lstStyle/>
          <a:p>
            <a:pPr marL="0" indent="0">
              <a:buNone/>
            </a:pPr>
            <a:r>
              <a:rPr lang="en-US" sz="1400" i="1" dirty="0">
                <a:solidFill>
                  <a:schemeClr val="accent6"/>
                </a:solidFill>
              </a:rPr>
              <a:t>Online, per query</a:t>
            </a:r>
            <a:endParaRPr lang="en-US" sz="1400" dirty="0"/>
          </a:p>
        </p:txBody>
      </p:sp>
      <p:sp>
        <p:nvSpPr>
          <p:cNvPr id="10" name="Node: probe"/>
          <p:cNvSpPr/>
          <p:nvPr/>
        </p:nvSpPr>
        <p:spPr>
          <a:xfrm>
            <a:off x="548640" y="3154680"/>
            <a:ext cx="2377440" cy="914400"/>
          </a:xfrm>
          <a:prstGeom prst="roundRect">
            <a:avLst>
              <a:gd name="adj" fmla="val 8000"/>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Probe the first 100 distances</a:t>
            </a:r>
            <a:endParaRPr lang="en-US" sz="1400" dirty="0"/>
          </a:p>
        </p:txBody>
      </p:sp>
      <p:sp>
        <p:nvSpPr>
          <p:cNvPr id="11" name="Node: score"/>
          <p:cNvSpPr/>
          <p:nvPr/>
        </p:nvSpPr>
        <p:spPr>
          <a:xfrm>
            <a:off x="3429000" y="3154680"/>
            <a:ext cx="23774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marL="0" indent="0" algn="ctr">
              <a:buNone/>
            </a:pPr>
            <a:r>
              <a:rPr lang="en-US" sz="1400" b="1" dirty="0">
                <a:solidFill>
                  <a:schemeClr val="bg1"/>
                </a:solidFill>
              </a:rPr>
              <a:t>Score: how many fall under each threshold</a:t>
            </a:r>
            <a:endParaRPr lang="en-US" sz="1400" dirty="0"/>
          </a:p>
        </p:txBody>
      </p:sp>
      <p:sp>
        <p:nvSpPr>
          <p:cNvPr id="12" name="Node: continue"/>
          <p:cNvSpPr/>
          <p:nvPr/>
        </p:nvSpPr>
        <p:spPr>
          <a:xfrm>
            <a:off x="6309360" y="3154680"/>
            <a:ext cx="2377440" cy="914400"/>
          </a:xfrm>
          <a:prstGeom prst="roundRect">
            <a:avLst>
              <a:gd name="adj" fmla="val 8000"/>
            </a:avLst>
          </a:prstGeom>
          <a:solidFill>
            <a:schemeClr val="bg2"/>
          </a:solidFill>
          <a:ln w="12700">
            <a:solidFill>
              <a:schemeClr val="accent6"/>
            </a:solidFill>
          </a:ln>
        </p:spPr>
        <p:txBody>
          <a:bodyPr wrap="square" lIns="50800" tIns="50800" rIns="50800" bIns="50800" rtlCol="0" anchor="ctr"/>
          <a:lstStyle/>
          <a:p>
            <a:pPr marL="0" indent="0" algn="ctr">
              <a:buNone/>
            </a:pPr>
            <a:r>
              <a:rPr lang="en-US" sz="1400" dirty="0">
                <a:solidFill>
                  <a:schemeClr val="tx1"/>
                </a:solidFill>
              </a:rPr>
              <a:t>Look up ef; continue the same search</a:t>
            </a:r>
            <a:endParaRPr lang="en-US" sz="1400" dirty="0"/>
          </a:p>
        </p:txBody>
      </p:sp>
      <p:sp>
        <p:nvSpPr>
          <p:cNvPr id="13" name="Arrow: n1"/>
          <p:cNvSpPr/>
          <p:nvPr/>
        </p:nvSpPr>
        <p:spPr>
          <a:xfrm>
            <a:off x="2926080" y="3611880"/>
            <a:ext cx="502920" cy="0"/>
          </a:xfrm>
          <a:prstGeom prst="line">
            <a:avLst/>
          </a:prstGeom>
          <a:noFill/>
          <a:ln w="22225">
            <a:solidFill>
              <a:srgbClr val="5B6670"/>
            </a:solidFill>
            <a:prstDash val="solid"/>
            <a:tailEnd type="triangle"/>
          </a:ln>
        </p:spPr>
      </p:sp>
      <p:sp>
        <p:nvSpPr>
          <p:cNvPr id="14" name="Arrow: n2"/>
          <p:cNvSpPr/>
          <p:nvPr/>
        </p:nvSpPr>
        <p:spPr>
          <a:xfrm>
            <a:off x="5806440" y="3611880"/>
            <a:ext cx="502920" cy="0"/>
          </a:xfrm>
          <a:prstGeom prst="line">
            <a:avLst/>
          </a:prstGeom>
          <a:noFill/>
          <a:ln w="22225">
            <a:solidFill>
              <a:srgbClr val="5B6670"/>
            </a:solidFill>
            <a:prstDash val="solid"/>
            <a:tailEnd type="triangle"/>
          </a:ln>
        </p:spPr>
      </p:sp>
      <p:sp>
        <p:nvSpPr>
          <p:cNvPr id="15" name="Arrow: thresholds to score"/>
          <p:cNvSpPr/>
          <p:nvPr/>
        </p:nvSpPr>
        <p:spPr>
          <a:xfrm>
            <a:off x="4617720" y="2514600"/>
            <a:ext cx="0" cy="640080"/>
          </a:xfrm>
          <a:prstGeom prst="line">
            <a:avLst/>
          </a:prstGeom>
          <a:noFill/>
          <a:ln w="22225">
            <a:solidFill>
              <a:srgbClr val="5B6670"/>
            </a:solidFill>
            <a:prstDash val="solid"/>
            <a:tailEnd type="triangle"/>
          </a:ln>
        </p:spPr>
      </p:sp>
      <p:sp>
        <p:nvSpPr>
          <p:cNvPr id="16" name="Card: One change"/>
          <p:cNvSpPr/>
          <p:nvPr/>
        </p:nvSpPr>
        <p:spPr>
          <a:xfrm>
            <a:off x="9144000" y="1234440"/>
            <a:ext cx="2514600" cy="2011680"/>
          </a:xfrm>
          <a:prstGeom prst="roundRect">
            <a:avLst>
              <a:gd name="adj" fmla="val 3636"/>
            </a:avLst>
          </a:prstGeom>
          <a:solidFill>
            <a:srgbClr val="DCEFF3"/>
          </a:solidFill>
          <a:ln w="12700">
            <a:solidFill>
              <a:srgbClr val="DCEFF3"/>
            </a:solidFill>
            <a:prstDash val="solid"/>
          </a:ln>
        </p:spPr>
      </p:sp>
      <p:sp>
        <p:nvSpPr>
          <p:cNvPr id="17" name="Card head: One change"/>
          <p:cNvSpPr txBox="1"/>
          <p:nvPr/>
        </p:nvSpPr>
        <p:spPr>
          <a:xfrm>
            <a:off x="9372600" y="1417320"/>
            <a:ext cx="2057400" cy="457200"/>
          </a:xfrm>
          <a:prstGeom prst="rect">
            <a:avLst/>
          </a:prstGeom>
          <a:noFill/>
          <a:ln/>
        </p:spPr>
        <p:txBody>
          <a:bodyPr wrap="square" lIns="0" tIns="0" rIns="0" bIns="0" rtlCol="0" anchor="t"/>
          <a:lstStyle/>
          <a:p>
            <a:pPr marL="0" indent="0">
              <a:buNone/>
            </a:pPr>
            <a:r>
              <a:rPr lang="en-US" sz="1800" b="1" dirty="0">
                <a:solidFill>
                  <a:schemeClr val="tx2"/>
                </a:solidFill>
              </a:rPr>
              <a:t>One change</a:t>
            </a:r>
            <a:endParaRPr lang="en-US" sz="1800" dirty="0"/>
          </a:p>
        </p:txBody>
      </p:sp>
      <p:sp>
        <p:nvSpPr>
          <p:cNvPr id="18" name="Card body: One change"/>
          <p:cNvSpPr txBox="1"/>
          <p:nvPr/>
        </p:nvSpPr>
        <p:spPr>
          <a:xfrm>
            <a:off x="9372600" y="1920240"/>
            <a:ext cx="2057400" cy="1143000"/>
          </a:xfrm>
          <a:prstGeom prst="rect">
            <a:avLst/>
          </a:prstGeom>
          <a:noFill/>
          <a:ln/>
        </p:spPr>
        <p:txBody>
          <a:bodyPr wrap="square" lIns="0" tIns="0" rIns="0" bIns="0" rtlCol="0" anchor="t"/>
          <a:lstStyle/>
          <a:p>
            <a:pPr marL="0" indent="0">
              <a:buNone/>
            </a:pPr>
            <a:r>
              <a:rPr lang="en-US" sz="1500" dirty="0">
                <a:solidFill>
                  <a:schemeClr val="tx1"/>
                </a:solidFill>
              </a:rPr>
              <a:t>Same mechanism as Ada-ef; only the thresholds come from the data instead of a bell curve.</a:t>
            </a:r>
            <a:endParaRPr lang="en-US" sz="1500" dirty="0"/>
          </a:p>
        </p:txBody>
      </p:sp>
      <p:sp>
        <p:nvSpPr>
          <p:cNvPr id="19" name="PercEF bullets"/>
          <p:cNvSpPr txBox="1"/>
          <p:nvPr/>
        </p:nvSpPr>
        <p:spPr>
          <a:xfrm>
            <a:off x="548640" y="438912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Works whatever the shape of the similarity distribution</a:t>
            </a:r>
            <a:endParaRPr lang="en-US" sz="1600" dirty="0"/>
          </a:p>
          <a:p>
            <a:pPr marL="342900" indent="-342900">
              <a:spcAft>
                <a:spcPts val="800"/>
              </a:spcAft>
              <a:buSzPct val="100000"/>
              <a:buChar char="•"/>
            </a:pPr>
            <a:r>
              <a:rPr lang="en-US" sz="1600" dirty="0">
                <a:solidFill>
                  <a:schemeClr val="tx1"/>
                </a:solidFill>
              </a:rPr>
              <a:t>Probe of 100 distances instead of 1,025; the search does not restart after it</a:t>
            </a:r>
            <a:endParaRPr lang="en-US" sz="1600" dirty="0"/>
          </a:p>
          <a:p>
            <a:pPr marL="342900" indent="-342900">
              <a:spcAft>
                <a:spcPts val="800"/>
              </a:spcAft>
              <a:buSzPct val="100000"/>
              <a:buChar char="•"/>
            </a:pPr>
            <a:r>
              <a:rPr lang="en-US" sz="1600" dirty="0">
                <a:solidFill>
                  <a:schemeClr val="tx1"/>
                </a:solidFill>
              </a:rPr>
              <a:t>No covariance matrix: a few kilobytes instead of up to 9.4 MB</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A seconds-long test picks the method</a:t>
            </a:r>
            <a:endParaRPr lang="en-US" sz="3200" dirty="0"/>
          </a:p>
        </p:txBody>
      </p:sp>
      <p:sp>
        <p:nvSpPr>
          <p:cNvPr id="3" name="Zone Ada-ef"/>
          <p:cNvSpPr/>
          <p:nvPr/>
        </p:nvSpPr>
        <p:spPr>
          <a:xfrm>
            <a:off x="822960" y="1828800"/>
            <a:ext cx="3559126" cy="822960"/>
          </a:xfrm>
          <a:prstGeom prst="rect">
            <a:avLst/>
          </a:prstGeom>
          <a:solidFill>
            <a:srgbClr val="FCE9DF"/>
          </a:solidFill>
          <a:ln w="12700">
            <a:solidFill>
              <a:srgbClr val="FCE9DF"/>
            </a:solidFill>
            <a:prstDash val="solid"/>
          </a:ln>
        </p:spPr>
      </p:sp>
      <p:sp>
        <p:nvSpPr>
          <p:cNvPr id="4" name="Zone band"/>
          <p:cNvSpPr/>
          <p:nvPr/>
        </p:nvSpPr>
        <p:spPr>
          <a:xfrm>
            <a:off x="4382086" y="1828800"/>
            <a:ext cx="1779563" cy="822960"/>
          </a:xfrm>
          <a:prstGeom prst="rect">
            <a:avLst/>
          </a:prstGeom>
          <a:solidFill>
            <a:schemeClr val="bg2"/>
          </a:solidFill>
          <a:ln w="12700">
            <a:solidFill>
              <a:schemeClr val="bg2"/>
            </a:solidFill>
            <a:prstDash val="solid"/>
          </a:ln>
        </p:spPr>
      </p:sp>
      <p:sp>
        <p:nvSpPr>
          <p:cNvPr id="5" name="Zone PercEF"/>
          <p:cNvSpPr/>
          <p:nvPr/>
        </p:nvSpPr>
        <p:spPr>
          <a:xfrm>
            <a:off x="6161649" y="1828800"/>
            <a:ext cx="5176911" cy="822960"/>
          </a:xfrm>
          <a:prstGeom prst="rect">
            <a:avLst/>
          </a:prstGeom>
          <a:solidFill>
            <a:srgbClr val="DCEFF3"/>
          </a:solidFill>
          <a:ln w="12700">
            <a:solidFill>
              <a:srgbClr val="DCEFF3"/>
            </a:solidFill>
            <a:prstDash val="solid"/>
          </a:ln>
        </p:spPr>
      </p:sp>
      <p:sp>
        <p:nvSpPr>
          <p:cNvPr id="6" name="Zone label Ada-ef"/>
          <p:cNvSpPr txBox="1"/>
          <p:nvPr/>
        </p:nvSpPr>
        <p:spPr>
          <a:xfrm>
            <a:off x="822960" y="1828800"/>
            <a:ext cx="3559126" cy="822960"/>
          </a:xfrm>
          <a:prstGeom prst="rect">
            <a:avLst/>
          </a:prstGeom>
          <a:noFill/>
          <a:ln/>
        </p:spPr>
        <p:txBody>
          <a:bodyPr wrap="square" lIns="0" tIns="0" rIns="0" bIns="0" rtlCol="0" anchor="ctr"/>
          <a:lstStyle/>
          <a:p>
            <a:pPr marL="0" indent="0" algn="ctr">
              <a:buNone/>
            </a:pPr>
            <a:r>
              <a:rPr lang="en-US" sz="1600" b="1" dirty="0">
                <a:solidFill>
                  <a:schemeClr val="accent4"/>
                </a:solidFill>
              </a:rPr>
              <a:t>KS ≤ 0.044: near-Gaussian → Ada-ef</a:t>
            </a:r>
            <a:endParaRPr lang="en-US" sz="1600" dirty="0"/>
          </a:p>
        </p:txBody>
      </p:sp>
      <p:sp>
        <p:nvSpPr>
          <p:cNvPr id="7" name="Zone label band"/>
          <p:cNvSpPr txBox="1"/>
          <p:nvPr/>
        </p:nvSpPr>
        <p:spPr>
          <a:xfrm>
            <a:off x="4382086" y="1828800"/>
            <a:ext cx="1779563" cy="822960"/>
          </a:xfrm>
          <a:prstGeom prst="rect">
            <a:avLst/>
          </a:prstGeom>
          <a:noFill/>
          <a:ln/>
        </p:spPr>
        <p:txBody>
          <a:bodyPr wrap="square" lIns="0" tIns="0" rIns="0" bIns="0" rtlCol="0" anchor="ctr"/>
          <a:lstStyle/>
          <a:p>
            <a:pPr marL="0" indent="0" algn="ctr">
              <a:buNone/>
            </a:pPr>
            <a:r>
              <a:rPr lang="en-US" sz="1400" dirty="0">
                <a:solidFill>
                  <a:schemeClr val="accent2"/>
                </a:solidFill>
              </a:rPr>
              <a:t>band</a:t>
            </a:r>
            <a:endParaRPr lang="en-US" sz="1400" dirty="0"/>
          </a:p>
        </p:txBody>
      </p:sp>
      <p:sp>
        <p:nvSpPr>
          <p:cNvPr id="8" name="Zone label PercEF"/>
          <p:cNvSpPr txBox="1"/>
          <p:nvPr/>
        </p:nvSpPr>
        <p:spPr>
          <a:xfrm>
            <a:off x="6161649" y="1828800"/>
            <a:ext cx="5176911" cy="822960"/>
          </a:xfrm>
          <a:prstGeom prst="rect">
            <a:avLst/>
          </a:prstGeom>
          <a:noFill/>
          <a:ln/>
        </p:spPr>
        <p:txBody>
          <a:bodyPr wrap="square" lIns="0" tIns="0" rIns="0" bIns="0" rtlCol="0" anchor="ctr"/>
          <a:lstStyle/>
          <a:p>
            <a:pPr marL="0" indent="0" algn="ctr">
              <a:buNone/>
            </a:pPr>
            <a:r>
              <a:rPr lang="en-US" sz="1600" b="1" dirty="0">
                <a:solidFill>
                  <a:schemeClr val="accent1"/>
                </a:solidFill>
              </a:rPr>
              <a:t>KS ≥ 0.066: non-Gaussian → PercEF</a:t>
            </a:r>
            <a:endParaRPr lang="en-US" sz="1600" dirty="0"/>
          </a:p>
        </p:txBody>
      </p:sp>
      <p:sp>
        <p:nvSpPr>
          <p:cNvPr id="9" name="Scale caption"/>
          <p:cNvSpPr txBox="1"/>
          <p:nvPr/>
        </p:nvSpPr>
        <p:spPr>
          <a:xfrm>
            <a:off x="822960" y="1371600"/>
            <a:ext cx="10515600" cy="365760"/>
          </a:xfrm>
          <a:prstGeom prst="rect">
            <a:avLst/>
          </a:prstGeom>
          <a:noFill/>
          <a:ln/>
        </p:spPr>
        <p:txBody>
          <a:bodyPr wrap="square" lIns="0" tIns="0" rIns="0" bIns="0" rtlCol="0" anchor="ctr"/>
          <a:lstStyle/>
          <a:p>
            <a:pPr marL="0" indent="0">
              <a:buNone/>
            </a:pPr>
            <a:r>
              <a:rPr lang="en-US" sz="1400" i="1" dirty="0">
                <a:solidFill>
                  <a:schemeClr val="accent6"/>
                </a:solidFill>
              </a:rPr>
              <a:t>KS measured on the raw vectors (200 queries, no index needed)</a:t>
            </a:r>
            <a:endParaRPr lang="en-US" sz="1400" dirty="0"/>
          </a:p>
        </p:txBody>
      </p:sp>
      <p:sp>
        <p:nvSpPr>
          <p:cNvPr id="10" name="Stat: 18 / 19"/>
          <p:cNvSpPr txBox="1"/>
          <p:nvPr/>
        </p:nvSpPr>
        <p:spPr>
          <a:xfrm>
            <a:off x="822960" y="3108960"/>
            <a:ext cx="47548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18 / 19</a:t>
            </a:r>
            <a:endParaRPr lang="en-US" sz="4000" dirty="0"/>
          </a:p>
        </p:txBody>
      </p:sp>
      <p:sp>
        <p:nvSpPr>
          <p:cNvPr id="11" name="Stat label: 18 / 19"/>
          <p:cNvSpPr txBox="1"/>
          <p:nvPr/>
        </p:nvSpPr>
        <p:spPr>
          <a:xfrm>
            <a:off x="822960" y="3794760"/>
            <a:ext cx="4754880" cy="640080"/>
          </a:xfrm>
          <a:prstGeom prst="rect">
            <a:avLst/>
          </a:prstGeom>
          <a:noFill/>
          <a:ln/>
        </p:spPr>
        <p:txBody>
          <a:bodyPr wrap="square" lIns="0" tIns="0" rIns="0" bIns="0" rtlCol="0" anchor="t"/>
          <a:lstStyle/>
          <a:p>
            <a:pPr marL="0" indent="0">
              <a:buNone/>
            </a:pPr>
            <a:r>
              <a:rPr lang="en-US" sz="1400" dirty="0">
                <a:solidFill>
                  <a:schemeClr val="tx1"/>
                </a:solidFill>
              </a:rPr>
              <a:t>datasets where KS picked the method that ranks queries better</a:t>
            </a:r>
            <a:endParaRPr lang="en-US" sz="1400" dirty="0"/>
          </a:p>
        </p:txBody>
      </p:sp>
      <p:sp>
        <p:nvSpPr>
          <p:cNvPr id="12" name="Stat: 1 miss"/>
          <p:cNvSpPr txBox="1"/>
          <p:nvPr/>
        </p:nvSpPr>
        <p:spPr>
          <a:xfrm>
            <a:off x="6263640" y="3108960"/>
            <a:ext cx="4754880" cy="685800"/>
          </a:xfrm>
          <a:prstGeom prst="rect">
            <a:avLst/>
          </a:prstGeom>
          <a:noFill/>
          <a:ln/>
        </p:spPr>
        <p:txBody>
          <a:bodyPr wrap="square" lIns="0" tIns="0" rIns="0" bIns="0" rtlCol="0" anchor="ctr"/>
          <a:lstStyle/>
          <a:p>
            <a:pPr marL="0" indent="0">
              <a:buNone/>
            </a:pPr>
            <a:r>
              <a:rPr lang="en-US" sz="4000" b="1" dirty="0">
                <a:solidFill>
                  <a:schemeClr val="accent4"/>
                </a:solidFill>
                <a:latin typeface="Cambria" pitchFamily="34" charset="0"/>
                <a:ea typeface="Cambria" pitchFamily="34" charset="-122"/>
                <a:cs typeface="Cambria" pitchFamily="34" charset="-120"/>
              </a:rPr>
              <a:t>1 miss</a:t>
            </a:r>
            <a:endParaRPr lang="en-US" sz="4000" dirty="0"/>
          </a:p>
        </p:txBody>
      </p:sp>
      <p:sp>
        <p:nvSpPr>
          <p:cNvPr id="13" name="Stat label: 1 miss"/>
          <p:cNvSpPr txBox="1"/>
          <p:nvPr/>
        </p:nvSpPr>
        <p:spPr>
          <a:xfrm>
            <a:off x="6263640" y="3794760"/>
            <a:ext cx="4754880" cy="640080"/>
          </a:xfrm>
          <a:prstGeom prst="rect">
            <a:avLst/>
          </a:prstGeom>
          <a:noFill/>
          <a:ln/>
        </p:spPr>
        <p:txBody>
          <a:bodyPr wrap="square" lIns="0" tIns="0" rIns="0" bIns="0" rtlCol="0" anchor="t"/>
          <a:lstStyle/>
          <a:p>
            <a:pPr marL="0" indent="0">
              <a:buNone/>
            </a:pPr>
            <a:r>
              <a:rPr lang="en-US" sz="1400" dirty="0">
                <a:solidFill>
                  <a:schemeClr val="tx1"/>
                </a:solidFill>
              </a:rPr>
              <a:t>SIFT-1B: KS said Ada-ef, but PercEF ranked better</a:t>
            </a:r>
            <a:endParaRPr lang="en-US" sz="1400" dirty="0"/>
          </a:p>
        </p:txBody>
      </p:sp>
      <p:sp>
        <p:nvSpPr>
          <p:cNvPr id="14" name="KS note"/>
          <p:cNvSpPr txBox="1"/>
          <p:nvPr/>
        </p:nvSpPr>
        <p:spPr>
          <a:xfrm>
            <a:off x="822960" y="4937760"/>
            <a:ext cx="10515600" cy="548640"/>
          </a:xfrm>
          <a:prstGeom prst="rect">
            <a:avLst/>
          </a:prstGeom>
          <a:noFill/>
          <a:ln/>
        </p:spPr>
        <p:txBody>
          <a:bodyPr wrap="square" lIns="0" tIns="0" rIns="0" bIns="0" rtlCol="0" anchor="ctr"/>
          <a:lstStyle/>
          <a:p>
            <a:pPr marL="0" indent="0">
              <a:buNone/>
            </a:pPr>
            <a:r>
              <a:rPr lang="en-US" sz="1600" dirty="0">
                <a:solidFill>
                  <a:schemeClr val="tx1"/>
                </a:solidFill>
              </a:rPr>
              <a:t>Every KS prediction was recorded before running the dataset, so the test was checked out of sample.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What is new</a:t>
            </a:r>
            <a:endParaRPr lang="en-US" sz="3200" dirty="0"/>
          </a:p>
        </p:txBody>
      </p:sp>
      <p:sp>
        <p:nvSpPr>
          <p:cNvPr id="3" name="Card: 1  First test of the assumption"/>
          <p:cNvSpPr/>
          <p:nvPr/>
        </p:nvSpPr>
        <p:spPr>
          <a:xfrm>
            <a:off x="548640" y="1280160"/>
            <a:ext cx="5440680" cy="1691640"/>
          </a:xfrm>
          <a:prstGeom prst="roundRect">
            <a:avLst>
              <a:gd name="adj" fmla="val 4324"/>
            </a:avLst>
          </a:prstGeom>
          <a:solidFill>
            <a:srgbClr val="DCEFF3"/>
          </a:solidFill>
          <a:ln w="12700">
            <a:solidFill>
              <a:srgbClr val="DCEFF3"/>
            </a:solidFill>
            <a:prstDash val="solid"/>
          </a:ln>
        </p:spPr>
      </p:sp>
      <p:sp>
        <p:nvSpPr>
          <p:cNvPr id="4" name="Card head: 1  First test of the assumption"/>
          <p:cNvSpPr txBox="1"/>
          <p:nvPr/>
        </p:nvSpPr>
        <p:spPr>
          <a:xfrm>
            <a:off x="777240" y="1463040"/>
            <a:ext cx="4983480" cy="457200"/>
          </a:xfrm>
          <a:prstGeom prst="rect">
            <a:avLst/>
          </a:prstGeom>
          <a:noFill/>
          <a:ln/>
        </p:spPr>
        <p:txBody>
          <a:bodyPr wrap="square" lIns="0" tIns="0" rIns="0" bIns="0" rtlCol="0" anchor="t"/>
          <a:lstStyle/>
          <a:p>
            <a:pPr marL="0" indent="0">
              <a:buNone/>
            </a:pPr>
            <a:r>
              <a:rPr lang="en-US" sz="1800" b="1" dirty="0">
                <a:solidFill>
                  <a:schemeClr val="tx2"/>
                </a:solidFill>
              </a:rPr>
              <a:t>1  First test of the assumption</a:t>
            </a:r>
            <a:endParaRPr lang="en-US" sz="1800" dirty="0"/>
          </a:p>
        </p:txBody>
      </p:sp>
      <p:sp>
        <p:nvSpPr>
          <p:cNvPr id="5" name="Card body: 1  First test of the assumption"/>
          <p:cNvSpPr txBox="1"/>
          <p:nvPr/>
        </p:nvSpPr>
        <p:spPr>
          <a:xfrm>
            <a:off x="777240" y="1965960"/>
            <a:ext cx="4983480" cy="822960"/>
          </a:xfrm>
          <a:prstGeom prst="rect">
            <a:avLst/>
          </a:prstGeom>
          <a:noFill/>
          <a:ln/>
        </p:spPr>
        <p:txBody>
          <a:bodyPr wrap="square" lIns="0" tIns="0" rIns="0" bIns="0" rtlCol="0" anchor="t"/>
          <a:lstStyle/>
          <a:p>
            <a:pPr marL="0" indent="0">
              <a:buNone/>
            </a:pPr>
            <a:r>
              <a:rPr lang="en-US" sz="1600" dirty="0">
                <a:solidFill>
                  <a:schemeClr val="tx1"/>
                </a:solidFill>
              </a:rPr>
              <a:t>Ada-ef's Gaussian model measured on 41 datasets; fails on 9, including 6 learned embeddings.</a:t>
            </a:r>
            <a:endParaRPr lang="en-US" sz="1600" dirty="0"/>
          </a:p>
        </p:txBody>
      </p:sp>
      <p:sp>
        <p:nvSpPr>
          <p:cNvPr id="6" name="Card: 2  A distribution-free score"/>
          <p:cNvSpPr/>
          <p:nvPr/>
        </p:nvSpPr>
        <p:spPr>
          <a:xfrm>
            <a:off x="6172200" y="1280160"/>
            <a:ext cx="5440680" cy="1691640"/>
          </a:xfrm>
          <a:prstGeom prst="roundRect">
            <a:avLst>
              <a:gd name="adj" fmla="val 4324"/>
            </a:avLst>
          </a:prstGeom>
          <a:solidFill>
            <a:schemeClr val="bg2"/>
          </a:solidFill>
          <a:ln w="12700">
            <a:solidFill>
              <a:schemeClr val="bg2"/>
            </a:solidFill>
            <a:prstDash val="solid"/>
          </a:ln>
        </p:spPr>
      </p:sp>
      <p:sp>
        <p:nvSpPr>
          <p:cNvPr id="7" name="Card head: 2  A distribution-free score"/>
          <p:cNvSpPr txBox="1"/>
          <p:nvPr/>
        </p:nvSpPr>
        <p:spPr>
          <a:xfrm>
            <a:off x="6400800" y="1463040"/>
            <a:ext cx="4983480" cy="457200"/>
          </a:xfrm>
          <a:prstGeom prst="rect">
            <a:avLst/>
          </a:prstGeom>
          <a:noFill/>
          <a:ln/>
        </p:spPr>
        <p:txBody>
          <a:bodyPr wrap="square" lIns="0" tIns="0" rIns="0" bIns="0" rtlCol="0" anchor="t"/>
          <a:lstStyle/>
          <a:p>
            <a:pPr marL="0" indent="0">
              <a:buNone/>
            </a:pPr>
            <a:r>
              <a:rPr lang="en-US" sz="1800" b="1" dirty="0">
                <a:solidFill>
                  <a:schemeClr val="tx2"/>
                </a:solidFill>
              </a:rPr>
              <a:t>2  A distribution-free score</a:t>
            </a:r>
            <a:endParaRPr lang="en-US" sz="1800" dirty="0"/>
          </a:p>
        </p:txBody>
      </p:sp>
      <p:sp>
        <p:nvSpPr>
          <p:cNvPr id="8" name="Card body: 2  A distribution-free score"/>
          <p:cNvSpPr txBox="1"/>
          <p:nvPr/>
        </p:nvSpPr>
        <p:spPr>
          <a:xfrm>
            <a:off x="6400800" y="1965960"/>
            <a:ext cx="4983480" cy="822960"/>
          </a:xfrm>
          <a:prstGeom prst="rect">
            <a:avLst/>
          </a:prstGeom>
          <a:noFill/>
          <a:ln/>
        </p:spPr>
        <p:txBody>
          <a:bodyPr wrap="square" lIns="0" tIns="0" rIns="0" bIns="0" rtlCol="0" anchor="t"/>
          <a:lstStyle/>
          <a:p>
            <a:pPr marL="0" indent="0">
              <a:buNone/>
            </a:pPr>
            <a:r>
              <a:rPr lang="en-US" sz="1600" dirty="0">
                <a:solidFill>
                  <a:schemeClr val="tx1"/>
                </a:solidFill>
              </a:rPr>
              <a:t>PercEF: thresholds from the data's own percentiles. No covariance, no training.</a:t>
            </a:r>
            <a:endParaRPr lang="en-US" sz="1600" dirty="0"/>
          </a:p>
        </p:txBody>
      </p:sp>
      <p:sp>
        <p:nvSpPr>
          <p:cNvPr id="9" name="Card: 3  A cost floor"/>
          <p:cNvSpPr/>
          <p:nvPr/>
        </p:nvSpPr>
        <p:spPr>
          <a:xfrm>
            <a:off x="548640" y="3200400"/>
            <a:ext cx="5440680" cy="1691640"/>
          </a:xfrm>
          <a:prstGeom prst="roundRect">
            <a:avLst>
              <a:gd name="adj" fmla="val 4324"/>
            </a:avLst>
          </a:prstGeom>
          <a:solidFill>
            <a:srgbClr val="DCEFF3"/>
          </a:solidFill>
          <a:ln w="12700">
            <a:solidFill>
              <a:srgbClr val="DCEFF3"/>
            </a:solidFill>
            <a:prstDash val="solid"/>
          </a:ln>
        </p:spPr>
      </p:sp>
      <p:sp>
        <p:nvSpPr>
          <p:cNvPr id="10" name="Card head: 3  A cost floor"/>
          <p:cNvSpPr txBox="1"/>
          <p:nvPr/>
        </p:nvSpPr>
        <p:spPr>
          <a:xfrm>
            <a:off x="777240" y="3383280"/>
            <a:ext cx="4983480" cy="457200"/>
          </a:xfrm>
          <a:prstGeom prst="rect">
            <a:avLst/>
          </a:prstGeom>
          <a:noFill/>
          <a:ln/>
        </p:spPr>
        <p:txBody>
          <a:bodyPr wrap="square" lIns="0" tIns="0" rIns="0" bIns="0" rtlCol="0" anchor="t"/>
          <a:lstStyle/>
          <a:p>
            <a:pPr marL="0" indent="0">
              <a:buNone/>
            </a:pPr>
            <a:r>
              <a:rPr lang="en-US" sz="1800" b="1" dirty="0">
                <a:solidFill>
                  <a:schemeClr val="tx2"/>
                </a:solidFill>
              </a:rPr>
              <a:t>3  A cost floor</a:t>
            </a:r>
            <a:endParaRPr lang="en-US" sz="1800" dirty="0"/>
          </a:p>
        </p:txBody>
      </p:sp>
      <p:sp>
        <p:nvSpPr>
          <p:cNvPr id="11" name="Card body: 3  A cost floor"/>
          <p:cNvSpPr txBox="1"/>
          <p:nvPr/>
        </p:nvSpPr>
        <p:spPr>
          <a:xfrm>
            <a:off x="777240" y="3886200"/>
            <a:ext cx="4983480" cy="822960"/>
          </a:xfrm>
          <a:prstGeom prst="rect">
            <a:avLst/>
          </a:prstGeom>
          <a:noFill/>
          <a:ln/>
        </p:spPr>
        <p:txBody>
          <a:bodyPr wrap="square" lIns="0" tIns="0" rIns="0" bIns="0" rtlCol="0" anchor="t"/>
          <a:lstStyle/>
          <a:p>
            <a:pPr marL="0" indent="0">
              <a:buNone/>
            </a:pPr>
            <a:r>
              <a:rPr lang="en-US" sz="1600" dirty="0">
                <a:solidFill>
                  <a:schemeClr val="tx1"/>
                </a:solidFill>
              </a:rPr>
              <a:t>Never more than 2.5% costlier than the best fixed ef in hindsight; Ada-ef has no such floor.</a:t>
            </a:r>
            <a:endParaRPr lang="en-US" sz="1600" dirty="0"/>
          </a:p>
        </p:txBody>
      </p:sp>
      <p:sp>
        <p:nvSpPr>
          <p:cNvPr id="12" name="Card: 4  An offline test"/>
          <p:cNvSpPr/>
          <p:nvPr/>
        </p:nvSpPr>
        <p:spPr>
          <a:xfrm>
            <a:off x="6172200" y="3200400"/>
            <a:ext cx="5440680" cy="1691640"/>
          </a:xfrm>
          <a:prstGeom prst="roundRect">
            <a:avLst>
              <a:gd name="adj" fmla="val 4324"/>
            </a:avLst>
          </a:prstGeom>
          <a:solidFill>
            <a:schemeClr val="bg2"/>
          </a:solidFill>
          <a:ln w="12700">
            <a:solidFill>
              <a:schemeClr val="bg2"/>
            </a:solidFill>
            <a:prstDash val="solid"/>
          </a:ln>
        </p:spPr>
      </p:sp>
      <p:sp>
        <p:nvSpPr>
          <p:cNvPr id="13" name="Card head: 4  An offline test"/>
          <p:cNvSpPr txBox="1"/>
          <p:nvPr/>
        </p:nvSpPr>
        <p:spPr>
          <a:xfrm>
            <a:off x="6400800" y="3383280"/>
            <a:ext cx="4983480" cy="457200"/>
          </a:xfrm>
          <a:prstGeom prst="rect">
            <a:avLst/>
          </a:prstGeom>
          <a:noFill/>
          <a:ln/>
        </p:spPr>
        <p:txBody>
          <a:bodyPr wrap="square" lIns="0" tIns="0" rIns="0" bIns="0" rtlCol="0" anchor="t"/>
          <a:lstStyle/>
          <a:p>
            <a:pPr marL="0" indent="0">
              <a:buNone/>
            </a:pPr>
            <a:r>
              <a:rPr lang="en-US" sz="1800" b="1" dirty="0">
                <a:solidFill>
                  <a:schemeClr val="tx2"/>
                </a:solidFill>
              </a:rPr>
              <a:t>4  An offline test</a:t>
            </a:r>
            <a:endParaRPr lang="en-US" sz="1800" dirty="0"/>
          </a:p>
        </p:txBody>
      </p:sp>
      <p:sp>
        <p:nvSpPr>
          <p:cNvPr id="14" name="Card body: 4  An offline test"/>
          <p:cNvSpPr txBox="1"/>
          <p:nvPr/>
        </p:nvSpPr>
        <p:spPr>
          <a:xfrm>
            <a:off x="6400800" y="3886200"/>
            <a:ext cx="4983480" cy="822960"/>
          </a:xfrm>
          <a:prstGeom prst="rect">
            <a:avLst/>
          </a:prstGeom>
          <a:noFill/>
          <a:ln/>
        </p:spPr>
        <p:txBody>
          <a:bodyPr wrap="square" lIns="0" tIns="0" rIns="0" bIns="0" rtlCol="0" anchor="t"/>
          <a:lstStyle/>
          <a:p>
            <a:pPr marL="0" indent="0">
              <a:buNone/>
            </a:pPr>
            <a:r>
              <a:rPr lang="en-US" sz="1600" dirty="0">
                <a:solidFill>
                  <a:schemeClr val="tx1"/>
                </a:solidFill>
              </a:rPr>
              <a:t>KS on raw vectors predicts the better method on 18 of 19 datasets, before any index exists.</a:t>
            </a:r>
            <a:endParaRPr lang="en-US" sz="1600" dirty="0"/>
          </a:p>
        </p:txBody>
      </p:sp>
      <p:sp>
        <p:nvSpPr>
          <p:cNvPr id="15" name="Novelty footnote"/>
          <p:cNvSpPr txBox="1"/>
          <p:nvPr/>
        </p:nvSpPr>
        <p:spPr>
          <a:xfrm>
            <a:off x="548640" y="5166360"/>
            <a:ext cx="11064240" cy="457200"/>
          </a:xfrm>
          <a:prstGeom prst="rect">
            <a:avLst/>
          </a:prstGeom>
          <a:noFill/>
          <a:ln/>
        </p:spPr>
        <p:txBody>
          <a:bodyPr wrap="square" lIns="0" tIns="0" rIns="0" bIns="0" rtlCol="0" anchor="ctr"/>
          <a:lstStyle/>
          <a:p>
            <a:pPr marL="0" indent="0">
              <a:buNone/>
            </a:pPr>
            <a:r>
              <a:rPr lang="en-US" sz="1400" i="1" dirty="0">
                <a:solidFill>
                  <a:schemeClr val="accent2"/>
                </a:solidFill>
              </a:rPr>
              <a:t>Also: an evaluation guide for adaptive search (interpolation bias, timing noise, probe cost), from errors we caught in our own runs.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Setup: Ada-ef's protocol, 20 datasets</a:t>
            </a:r>
            <a:endParaRPr lang="en-US" sz="3200" dirty="0"/>
          </a:p>
        </p:txBody>
      </p:sp>
      <p:sp>
        <p:nvSpPr>
          <p:cNvPr id="3" name="Setup bullets"/>
          <p:cNvSpPr txBox="1"/>
          <p:nvPr/>
        </p:nvSpPr>
        <p:spPr>
          <a:xfrm>
            <a:off x="548640" y="1280160"/>
            <a:ext cx="5120640" cy="4389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20 datasets end to end: text, image, audio, music, CLIP; 60K to 19.6M vectors</a:t>
            </a:r>
            <a:endParaRPr lang="en-US" sz="1500" dirty="0"/>
          </a:p>
          <a:p>
            <a:pPr marL="342900" indent="-342900">
              <a:spcAft>
                <a:spcPts val="800"/>
              </a:spcAft>
              <a:buSzPct val="100000"/>
              <a:buChar char="•"/>
            </a:pPr>
            <a:r>
              <a:rPr lang="en-US" sz="1500" dirty="0">
                <a:solidFill>
                  <a:schemeClr val="tx1"/>
                </a:solidFill>
              </a:rPr>
              <a:t>HNSW M = 16, efConstruction = 500; k = 100 (1,000 for MS MARCO, Cohere, LAION)</a:t>
            </a:r>
            <a:endParaRPr lang="en-US" sz="1500" dirty="0"/>
          </a:p>
          <a:p>
            <a:pPr marL="342900" indent="-342900">
              <a:spcAft>
                <a:spcPts val="800"/>
              </a:spcAft>
              <a:buSzPct val="100000"/>
              <a:buChar char="•"/>
            </a:pPr>
            <a:r>
              <a:rPr lang="en-US" sz="1500" dirty="0">
                <a:solidFill>
                  <a:schemeClr val="tx1"/>
                </a:solidFill>
              </a:rPr>
              <a:t>Target recall 0.95; calibration on 200 corpus points (P) or real queries (R)</a:t>
            </a:r>
            <a:endParaRPr lang="en-US" sz="1500" dirty="0"/>
          </a:p>
          <a:p>
            <a:pPr marL="342900" indent="-342900">
              <a:spcAft>
                <a:spcPts val="800"/>
              </a:spcAft>
              <a:buSzPct val="100000"/>
              <a:buChar char="•"/>
            </a:pPr>
            <a:r>
              <a:rPr lang="en-US" sz="1500" dirty="0">
                <a:solidFill>
                  <a:schemeClr val="tx1"/>
                </a:solidFill>
              </a:rPr>
              <a:t>Ada-ef run through its authors' own code; DARTH through its authors' code</a:t>
            </a:r>
            <a:endParaRPr lang="en-US" sz="1500" dirty="0"/>
          </a:p>
          <a:p>
            <a:pPr marL="342900" indent="-342900">
              <a:spcAft>
                <a:spcPts val="800"/>
              </a:spcAft>
              <a:buSzPct val="100000"/>
              <a:buChar char="•"/>
            </a:pPr>
            <a:r>
              <a:rPr lang="en-US" sz="1500" dirty="0">
                <a:solidFill>
                  <a:schemeClr val="tx1"/>
                </a:solidFill>
              </a:rPr>
              <a:t>One thread; latency timed in 3 rotated rounds</a:t>
            </a:r>
            <a:endParaRPr lang="en-US" sz="1500" dirty="0"/>
          </a:p>
        </p:txBody>
      </p:sp>
      <p:graphicFrame>
        <p:nvGraphicFramePr>
          <p:cNvPr id="11" name="Metrics table"/>
          <p:cNvGraphicFramePr>
            <a:graphicFrameLocks noGrp="1"/>
          </p:cNvGraphicFramePr>
          <p:nvPr>
            <p:extLst>
              <p:ext uri="{D42A27DB-BD31-4B8C-83A1-F6EECF244321}">
                <p14:modId xmlns:p14="http://schemas.microsoft.com/office/powerpoint/2010/main" val="1579011935"/>
              </p:ext>
            </p:extLst>
          </p:nvPr>
        </p:nvGraphicFramePr>
        <p:xfrm>
          <a:off x="5943600" y="1280160"/>
          <a:ext cx="5715000" cy="2243328"/>
        </p:xfrm>
        <a:graphic>
          <a:graphicData uri="http://schemas.openxmlformats.org/drawingml/2006/table">
            <a:tbl>
              <a:tblPr/>
              <a:tblGrid>
                <a:gridCol w="192024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0">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Mean recall</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Average share of the true 100 neighbours found</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p1 (worst-case) recall</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Recall of the worst 1% of queries: under-searching</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Distance computations</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Work per query, hardware-independent: over-searching</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Latency</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Time per query (µs)</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Tuned fixed ef</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One ef for all queries, picked in hindsight for the same mean recall: the reference</a:t>
                      </a:r>
                      <a:endParaRPr lang="en-US" sz="13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Non-Gaussian data: better worst-case recall</a:t>
            </a:r>
            <a:endParaRPr lang="en-US" sz="3200" dirty="0"/>
          </a:p>
        </p:txBody>
      </p:sp>
      <p:graphicFrame>
        <p:nvGraphicFramePr>
          <p:cNvPr id="3" name="p1 gain chart"/>
          <p:cNvGraphicFramePr/>
          <p:nvPr/>
        </p:nvGraphicFramePr>
        <p:xfrm>
          <a:off x="548640" y="1234440"/>
          <a:ext cx="74980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Stat: 16 / 16"/>
          <p:cNvSpPr txBox="1"/>
          <p:nvPr/>
        </p:nvSpPr>
        <p:spPr>
          <a:xfrm>
            <a:off x="8412480" y="1325880"/>
            <a:ext cx="320040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16 / 16</a:t>
            </a:r>
            <a:endParaRPr lang="en-US" sz="4000" dirty="0"/>
          </a:p>
        </p:txBody>
      </p:sp>
      <p:sp>
        <p:nvSpPr>
          <p:cNvPr id="5" name="Stat label: 16 / 16"/>
          <p:cNvSpPr txBox="1"/>
          <p:nvPr/>
        </p:nvSpPr>
        <p:spPr>
          <a:xfrm>
            <a:off x="8412480" y="2011680"/>
            <a:ext cx="3200400" cy="640080"/>
          </a:xfrm>
          <a:prstGeom prst="rect">
            <a:avLst/>
          </a:prstGeom>
          <a:noFill/>
          <a:ln/>
        </p:spPr>
        <p:txBody>
          <a:bodyPr wrap="square" lIns="0" tIns="0" rIns="0" bIns="0" rtlCol="0" anchor="t"/>
          <a:lstStyle/>
          <a:p>
            <a:pPr marL="0" indent="0">
              <a:buNone/>
            </a:pPr>
            <a:r>
              <a:rPr lang="en-US" sz="1400" dirty="0">
                <a:solidFill>
                  <a:schemeClr val="tx1"/>
                </a:solidFill>
              </a:rPr>
              <a:t>runs where PercEF ranks queries better than Ada-ef</a:t>
            </a:r>
            <a:endParaRPr lang="en-US" sz="1400" dirty="0"/>
          </a:p>
        </p:txBody>
      </p:sp>
      <p:sp>
        <p:nvSpPr>
          <p:cNvPr id="6" name="Stat: 15 / 16"/>
          <p:cNvSpPr txBox="1"/>
          <p:nvPr/>
        </p:nvSpPr>
        <p:spPr>
          <a:xfrm>
            <a:off x="8412480" y="2880360"/>
            <a:ext cx="320040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15 / 16</a:t>
            </a:r>
            <a:endParaRPr lang="en-US" sz="4000" dirty="0"/>
          </a:p>
        </p:txBody>
      </p:sp>
      <p:sp>
        <p:nvSpPr>
          <p:cNvPr id="7" name="Stat label: 15 / 16"/>
          <p:cNvSpPr txBox="1"/>
          <p:nvPr/>
        </p:nvSpPr>
        <p:spPr>
          <a:xfrm>
            <a:off x="8412480" y="3566160"/>
            <a:ext cx="3200400" cy="640080"/>
          </a:xfrm>
          <a:prstGeom prst="rect">
            <a:avLst/>
          </a:prstGeom>
          <a:noFill/>
          <a:ln/>
        </p:spPr>
        <p:txBody>
          <a:bodyPr wrap="square" lIns="0" tIns="0" rIns="0" bIns="0" rtlCol="0" anchor="t"/>
          <a:lstStyle/>
          <a:p>
            <a:pPr marL="0" indent="0">
              <a:buNone/>
            </a:pPr>
            <a:r>
              <a:rPr lang="en-US" sz="1400" dirty="0">
                <a:solidFill>
                  <a:schemeClr val="tx1"/>
                </a:solidFill>
              </a:rPr>
              <a:t>runs where PercEF's worst-case gain is at least Ada-ef's (the 16th: a tie near zero)</a:t>
            </a:r>
            <a:endParaRPr lang="en-US" sz="1400" dirty="0"/>
          </a:p>
        </p:txBody>
      </p:sp>
      <p:sp>
        <p:nvSpPr>
          <p:cNvPr id="8" name="Stat: 13 vs 1"/>
          <p:cNvSpPr txBox="1"/>
          <p:nvPr/>
        </p:nvSpPr>
        <p:spPr>
          <a:xfrm>
            <a:off x="8412480" y="4434840"/>
            <a:ext cx="3200400" cy="68580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13 vs 1</a:t>
            </a:r>
            <a:endParaRPr lang="en-US" sz="4000" dirty="0"/>
          </a:p>
        </p:txBody>
      </p:sp>
      <p:sp>
        <p:nvSpPr>
          <p:cNvPr id="9" name="Stat label: 13 vs 1"/>
          <p:cNvSpPr txBox="1"/>
          <p:nvPr/>
        </p:nvSpPr>
        <p:spPr>
          <a:xfrm>
            <a:off x="8412480" y="5120640"/>
            <a:ext cx="3200400" cy="640080"/>
          </a:xfrm>
          <a:prstGeom prst="rect">
            <a:avLst/>
          </a:prstGeom>
          <a:noFill/>
          <a:ln/>
        </p:spPr>
        <p:txBody>
          <a:bodyPr wrap="square" lIns="0" tIns="0" rIns="0" bIns="0" rtlCol="0" anchor="t"/>
          <a:lstStyle/>
          <a:p>
            <a:pPr marL="0" indent="0">
              <a:buNone/>
            </a:pPr>
            <a:r>
              <a:rPr lang="en-US" sz="1400" dirty="0">
                <a:solidFill>
                  <a:schemeClr val="tx1"/>
                </a:solidFill>
              </a:rPr>
              <a:t>runs faster than a fixed ef with the same worst case: PercEF vs Ada-ef (of 16)</a:t>
            </a:r>
            <a:endParaRPr lang="en-US" sz="1400" dirty="0"/>
          </a:p>
        </p:txBody>
      </p:sp>
      <p:sp>
        <p:nvSpPr>
          <p:cNvPr id="10" name="Runs definition"/>
          <p:cNvSpPr txBox="1"/>
          <p:nvPr/>
        </p:nvSpPr>
        <p:spPr>
          <a:xfrm>
            <a:off x="8412480" y="5806440"/>
            <a:ext cx="3246120" cy="457200"/>
          </a:xfrm>
          <a:prstGeom prst="rect">
            <a:avLst/>
          </a:prstGeom>
          <a:noFill/>
          <a:ln/>
        </p:spPr>
        <p:txBody>
          <a:bodyPr wrap="square" lIns="0" tIns="0" rIns="0" bIns="0" rtlCol="0" anchor="ctr"/>
          <a:lstStyle/>
          <a:p>
            <a:pPr marL="0" indent="0">
              <a:buNone/>
            </a:pPr>
            <a:r>
              <a:rPr lang="en-US" sz="1100" i="1" dirty="0">
                <a:solidFill>
                  <a:schemeClr val="accent6"/>
                </a:solidFill>
              </a:rPr>
              <a:t>16 runs = the 8 non-Gaussian datasets x 2 calibration settings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Within 2.5% of a tuned fixed ef's cost</a:t>
            </a:r>
            <a:endParaRPr lang="en-US" sz="3200" dirty="0"/>
          </a:p>
        </p:txBody>
      </p:sp>
      <p:sp>
        <p:nvSpPr>
          <p:cNvPr id="3" name="Stat: 32 / 34"/>
          <p:cNvSpPr txBox="1"/>
          <p:nvPr/>
        </p:nvSpPr>
        <p:spPr>
          <a:xfrm>
            <a:off x="548640" y="1325880"/>
            <a:ext cx="33832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32 / 34</a:t>
            </a:r>
            <a:endParaRPr lang="en-US" sz="4000" dirty="0"/>
          </a:p>
        </p:txBody>
      </p:sp>
      <p:sp>
        <p:nvSpPr>
          <p:cNvPr id="4" name="Stat label: 32 / 34"/>
          <p:cNvSpPr txBox="1"/>
          <p:nvPr/>
        </p:nvSpPr>
        <p:spPr>
          <a:xfrm>
            <a:off x="548640" y="2011680"/>
            <a:ext cx="3383280" cy="640080"/>
          </a:xfrm>
          <a:prstGeom prst="rect">
            <a:avLst/>
          </a:prstGeom>
          <a:noFill/>
          <a:ln/>
        </p:spPr>
        <p:txBody>
          <a:bodyPr wrap="square" lIns="0" tIns="0" rIns="0" bIns="0" rtlCol="0" anchor="t"/>
          <a:lstStyle/>
          <a:p>
            <a:pPr marL="0" indent="0">
              <a:buNone/>
            </a:pPr>
            <a:r>
              <a:rPr lang="en-US" sz="1400" dirty="0">
                <a:solidFill>
                  <a:schemeClr val="tx1"/>
                </a:solidFill>
              </a:rPr>
              <a:t>runs where PercEF does less work than the tuned fixed ef (Ada-ef: 10 / 34)</a:t>
            </a:r>
            <a:endParaRPr lang="en-US" sz="1400" dirty="0"/>
          </a:p>
        </p:txBody>
      </p:sp>
      <p:sp>
        <p:nvSpPr>
          <p:cNvPr id="5" name="Stat: 31 / 34"/>
          <p:cNvSpPr txBox="1"/>
          <p:nvPr/>
        </p:nvSpPr>
        <p:spPr>
          <a:xfrm>
            <a:off x="548640" y="2880360"/>
            <a:ext cx="3383280" cy="68580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31 / 34</a:t>
            </a:r>
            <a:endParaRPr lang="en-US" sz="4000" dirty="0"/>
          </a:p>
        </p:txBody>
      </p:sp>
      <p:sp>
        <p:nvSpPr>
          <p:cNvPr id="6" name="Stat label: 31 / 34"/>
          <p:cNvSpPr txBox="1"/>
          <p:nvPr/>
        </p:nvSpPr>
        <p:spPr>
          <a:xfrm>
            <a:off x="548640" y="3566160"/>
            <a:ext cx="3383280" cy="640080"/>
          </a:xfrm>
          <a:prstGeom prst="rect">
            <a:avLst/>
          </a:prstGeom>
          <a:noFill/>
          <a:ln/>
        </p:spPr>
        <p:txBody>
          <a:bodyPr wrap="square" lIns="0" tIns="0" rIns="0" bIns="0" rtlCol="0" anchor="t"/>
          <a:lstStyle/>
          <a:p>
            <a:pPr marL="0" indent="0">
              <a:buNone/>
            </a:pPr>
            <a:r>
              <a:rPr lang="en-US" sz="1400" dirty="0">
                <a:solidFill>
                  <a:schemeClr val="tx1"/>
                </a:solidFill>
              </a:rPr>
              <a:t>runs where PercEF is faster than a fixed ef with the same worst-case recall (Ada-ef: 11 / 34)</a:t>
            </a:r>
            <a:endParaRPr lang="en-US" sz="1400" dirty="0"/>
          </a:p>
        </p:txBody>
      </p:sp>
      <p:sp>
        <p:nvSpPr>
          <p:cNvPr id="7" name="Stat: 18 / 18"/>
          <p:cNvSpPr txBox="1"/>
          <p:nvPr/>
        </p:nvSpPr>
        <p:spPr>
          <a:xfrm>
            <a:off x="548640" y="4434840"/>
            <a:ext cx="3383280" cy="68580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18 / 18</a:t>
            </a:r>
            <a:endParaRPr lang="en-US" sz="4000" dirty="0"/>
          </a:p>
        </p:txBody>
      </p:sp>
      <p:sp>
        <p:nvSpPr>
          <p:cNvPr id="8" name="Stat label: 18 / 18"/>
          <p:cNvSpPr txBox="1"/>
          <p:nvPr/>
        </p:nvSpPr>
        <p:spPr>
          <a:xfrm>
            <a:off x="548640" y="5120640"/>
            <a:ext cx="3383280" cy="640080"/>
          </a:xfrm>
          <a:prstGeom prst="rect">
            <a:avLst/>
          </a:prstGeom>
          <a:noFill/>
          <a:ln/>
        </p:spPr>
        <p:txBody>
          <a:bodyPr wrap="square" lIns="0" tIns="0" rIns="0" bIns="0" rtlCol="0" anchor="t"/>
          <a:lstStyle/>
          <a:p>
            <a:pPr marL="0" indent="0">
              <a:buNone/>
            </a:pPr>
            <a:r>
              <a:rPr lang="en-US" sz="1400" dirty="0">
                <a:solidFill>
                  <a:schemeClr val="tx1"/>
                </a:solidFill>
              </a:rPr>
              <a:t>near-Gaussian runs where PercEF is both cheaper and faster than the fixed ef</a:t>
            </a:r>
            <a:endParaRPr lang="en-US" sz="1400" dirty="0"/>
          </a:p>
        </p:txBody>
      </p:sp>
      <p:sp>
        <p:nvSpPr>
          <p:cNvPr id="9" name="Runs definition"/>
          <p:cNvSpPr txBox="1"/>
          <p:nvPr/>
        </p:nvSpPr>
        <p:spPr>
          <a:xfrm>
            <a:off x="548640" y="5760720"/>
            <a:ext cx="3566160" cy="548640"/>
          </a:xfrm>
          <a:prstGeom prst="rect">
            <a:avLst/>
          </a:prstGeom>
          <a:noFill/>
          <a:ln/>
        </p:spPr>
        <p:txBody>
          <a:bodyPr wrap="square" lIns="0" tIns="0" rIns="0" bIns="0" rtlCol="0" anchor="ctr"/>
          <a:lstStyle/>
          <a:p>
            <a:pPr marL="0" indent="0">
              <a:buNone/>
            </a:pPr>
            <a:r>
              <a:rPr lang="en-US" sz="1100" i="1" dirty="0">
                <a:solidFill>
                  <a:schemeClr val="accent6"/>
                </a:solidFill>
              </a:rPr>
              <a:t>34 runs = 17 benchmarked datasets x 2 settings (3 cross-modal sets left out); work and time measured on all 34</a:t>
            </a:r>
            <a:endParaRPr lang="en-US" sz="1100" dirty="0"/>
          </a:p>
        </p:txBody>
      </p:sp>
      <p:graphicFrame>
        <p:nvGraphicFramePr>
          <p:cNvPr id="10" name="Speed-up chart"/>
          <p:cNvGraphicFramePr/>
          <p:nvPr/>
        </p:nvGraphicFramePr>
        <p:xfrm>
          <a:off x="4297680" y="1234440"/>
          <a:ext cx="73609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1" name="Speed note"/>
          <p:cNvSpPr txBox="1"/>
          <p:nvPr/>
        </p:nvSpPr>
        <p:spPr>
          <a:xfrm>
            <a:off x="4297680" y="5440680"/>
            <a:ext cx="7360920" cy="685800"/>
          </a:xfrm>
          <a:prstGeom prst="rect">
            <a:avLst/>
          </a:prstGeom>
          <a:noFill/>
          <a:ln/>
        </p:spPr>
        <p:txBody>
          <a:bodyPr wrap="square" lIns="0" tIns="0" rIns="0" bIns="0" rtlCol="0" anchor="ctr"/>
          <a:lstStyle/>
          <a:p>
            <a:pPr marL="0" indent="0">
              <a:buNone/>
            </a:pPr>
            <a:r>
              <a:rPr lang="en-US" sz="1400" i="1" dirty="0">
                <a:solidFill>
                  <a:schemeClr val="accent2"/>
                </a:solidFill>
              </a:rPr>
              <a:t>At the same mean recall on non-Gaussian data, PercEF's time is within 2.4% of the fixed ef's except DeepImage (7-9% slower): it spends saved work on hard queries, which cost more per distance.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Two checks: probe length and DARTH</a:t>
            </a:r>
            <a:endParaRPr lang="en-US" sz="3200" dirty="0"/>
          </a:p>
        </p:txBody>
      </p:sp>
      <p:sp>
        <p:nvSpPr>
          <p:cNvPr id="3" name="Ablation caption"/>
          <p:cNvSpPr txBox="1"/>
          <p:nvPr/>
        </p:nvSpPr>
        <p:spPr>
          <a:xfrm>
            <a:off x="548640" y="1188720"/>
            <a:ext cx="5486400" cy="365760"/>
          </a:xfrm>
          <a:prstGeom prst="rect">
            <a:avLst/>
          </a:prstGeom>
          <a:noFill/>
          <a:ln/>
        </p:spPr>
        <p:txBody>
          <a:bodyPr wrap="square" lIns="0" tIns="0" rIns="0" bIns="0" rtlCol="0" anchor="ctr"/>
          <a:lstStyle/>
          <a:p>
            <a:pPr marL="0" indent="0">
              <a:buNone/>
            </a:pPr>
            <a:r>
              <a:rPr lang="en-US" sz="1500" b="1" dirty="0">
                <a:solidFill>
                  <a:schemeClr val="tx2"/>
                </a:solidFill>
              </a:rPr>
              <a:t>Ranking quality |ρ| with matched probe lengths</a:t>
            </a:r>
            <a:endParaRPr lang="en-US" sz="1500" dirty="0"/>
          </a:p>
        </p:txBody>
      </p:sp>
      <p:graphicFrame>
        <p:nvGraphicFramePr>
          <p:cNvPr id="14" name="Ablation table"/>
          <p:cNvGraphicFramePr>
            <a:graphicFrameLocks noGrp="1"/>
          </p:cNvGraphicFramePr>
          <p:nvPr>
            <p:extLst>
              <p:ext uri="{D42A27DB-BD31-4B8C-83A1-F6EECF244321}">
                <p14:modId xmlns:p14="http://schemas.microsoft.com/office/powerpoint/2010/main" val="1579011935"/>
              </p:ext>
            </p:extLst>
          </p:nvPr>
        </p:nvGraphicFramePr>
        <p:xfrm>
          <a:off x="548640" y="1600200"/>
          <a:ext cx="5486400" cy="2048256"/>
        </p:xfrm>
        <a:graphic>
          <a:graphicData uri="http://schemas.openxmlformats.org/drawingml/2006/table">
            <a:tbl>
              <a:tblPr/>
              <a:tblGrid>
                <a:gridCol w="12801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0">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Ada-ef 1,025</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Ada-ef 100</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PercEF 100</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PercEF 1,025</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SIFT-1M</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0.04</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Deep1B</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0.41</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0.43</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0.67</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0.63</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DeepImage</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SIFT-1B</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0.27</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0.72</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GloVe</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0.61</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MS Turing</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0.48</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Ablation takeaway"/>
          <p:cNvSpPr txBox="1"/>
          <p:nvPr/>
        </p:nvSpPr>
        <p:spPr>
          <a:xfrm>
            <a:off x="548640" y="3931920"/>
            <a:ext cx="5486400" cy="822960"/>
          </a:xfrm>
          <a:prstGeom prst="rect">
            <a:avLst/>
          </a:prstGeom>
          <a:noFill/>
          <a:ln/>
        </p:spPr>
        <p:txBody>
          <a:bodyPr wrap="square" lIns="0" tIns="0" rIns="0" bIns="0" rtlCol="0" anchor="ctr"/>
          <a:lstStyle/>
          <a:p>
            <a:pPr marL="0" indent="0">
              <a:buNone/>
            </a:pPr>
            <a:r>
              <a:rPr lang="en-US" sz="1400" i="1" dirty="0">
                <a:solidFill>
                  <a:schemeClr val="accent2"/>
                </a:solidFill>
              </a:rPr>
              <a:t>The advantage comes from the thresholds, not the shorter probe.</a:t>
            </a:r>
            <a:endParaRPr lang="en-US" sz="1400" dirty="0"/>
          </a:p>
        </p:txBody>
      </p:sp>
      <p:sp>
        <p:nvSpPr>
          <p:cNvPr id="6" name="DARTH caption"/>
          <p:cNvSpPr txBox="1"/>
          <p:nvPr/>
        </p:nvSpPr>
        <p:spPr>
          <a:xfrm>
            <a:off x="6355080" y="1188720"/>
            <a:ext cx="5303520" cy="365760"/>
          </a:xfrm>
          <a:prstGeom prst="rect">
            <a:avLst/>
          </a:prstGeom>
          <a:noFill/>
          <a:ln/>
        </p:spPr>
        <p:txBody>
          <a:bodyPr wrap="square" lIns="0" tIns="0" rIns="0" bIns="0" rtlCol="0" anchor="ctr"/>
          <a:lstStyle/>
          <a:p>
            <a:pPr marL="0" indent="0">
              <a:buNone/>
            </a:pPr>
            <a:r>
              <a:rPr lang="en-US" sz="1500" b="1" dirty="0">
                <a:solidFill>
                  <a:schemeClr val="tx2"/>
                </a:solidFill>
              </a:rPr>
              <a:t>DARTH (learned) vs PercEF, setting R</a:t>
            </a:r>
            <a:endParaRPr lang="en-US" sz="1500" dirty="0"/>
          </a:p>
        </p:txBody>
      </p:sp>
      <p:graphicFrame>
        <p:nvGraphicFramePr>
          <p:cNvPr id="27" name="DARTH table"/>
          <p:cNvGraphicFramePr>
            <a:graphicFrameLocks noGrp="1"/>
          </p:cNvGraphicFramePr>
          <p:nvPr>
            <p:extLst>
              <p:ext uri="{D42A27DB-BD31-4B8C-83A1-F6EECF244321}">
                <p14:modId xmlns:p14="http://schemas.microsoft.com/office/powerpoint/2010/main" val="1579011935"/>
              </p:ext>
            </p:extLst>
          </p:nvPr>
        </p:nvGraphicFramePr>
        <p:xfrm>
          <a:off x="6355080" y="1600200"/>
          <a:ext cx="5303520" cy="1645920"/>
        </p:xfrm>
        <a:graphic>
          <a:graphicData uri="http://schemas.openxmlformats.org/drawingml/2006/table">
            <a:tbl>
              <a:tblPr/>
              <a:tblGrid>
                <a:gridCol w="10972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0">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p1 gain DARTH</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p1 gain PercEF</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Time vs fixed DARTH</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Time vs fixed PercEF</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GloVe</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+0.080</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+0.029</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6% slower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 faster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MS Turing</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+0.044</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+0.010</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42% slower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 faster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SIFT-1M</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+0.048</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+0.028</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2.3x slower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0.4% faster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0">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Deep1B</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+0.098</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+0.081</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1.9x slower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2.4% slower</a:t>
                      </a:r>
                      <a:endParaRPr lang="en-US" sz="12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8" name="DARTH takeaway"/>
          <p:cNvSpPr txBox="1"/>
          <p:nvPr/>
        </p:nvSpPr>
        <p:spPr>
          <a:xfrm>
            <a:off x="6355080" y="3931920"/>
            <a:ext cx="5303520" cy="822960"/>
          </a:xfrm>
          <a:prstGeom prst="rect">
            <a:avLst/>
          </a:prstGeom>
          <a:noFill/>
          <a:ln/>
        </p:spPr>
        <p:txBody>
          <a:bodyPr wrap="square" lIns="0" tIns="0" rIns="0" bIns="0" rtlCol="0" anchor="ctr"/>
          <a:lstStyle/>
          <a:p>
            <a:pPr marL="0" indent="0">
              <a:buNone/>
            </a:pPr>
            <a:r>
              <a:rPr lang="en-US" sz="1400" i="1" dirty="0">
                <a:solidFill>
                  <a:schemeClr val="accent2"/>
                </a:solidFill>
              </a:rPr>
              <a:t>DARTH has the best tail but costs time and training; PercEF gets much of the gain at almost no time cost.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Tested: our score + Ada-ef's table</a:t>
            </a:r>
            <a:endParaRPr lang="en-US" sz="3200" dirty="0"/>
          </a:p>
        </p:txBody>
      </p:sp>
      <p:sp>
        <p:nvSpPr>
          <p:cNvPr id="3" name="Combo intro"/>
          <p:cNvSpPr txBox="1"/>
          <p:nvPr/>
        </p:nvSpPr>
        <p:spPr>
          <a:xfrm>
            <a:off x="548640" y="1188720"/>
            <a:ext cx="11064240" cy="640080"/>
          </a:xfrm>
          <a:prstGeom prst="rect">
            <a:avLst/>
          </a:prstGeom>
          <a:noFill/>
          <a:ln/>
        </p:spPr>
        <p:txBody>
          <a:bodyPr wrap="square" lIns="0" tIns="0" rIns="0" bIns="0" rtlCol="0" anchor="ctr"/>
          <a:lstStyle/>
          <a:p>
            <a:pPr marL="0" indent="0">
              <a:buNone/>
            </a:pPr>
            <a:r>
              <a:rPr lang="en-US" sz="1700" dirty="0">
                <a:solidFill>
                  <a:schemeClr val="tx1"/>
                </a:solidFill>
              </a:rPr>
              <a:t>Idea: if Ada-ef's better tail on Gaussian data came from its ef table, PercEF's score with that table should match it.</a:t>
            </a:r>
            <a:endParaRPr lang="en-US" sz="1700" dirty="0"/>
          </a:p>
        </p:txBody>
      </p:sp>
      <p:graphicFrame>
        <p:nvGraphicFramePr>
          <p:cNvPr id="15" name="Combined table"/>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2261616"/>
        </p:xfrm>
        <a:graphic>
          <a:graphicData uri="http://schemas.openxmlformats.org/drawingml/2006/table">
            <a:tbl>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p1 gain: PercEF</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p1 gain: combined</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Combined + WAE: time vs fixed ef</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p1 gain: Ada-ef</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SIFT-1M</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+0.028</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+0.024</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1.5% slower</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Deep1B</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+0.081</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+0.076</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2.9% faster</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+0.052</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DeepImage</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+0.088</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+0.073</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3.7% faster</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+0.048</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SIFT-1B</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+0.056</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+0.056</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2.7% faster</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+0.016</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GloVe (Gaussian)</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+0.029</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+0.031</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3.1% faster</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+0.073</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MS Turing (Gaussian)</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+0.013</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+0.012</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1.3% faster</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−0.038</a:t>
                      </a:r>
                      <a:endParaRPr lang="en-US" sz="1400" dirty="0">
                        <a:latin typeface="Calibri" charset="0"/>
                        <a:ea typeface="Calibri" charset="0"/>
                        <a:cs typeface="Calibri" charset="0"/>
                      </a:endParaRPr>
                    </a:p>
                  </a:txBody>
                  <a:tcPr marL="54864" marR="54864" marT="54864" marB="54864" anchor="ctr">
                    <a:lnL w="6350" cap="flat" cmpd="sng" algn="ctr">
                      <a:solidFill>
                        <a:srgbClr val="D5DCE1"/>
                      </a:solidFill>
                      <a:prstDash val="solid"/>
                      <a:round/>
                      <a:headEnd type="none" w="med" len="med"/>
                      <a:tailEnd type="none" w="med" len="med"/>
                    </a:lnL>
                    <a:lnR w="6350" cap="flat" cmpd="sng" algn="ctr">
                      <a:solidFill>
                        <a:srgbClr val="D5DCE1"/>
                      </a:solidFill>
                      <a:prstDash val="solid"/>
                      <a:round/>
                      <a:headEnd type="none" w="med" len="med"/>
                      <a:tailEnd type="none" w="med" len="med"/>
                    </a:lnR>
                    <a:lnT w="6350" cap="flat" cmpd="sng" algn="ctr">
                      <a:solidFill>
                        <a:srgbClr val="D5DCE1"/>
                      </a:solidFill>
                      <a:prstDash val="solid"/>
                      <a:round/>
                      <a:headEnd type="none" w="med" len="med"/>
                      <a:tailEnd type="none" w="med" len="med"/>
                    </a:lnT>
                    <a:lnB w="6350" cap="flat" cmpd="sng" algn="ctr">
                      <a:solidFill>
                        <a:srgbClr val="D5DCE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Combo bullets"/>
          <p:cNvSpPr txBox="1"/>
          <p:nvPr/>
        </p:nvSpPr>
        <p:spPr>
          <a:xfrm>
            <a:off x="548640" y="480060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Not adopted: on GloVe the table lifts PercEF only from +0.029 to +0.031, far from Ada-ef's +0.073</a:t>
            </a:r>
            <a:endParaRPr lang="en-US" sz="1500" dirty="0"/>
          </a:p>
          <a:p>
            <a:pPr marL="342900" indent="-342900">
              <a:spcAft>
                <a:spcPts val="800"/>
              </a:spcAft>
              <a:buSzPct val="100000"/>
              <a:buChar char="•"/>
            </a:pPr>
            <a:r>
              <a:rPr lang="en-US" sz="1500" dirty="0">
                <a:solidFill>
                  <a:schemeClr val="tx1"/>
                </a:solidFill>
              </a:rPr>
              <a:t>Ada-ef's tail edge on Gaussian data needs its own score and its table together</a:t>
            </a:r>
            <a:endParaRPr lang="en-US" sz="1500" dirty="0"/>
          </a:p>
          <a:p>
            <a:pPr marL="342900" indent="-342900">
              <a:spcAft>
                <a:spcPts val="800"/>
              </a:spcAft>
              <a:buSzPct val="100000"/>
              <a:buChar char="•"/>
            </a:pPr>
            <a:r>
              <a:rPr lang="en-US" sz="1500" dirty="0">
                <a:solidFill>
                  <a:schemeClr val="tx1"/>
                </a:solidFill>
              </a:rPr>
              <a:t>Plain PercEF keeps the best or tied-best worst-case recall on 5 of 6 datasets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2"/>
                </a:solidFill>
              </a:rPr>
              <a:t>Limits and next steps</a:t>
            </a:r>
            <a:endParaRPr lang="en-US" sz="3200" dirty="0"/>
          </a:p>
        </p:txBody>
      </p:sp>
      <p:sp>
        <p:nvSpPr>
          <p:cNvPr id="3" name="Card: Limits, stated openly"/>
          <p:cNvSpPr/>
          <p:nvPr/>
        </p:nvSpPr>
        <p:spPr>
          <a:xfrm>
            <a:off x="548640" y="1280160"/>
            <a:ext cx="5440680" cy="3108960"/>
          </a:xfrm>
          <a:prstGeom prst="roundRect">
            <a:avLst>
              <a:gd name="adj" fmla="val 2353"/>
            </a:avLst>
          </a:prstGeom>
          <a:solidFill>
            <a:srgbClr val="FCE9DF"/>
          </a:solidFill>
          <a:ln w="12700">
            <a:solidFill>
              <a:srgbClr val="FCE9DF"/>
            </a:solidFill>
            <a:prstDash val="solid"/>
          </a:ln>
        </p:spPr>
      </p:sp>
      <p:sp>
        <p:nvSpPr>
          <p:cNvPr id="4" name="Card head: Limits, stated openly"/>
          <p:cNvSpPr txBox="1"/>
          <p:nvPr/>
        </p:nvSpPr>
        <p:spPr>
          <a:xfrm>
            <a:off x="777240" y="1463040"/>
            <a:ext cx="4983480" cy="457200"/>
          </a:xfrm>
          <a:prstGeom prst="rect">
            <a:avLst/>
          </a:prstGeom>
          <a:noFill/>
          <a:ln/>
        </p:spPr>
        <p:txBody>
          <a:bodyPr wrap="square" lIns="0" tIns="0" rIns="0" bIns="0" rtlCol="0" anchor="t"/>
          <a:lstStyle/>
          <a:p>
            <a:pPr marL="0" indent="0">
              <a:buNone/>
            </a:pPr>
            <a:r>
              <a:rPr lang="en-US" sz="1800" b="1" dirty="0">
                <a:solidFill>
                  <a:schemeClr val="accent4"/>
                </a:solidFill>
              </a:rPr>
              <a:t>Limits, stated openly</a:t>
            </a:r>
            <a:endParaRPr lang="en-US" sz="1800" dirty="0"/>
          </a:p>
        </p:txBody>
      </p:sp>
      <p:sp>
        <p:nvSpPr>
          <p:cNvPr id="5" name="Card body: Limits, stated openly"/>
          <p:cNvSpPr txBox="1"/>
          <p:nvPr/>
        </p:nvSpPr>
        <p:spPr>
          <a:xfrm>
            <a:off x="777240" y="1965960"/>
            <a:ext cx="4983480" cy="2240280"/>
          </a:xfrm>
          <a:prstGeom prst="rect">
            <a:avLst/>
          </a:prstGeom>
          <a:noFill/>
          <a:ln/>
        </p:spPr>
        <p:txBody>
          <a:bodyPr wrap="square" lIns="0" tIns="0" rIns="0" bIns="0" rtlCol="0" anchor="t"/>
          <a:lstStyle/>
          <a:p>
            <a:pPr marL="0" indent="0">
              <a:buNone/>
            </a:pPr>
            <a:r>
              <a:rPr lang="en-US" sz="1600" dirty="0">
                <a:solidFill>
                  <a:schemeClr val="tx1"/>
                </a:solidFill>
              </a:rPr>
              <a:t>• Near-Gaussian text: Ada-ef gives larger worst-case gains (PercEF still cheaper and faster than the fixed ef)</a:t>
            </a:r>
            <a:endParaRPr lang="en-US" sz="1600" dirty="0"/>
          </a:p>
          <a:p>
            <a:pPr marL="0" indent="0">
              <a:buNone/>
            </a:pPr>
            <a:r>
              <a:rPr lang="en-US" sz="1600" dirty="0">
                <a:solidFill>
                  <a:schemeClr val="tx1"/>
                </a:solidFill>
              </a:rPr>
              <a:t>• Non-Gaussian, same mean recall: PercEF up to 2.4% slower than the fixed ef (DeepImage 7-9%)</a:t>
            </a:r>
            <a:endParaRPr lang="en-US" sz="1600" dirty="0"/>
          </a:p>
          <a:p>
            <a:pPr marL="0" indent="0">
              <a:buNone/>
            </a:pPr>
            <a:r>
              <a:rPr lang="en-US" sz="1600" dirty="0">
                <a:solidFill>
                  <a:schemeClr val="tx1"/>
                </a:solidFill>
              </a:rPr>
              <a:t>• Cross-modal queries (text searching images): neither method adapts</a:t>
            </a:r>
            <a:endParaRPr lang="en-US" sz="1600" dirty="0"/>
          </a:p>
          <a:p>
            <a:pPr marL="0" indent="0">
              <a:buNone/>
            </a:pPr>
            <a:r>
              <a:rPr lang="en-US" sz="1600" dirty="0">
                <a:solidFill>
                  <a:schemeClr val="tx1"/>
                </a:solidFill>
              </a:rPr>
              <a:t>• One failed KS prediction (SIFT-1B)</a:t>
            </a:r>
            <a:endParaRPr lang="en-US" sz="1600" dirty="0"/>
          </a:p>
          <a:p>
            <a:pPr marL="0" indent="0">
              <a:buNone/>
            </a:pPr>
            <a:r>
              <a:rPr lang="en-US" sz="1600" dirty="0">
                <a:solidFill>
                  <a:schemeClr val="tx1"/>
                </a:solidFill>
              </a:rPr>
              <a:t>• Cohere and LAION run as subsets (62 GB RAM)</a:t>
            </a:r>
            <a:endParaRPr lang="en-US" sz="1600" dirty="0"/>
          </a:p>
        </p:txBody>
      </p:sp>
      <p:sp>
        <p:nvSpPr>
          <p:cNvPr id="6" name="Card: Next steps"/>
          <p:cNvSpPr/>
          <p:nvPr/>
        </p:nvSpPr>
        <p:spPr>
          <a:xfrm>
            <a:off x="6263640" y="1280160"/>
            <a:ext cx="5394960" cy="3108960"/>
          </a:xfrm>
          <a:prstGeom prst="roundRect">
            <a:avLst>
              <a:gd name="adj" fmla="val 2353"/>
            </a:avLst>
          </a:prstGeom>
          <a:solidFill>
            <a:srgbClr val="DCEFF3"/>
          </a:solidFill>
          <a:ln w="12700">
            <a:solidFill>
              <a:srgbClr val="DCEFF3"/>
            </a:solidFill>
            <a:prstDash val="solid"/>
          </a:ln>
        </p:spPr>
      </p:sp>
      <p:sp>
        <p:nvSpPr>
          <p:cNvPr id="7" name="Card head: Next steps"/>
          <p:cNvSpPr txBox="1"/>
          <p:nvPr/>
        </p:nvSpPr>
        <p:spPr>
          <a:xfrm>
            <a:off x="6492240" y="1463040"/>
            <a:ext cx="4937760" cy="457200"/>
          </a:xfrm>
          <a:prstGeom prst="rect">
            <a:avLst/>
          </a:prstGeom>
          <a:noFill/>
          <a:ln/>
        </p:spPr>
        <p:txBody>
          <a:bodyPr wrap="square" lIns="0" tIns="0" rIns="0" bIns="0" rtlCol="0" anchor="t"/>
          <a:lstStyle/>
          <a:p>
            <a:pPr marL="0" indent="0">
              <a:buNone/>
            </a:pPr>
            <a:r>
              <a:rPr lang="en-US" sz="1800" b="1" dirty="0">
                <a:solidFill>
                  <a:schemeClr val="tx2"/>
                </a:solidFill>
              </a:rPr>
              <a:t>Next steps</a:t>
            </a:r>
            <a:endParaRPr lang="en-US" sz="1800" dirty="0"/>
          </a:p>
        </p:txBody>
      </p:sp>
      <p:sp>
        <p:nvSpPr>
          <p:cNvPr id="8" name="Card body: Next steps"/>
          <p:cNvSpPr txBox="1"/>
          <p:nvPr/>
        </p:nvSpPr>
        <p:spPr>
          <a:xfrm>
            <a:off x="6492240" y="1965960"/>
            <a:ext cx="4937760" cy="2240280"/>
          </a:xfrm>
          <a:prstGeom prst="rect">
            <a:avLst/>
          </a:prstGeom>
          <a:noFill/>
          <a:ln/>
        </p:spPr>
        <p:txBody>
          <a:bodyPr wrap="square" lIns="0" tIns="0" rIns="0" bIns="0" rtlCol="0" anchor="t"/>
          <a:lstStyle/>
          <a:p>
            <a:pPr marL="0" indent="0">
              <a:buNone/>
            </a:pPr>
            <a:r>
              <a:rPr lang="en-US" sz="1600" dirty="0">
                <a:solidFill>
                  <a:schemeClr val="tx1"/>
                </a:solidFill>
              </a:rPr>
              <a:t>• Understand why Ada-ef's score and table together win the tail on GloVe</a:t>
            </a:r>
            <a:endParaRPr lang="en-US" sz="1600" dirty="0"/>
          </a:p>
          <a:p>
            <a:pPr marL="0" indent="0">
              <a:buNone/>
            </a:pPr>
            <a:r>
              <a:rPr lang="en-US" sz="1600">
                <a:solidFill>
                  <a:schemeClr val="tx1"/>
                </a:solidFill>
              </a:rPr>
              <a:t>• </a:t>
            </a:r>
            <a:r>
              <a:rPr lang="en-US" sz="1600" dirty="0">
                <a:solidFill>
                  <a:schemeClr val="tx1"/>
                </a:solidFill>
              </a:rPr>
              <a:t>arXiv preprint and code release</a:t>
            </a:r>
            <a:endParaRPr lang="en-US" sz="1600" dirty="0"/>
          </a:p>
          <a:p>
            <a:pPr marL="0" indent="0">
              <a:buNone/>
            </a:pPr>
            <a:r>
              <a:rPr lang="en-US" sz="1600" dirty="0">
                <a:solidFill>
                  <a:schemeClr val="tx1"/>
                </a:solidFill>
              </a:rPr>
              <a:t>• Submit: PVLDB Experiments, Analysis &amp; Benchmarks track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737360"/>
          </a:xfrm>
          <a:prstGeom prst="rect">
            <a:avLst/>
          </a:prstGeom>
          <a:noFill/>
          <a:ln/>
        </p:spPr>
        <p:txBody>
          <a:bodyPr wrap="square" lIns="0" tIns="0" rIns="0" bIns="0" rtlCol="0" anchor="b"/>
          <a:lstStyle/>
          <a:p>
            <a:pPr marL="0" indent="0" algn="l">
              <a:buNone/>
            </a:pPr>
            <a:r>
              <a:rPr lang="en-US" sz="3600" b="1" dirty="0">
                <a:solidFill>
                  <a:schemeClr val="bg1"/>
                </a:solidFill>
              </a:rPr>
              <a:t>Measure, don't assume</a:t>
            </a:r>
            <a:endParaRPr lang="en-US" sz="3600" dirty="0"/>
          </a:p>
        </p:txBody>
      </p:sp>
      <p:sp>
        <p:nvSpPr>
          <p:cNvPr id="3" name="Text 0"/>
          <p:cNvSpPr>
            <a:spLocks noGrp="1"/>
          </p:cNvSpPr>
          <p:nvPr>
            <p:ph type="body" idx="101" hasCustomPrompt="1"/>
          </p:nvPr>
        </p:nvSpPr>
        <p:spPr>
          <a:xfrm>
            <a:off x="731520" y="3931920"/>
            <a:ext cx="10698480" cy="2560320"/>
          </a:xfrm>
          <a:prstGeom prst="rect">
            <a:avLst/>
          </a:prstGeom>
          <a:noFill/>
          <a:ln/>
        </p:spPr>
        <p:txBody>
          <a:bodyPr wrap="square" lIns="0" tIns="0" rIns="0" bIns="0" rtlCol="0" anchor="t"/>
          <a:lstStyle/>
          <a:p>
            <a:pPr marL="0" indent="0">
              <a:buNone/>
            </a:pPr>
            <a:r>
              <a:rPr lang="en-US" sz="1800" dirty="0">
                <a:solidFill>
                  <a:schemeClr val="bg2"/>
                </a:solidFill>
              </a:rPr>
              <a:t>Ada-ef's bell-curve assumption fails on 9 of 41 datasets. PercEF measures the thresholds instead: better worst-case recall where the assumption fails, never meaningfully costlier than a tuned fixed ef, and a seconds-long test that says which method to use.</a:t>
            </a:r>
            <a:endParaRPr lang="en-US" sz="1800" dirty="0"/>
          </a:p>
          <a:p>
            <a:pPr marL="0" indent="0">
              <a:buNone/>
            </a:pPr>
            <a:r>
              <a:rPr lang="en-US" sz="1800" b="1" dirty="0">
                <a:solidFill>
                  <a:schemeClr val="bg2"/>
                </a:solidFill>
              </a:rPr>
              <a:t>Thank you. Questions?</a:t>
            </a:r>
            <a:endParaRPr lang="en-US" sz="1800" dirty="0"/>
          </a:p>
        </p:txBody>
      </p:sp>
    </p:spTree>
  </p:cSld>
  <p:clrMapOvr>
    <a:masterClrMapping/>
  </p:clrMapOvr>
</p:sld>
</file>

<file path=ppt/theme/theme1.xml><?xml version="1.0" encoding="utf-8"?>
<a:theme xmlns:a="http://schemas.openxmlformats.org/drawingml/2006/main" name="PercEF">
  <a:themeElements>
    <a:clrScheme name="PercEF">
      <a:dk1>
        <a:srgbClr val="1F2933"/>
      </a:dk1>
      <a:lt1>
        <a:srgbClr val="FFFFFF"/>
      </a:lt1>
      <a:dk2>
        <a:srgbClr val="2D3A82"/>
      </a:dk2>
      <a:lt2>
        <a:srgbClr val="EEF3F5"/>
      </a:lt2>
      <a:accent1>
        <a:srgbClr val="1597AB"/>
      </a:accent1>
      <a:accent2>
        <a:srgbClr val="485B6C"/>
      </a:accent2>
      <a:accent3>
        <a:srgbClr val="2A78D6"/>
      </a:accent3>
      <a:accent4>
        <a:srgbClr val="EB6834"/>
      </a:accent4>
      <a:accent5>
        <a:srgbClr val="1BAF7A"/>
      </a:accent5>
      <a:accent6>
        <a:srgbClr val="8A8984"/>
      </a:accent6>
      <a:hlink>
        <a:srgbClr val="1597AB"/>
      </a:hlink>
      <a:folHlink>
        <a:srgbClr val="485B6C"/>
      </a:folHlink>
    </a:clrScheme>
    <a:fontScheme name="PercE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2463</Words>
  <Application>Microsoft Office PowerPoint</Application>
  <PresentationFormat>Widescreen</PresentationFormat>
  <Paragraphs>296</Paragraphs>
  <Slides>16</Slides>
  <Notes>16</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PercEF</vt:lpstr>
      <vt:lpstr>PercEF: Exploiting Empirical Percentiles for Adaptive HNSW Search Beyond the Gaussian Assumption</vt:lpstr>
      <vt:lpstr>Background: vector search and HNSW</vt:lpstr>
      <vt:lpstr>One ef for every query does not fit</vt:lpstr>
      <vt:lpstr>Existing work: two ways to adapt ef</vt:lpstr>
      <vt:lpstr>Ada-ef assumes a bell curve</vt:lpstr>
      <vt:lpstr>The assumption fails on 9 of 41 datasets</vt:lpstr>
      <vt:lpstr>PercEF: measure the thresholds, don't assume them</vt:lpstr>
      <vt:lpstr>A seconds-long test picks the method</vt:lpstr>
      <vt:lpstr>What is new</vt:lpstr>
      <vt:lpstr>Setup: Ada-ef's protocol, 20 datasets</vt:lpstr>
      <vt:lpstr>Non-Gaussian data: better worst-case recall</vt:lpstr>
      <vt:lpstr>Within 2.5% of a tuned fixed ef's cost</vt:lpstr>
      <vt:lpstr>Two checks: probe length and DARTH</vt:lpstr>
      <vt:lpstr>Tested: our score + Ada-ef's table</vt:lpstr>
      <vt:lpstr>Limits and next steps</vt:lpstr>
      <vt:lpstr>Measure, don't assume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PercEF: Exploiting Empirical Percentiles for Adaptive HNSW Search</dc:title>
  <dc:subject>PptxGenJS Presentation</dc:subject>
  <dc:creator>Pranav Shenvi</dc:creator>
  <cp:lastModifiedBy>adebeo</cp:lastModifiedBy>
  <cp:revision>2</cp:revision>
  <dcterms:created xsi:type="dcterms:W3CDTF">2026-10-07T05:58:20Z</dcterms:created>
  <dcterms:modified xsi:type="dcterms:W3CDTF">2026-10-07T06:16:33Z</dcterms:modified>
</cp:coreProperties>
</file>