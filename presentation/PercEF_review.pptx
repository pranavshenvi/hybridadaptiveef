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e12b81f-295a-bcd8-91b4-93643a26a64f}">
          <p14:sldIdLst>
            <p14:sldId id="256"/>
            <p14:sldId id="257"/>
          </p14:sldIdLst>
        </p14:section>
        <p14:section name="Problem statement" id="{b07e1cfe-a1cf-9aa7-f84a-604d78202583}">
          <p14:sldIdLst>
            <p14:sldId id="258"/>
          </p14:sldIdLst>
        </p14:section>
        <p14:section name="Existing methodology" id="{09dfd33d-7c39-7ed3-4dba-ad8fcd84af2c}">
          <p14:sldIdLst>
            <p14:sldId id="259"/>
            <p14:sldId id="260"/>
          </p14:sldIdLst>
        </p14:section>
        <p14:section name="Our method" id="{061b7509-c03e-a20f-7a3e-1ef1d2623c09}">
          <p14:sldIdLst>
            <p14:sldId id="261"/>
            <p14:sldId id="262"/>
            <p14:sldId id="263"/>
          </p14:sldIdLst>
        </p14:section>
        <p14:section name="Novelty" id="{8ab970e7-33ec-5907-2c5a-a8d6a9ff2652}">
          <p14:sldIdLst>
            <p14:sldId id="264"/>
          </p14:sldIdLst>
        </p14:section>
        <p14:section name="Results" id="{cc73a9a4-29a3-f1c9-e950-8220eae234e8}">
          <p14:sldIdLst>
            <p14:sldId id="265"/>
            <p14:sldId id="266"/>
            <p14:sldId id="267"/>
            <p14:sldId id="268"/>
            <p14:sldId id="269"/>
          </p14:sldIdLst>
        </p14:section>
        <p14:section name="Wrap-up" id="{877fe938-5eb9-e04b-08d0-b5a1d52535c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p1 recall gain over the tuned fixed ef (percentage points)</a:t>
            </a:r>
          </a:p>
        </c:rich>
      </c:tx>
      <c:layout/>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Sheet1!$B$2:$B$9</c:f>
              <c:numCache>
                <c:formatCode>General</c:formatCode>
                <c:ptCount val="8"/>
                <c:pt idx="0">
                  <c:v>8.5</c:v>
                </c:pt>
                <c:pt idx="1">
                  <c:v>7.9</c:v>
                </c:pt>
                <c:pt idx="2">
                  <c:v>3.8</c:v>
                </c:pt>
                <c:pt idx="3">
                  <c:v>3.4</c:v>
                </c:pt>
                <c:pt idx="4">
                  <c:v>2.8</c:v>
                </c:pt>
                <c:pt idx="5">
                  <c:v>1.1</c:v>
                </c:pt>
                <c:pt idx="6">
                  <c:v>0.7</c:v>
                </c:pt>
                <c:pt idx="7">
                  <c:v>-0.9</c:v>
                </c:pt>
              </c:numCache>
            </c:numRef>
          </c:val>
        </c:ser>
        <c:ser>
          <c:idx val="1"/>
          <c:order val="1"/>
          <c:tx>
            <c:strRef>
              <c:f>Sheet1!$C$1</c:f>
              <c:strCache>
                <c:ptCount val="1"/>
                <c:pt idx="0">
                  <c:v>Ada-ef</c:v>
                </c:pt>
              </c:strCache>
            </c:strRef>
          </c:tx>
          <c:spPr>
            <a:solidFill>
              <a:srgbClr val="EB6834"/>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Sheet1!$C$2:$C$9</c:f>
              <c:numCache>
                <c:formatCode>General</c:formatCode>
                <c:ptCount val="8"/>
                <c:pt idx="0">
                  <c:v>4.3</c:v>
                </c:pt>
                <c:pt idx="1">
                  <c:v>4.3</c:v>
                </c:pt>
                <c:pt idx="2">
                  <c:v>0.7</c:v>
                </c:pt>
                <c:pt idx="3">
                  <c:v>0.1</c:v>
                </c:pt>
                <c:pt idx="4">
                  <c:v>0</c:v>
                </c:pt>
                <c:pt idx="5">
                  <c:v>-1.1</c:v>
                </c:pt>
                <c:pt idx="6">
                  <c:v>-0.1</c:v>
                </c:pt>
                <c:pt idx="7">
                  <c:v>-3</c:v>
                </c:pt>
              </c:numCache>
            </c:numRef>
          </c:val>
        </c:ser>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PercEF speed-up over Ada-ef at about the same recall (x, setting R)</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Sheet1!$A$2:$A$14</c:f>
              <c:multiLvlStrCache>
                <c:ptCount val="13"/>
                <c:lvl>
                  <c:pt idx="0">
                    <c:v>Fashion-MNIST</c:v>
                  </c:pt>
                  <c:pt idx="1">
                    <c:v>DBpedia</c:v>
                  </c:pt>
                  <c:pt idx="2">
                    <c:v>COCO-I2I</c:v>
                  </c:pt>
                  <c:pt idx="3">
                    <c:v>LAION</c:v>
                  </c:pt>
                  <c:pt idx="4">
                    <c:v>Yambda</c:v>
                  </c:pt>
                  <c:pt idx="5">
                    <c:v>SIFT-1M</c:v>
                  </c:pt>
                  <c:pt idx="6">
                    <c:v>Yahoo-MiniLM</c:v>
                  </c:pt>
                  <c:pt idx="7">
                    <c:v>Deep1B</c:v>
                  </c:pt>
                  <c:pt idx="8">
                    <c:v>Cohere</c:v>
                  </c:pt>
                  <c:pt idx="9">
                    <c:v>BIGANN</c:v>
                  </c:pt>
                  <c:pt idx="10">
                    <c:v>GIST</c:v>
                  </c:pt>
                  <c:pt idx="11">
                    <c:v>MS Turing</c:v>
                  </c:pt>
                  <c:pt idx="12">
                    <c:v>MS MARCO</c:v>
                  </c:pt>
                </c:lvl>
              </c:multiLvlStrCache>
            </c:multiLvlStrRef>
          </c:cat>
          <c:val>
            <c:numRef>
              <c:f>Sheet1!$B$2:$B$14</c:f>
              <c:numCache>
                <c:formatCode>General</c:formatCode>
                <c:ptCount val="13"/>
                <c:pt idx="0">
                  <c:v>1.78</c:v>
                </c:pt>
                <c:pt idx="1">
                  <c:v>1.38</c:v>
                </c:pt>
                <c:pt idx="2">
                  <c:v>1.37</c:v>
                </c:pt>
                <c:pt idx="3">
                  <c:v>1.34</c:v>
                </c:pt>
                <c:pt idx="4">
                  <c:v>1.31</c:v>
                </c:pt>
                <c:pt idx="5">
                  <c:v>1.24</c:v>
                </c:pt>
                <c:pt idx="6">
                  <c:v>1.22</c:v>
                </c:pt>
                <c:pt idx="7">
                  <c:v>1.2</c:v>
                </c:pt>
                <c:pt idx="8">
                  <c:v>1.18</c:v>
                </c:pt>
                <c:pt idx="9">
                  <c:v>1.11</c:v>
                </c:pt>
                <c:pt idx="10">
                  <c:v>1.1</c:v>
                </c:pt>
                <c:pt idx="11">
                  <c:v>1.08</c:v>
                </c:pt>
                <c:pt idx="12">
                  <c:v>1.03</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Hi, we are [team]. Our project is PercEF: making adaptive vector search work when the data is not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Vector search finds the items closest to a query among millions of embeddings. To be fast, an index like HNSW walks a layered graph from the top down. A setting called ef decides how many candidates the search keeps: more is more accurate, but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Most systems use one ef for every query. Easy queries waste work, and hard queries miss some of their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Existing fixes either train a model per dataset, like DARTH, or, like Ada-ef from SIGMOD 2026, assume that a query's similarities follow a bell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Ada-ef places its difficulty thresholds using that bell curve. Nobody had checked whether real data is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We tested it on 41 datasets. Nine are clearly not bell-shaped, including SIFT and GIST, and you cannot tell from the kind of data. On those, Ada-ef stops adapting.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Our method, PercEF, keeps Ada-ef's design but measures the thresholds from the data's own distance percentiles, with a ten times shorter probe and no covariance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 KS test on the raw vectors, which takes seconds, tells you which method to use. It picked the right one on 18 of 19 datasets, with every prediction written down before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So we contribute the first test of this assumption, a distribution-free score, a cost floor, and an offline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We followed Ada-ef's own protocol on 20 datasets and compared everything against the best fixed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Each pair of bars is a dataset; longer to the right is better. On the non-Gaussian datasets PercEF ranks queries better in every run and beats Ada-ef's worst case in 15 of 16: on DeepImage by 8.5 recall points, against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PercEF does less work than the best fixed ef in 32 of 34 runs, never more than 2.5 percent extra, and is up to 1.8 times faster than Ada-ef. On bell-shaped data it is cheaper and faster than the fixed ef in every run; Ada-ef's advantage there is a larger worst-case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The gain comes from the thresholds, not the shorter probe. The learned method DARTH has a better worst case, but is up to 2.3 times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skipped when presenting) Tested idea that did not hold: PercEF's score with Ada-ef's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On bell-shaped text data Ada-ef gives larger worst-case gains, on short non-Gaussian searches PercEF is slightly slower than the fixed ef, and cross-modal queries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In short: measure the distribution, don't assume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indent="0" marL="0">
              <a:buNone/>
            </a:pPr>
            <a:r>
              <a:rPr lang="en-US" sz="1800" dirty="0">
                <a:solidFill>
                  <a:schemeClr val="bg2"/>
                </a:solidFill>
              </a:rPr>
              <a:t>Project review  ·  Department of Computer Science and Engineering, PES University</a:t>
            </a:r>
            <a:endParaRPr lang="en-US" sz="1800" dirty="0"/>
          </a:p>
          <a:p>
            <a:pPr indent="0" marL="0">
              <a:buNone/>
            </a:pPr>
            <a:r>
              <a:rPr lang="en-US" sz="1800" dirty="0">
                <a:solidFill>
                  <a:schemeClr val="bg2"/>
                </a:solidFill>
              </a:rPr>
              <a:t>Team: Pranav.N.Shenvi, M.G.Shrivardhan Swaroop, Megha H Shah, Kiran Hombal (PhD @ UIUC)   ·   Guide: Dr Shylaja S S</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r>
          <p:cNvPicPr>
            <a:picLocks noChangeAspect="1"/>
          </p:cNvPicPr>
          <p:nvPr/>
        </p:nvPicPr>
        <p:blipFill>
          <a:blip r:embed="rId1"/>
          <a:stretch>
            <a:fillRect/>
          </a:stretch>
        </p:blipFill>
        <p:spPr>
          <a:xfrm>
            <a:off x="868680" y="658368"/>
            <a:ext cx="2468880" cy="12667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Background: vector search and HNSW</a:t>
            </a:r>
            <a:endParaRPr lang="en-US" sz="3200" dirty="0"/>
          </a:p>
        </p:txBody>
      </p:sp>
      <p:sp>
        <p:nvSpPr>
          <p:cNvPr id="3" name="Background text"/>
          <p:cNvSpPr txBox="1"/>
          <p:nvPr/>
        </p:nvSpPr>
        <p:spPr>
          <a:xfrm>
            <a:off x="548640" y="1234440"/>
            <a:ext cx="5394960" cy="4937760"/>
          </a:xfrm>
          <a:prstGeom prst="rect">
            <a:avLst/>
          </a:prstGeom>
          <a:noFill/>
          <a:ln/>
        </p:spPr>
        <p:txBody>
          <a:bodyPr wrap="square" lIns="0" tIns="0" rIns="0" bIns="0" rtlCol="0" anchor="t"/>
          <a:lstStyle/>
          <a:p>
            <a:pPr indent="0" marL="0">
              <a:buNone/>
            </a:pPr>
            <a:r>
              <a:rPr lang="en-US" sz="1500" b="1" dirty="0">
                <a:solidFill>
                  <a:schemeClr val="tx2"/>
                </a:solidFill>
              </a:rPr>
              <a:t>Vector search. </a:t>
            </a:r>
            <a:pPr indent="0" marL="0">
              <a:spcAft>
                <a:spcPts val="1000"/>
              </a:spcAft>
              <a:buNone/>
            </a:pPr>
            <a:r>
              <a:rPr lang="en-US" sz="1500" dirty="0">
                <a:solidFill>
                  <a:schemeClr val="tx1"/>
                </a:solidFill>
              </a:rPr>
              <a:t>Text, images and audio are turned into vectors (embeddings); similar items get nearby vectors. A query is answered by finding its nearest vectors.</a:t>
            </a:r>
            <a:endParaRPr lang="en-US" sz="1500" dirty="0"/>
          </a:p>
          <a:p>
            <a:pPr indent="0" marL="0">
              <a:buNone/>
            </a:pPr>
            <a:r>
              <a:rPr lang="en-US" sz="1500" b="1" dirty="0">
                <a:solidFill>
                  <a:schemeClr val="tx2"/>
                </a:solidFill>
              </a:rPr>
              <a:t>Why it matters. </a:t>
            </a:r>
            <a:pPr indent="0" marL="0">
              <a:spcAft>
                <a:spcPts val="1000"/>
              </a:spcAft>
              <a:buNone/>
            </a:pPr>
            <a:r>
              <a:rPr lang="en-US" sz="1500" dirty="0">
                <a:solidFill>
                  <a:schemeClr val="tx1"/>
                </a:solidFill>
              </a:rPr>
              <a:t>Semantic search, recommendations and retrieval for LLMs (RAG) all run on it.</a:t>
            </a:r>
            <a:endParaRPr lang="en-US" sz="1500" dirty="0"/>
          </a:p>
          <a:p>
            <a:pPr indent="0" marL="0">
              <a:buNone/>
            </a:pPr>
            <a:r>
              <a:rPr lang="en-US" sz="1500" b="1" dirty="0">
                <a:solidFill>
                  <a:schemeClr val="tx2"/>
                </a:solidFill>
              </a:rPr>
              <a:t>Why an index. </a:t>
            </a:r>
            <a:pPr indent="0" marL="0">
              <a:spcAft>
                <a:spcPts val="1000"/>
              </a:spcAft>
              <a:buNone/>
            </a:pPr>
            <a:r>
              <a:rPr lang="en-US" sz="1500" dirty="0">
                <a:solidFill>
                  <a:schemeClr val="tx1"/>
                </a:solidFill>
              </a:rPr>
              <a:t>Comparing a query with millions of vectors is too slow, so an index searches only a small part of the data and returns approximate neighbours.</a:t>
            </a:r>
            <a:endParaRPr lang="en-US" sz="1500" dirty="0"/>
          </a:p>
          <a:p>
            <a:pPr indent="0" marL="0">
              <a:buNone/>
            </a:pPr>
            <a:r>
              <a:rPr lang="en-US" sz="1500" b="1" dirty="0">
                <a:solidFill>
                  <a:schemeClr val="tx2"/>
                </a:solidFill>
              </a:rPr>
              <a:t>HNSW. </a:t>
            </a:r>
            <a:pPr indent="0" marL="0">
              <a:spcAft>
                <a:spcPts val="1000"/>
              </a:spcAft>
              <a:buNone/>
            </a:pPr>
            <a:r>
              <a:rPr lang="en-US" sz="1500" dirty="0">
                <a:solidFill>
                  <a:schemeClr val="tx1"/>
                </a:solidFill>
              </a:rPr>
              <a:t>A layered graph: the search enters at the sparse top layer, moves towards the query and drops down a layer at a time.</a:t>
            </a:r>
            <a:endParaRPr lang="en-US" sz="1500" dirty="0"/>
          </a:p>
          <a:p>
            <a:pPr indent="0" marL="0">
              <a:buNone/>
            </a:pPr>
            <a:r>
              <a:rPr lang="en-US" sz="1500" b="1" dirty="0">
                <a:solidFill>
                  <a:schemeClr val="accent1"/>
                </a:solidFill>
              </a:rPr>
              <a:t>ef. </a:t>
            </a:r>
            <a:pPr indent="0" marL="0">
              <a:buNone/>
            </a:pPr>
            <a:r>
              <a:rPr lang="en-US" sz="1500" dirty="0">
                <a:solidFill>
                  <a:schemeClr val="tx1"/>
                </a:solidFill>
              </a:rPr>
              <a:t>How many candidates the bottom-layer search keeps. Larger ef: more accurate, but slower.</a:t>
            </a:r>
            <a:endParaRPr lang="en-US" sz="1500" dirty="0"/>
          </a:p>
        </p:txBody>
      </p:sp>
      <p:sp>
        <p:nvSpPr>
          <p:cNvPr id="4" name="HNSW Layer 2: few nodes"/>
          <p:cNvSpPr/>
          <p:nvPr/>
        </p:nvSpPr>
        <p:spPr>
          <a:xfrm>
            <a:off x="6355080" y="1280160"/>
            <a:ext cx="5303520" cy="1188720"/>
          </a:xfrm>
          <a:prstGeom prst="roundRect">
            <a:avLst>
              <a:gd name="adj" fmla="val 6154"/>
            </a:avLst>
          </a:prstGeom>
          <a:solidFill>
            <a:schemeClr val="bg2"/>
          </a:solidFill>
          <a:ln w="12700">
            <a:solidFill>
              <a:schemeClr val="bg2"/>
            </a:solidFill>
            <a:prstDash val="solid"/>
          </a:ln>
        </p:spPr>
      </p:sp>
      <p:sp>
        <p:nvSpPr>
          <p:cNvPr id="5" name="HNSW label 0"/>
          <p:cNvSpPr txBox="1"/>
          <p:nvPr/>
        </p:nvSpPr>
        <p:spPr>
          <a:xfrm>
            <a:off x="6464808" y="132588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2: few nodes</a:t>
            </a:r>
            <a:endParaRPr lang="en-US" sz="1100" dirty="0"/>
          </a:p>
        </p:txBody>
      </p:sp>
      <p:sp>
        <p:nvSpPr>
          <p:cNvPr id="6" name="HNSW edge 0-1"/>
          <p:cNvSpPr/>
          <p:nvPr/>
        </p:nvSpPr>
        <p:spPr>
          <a:xfrm>
            <a:off x="7452360" y="1965960"/>
            <a:ext cx="1645920" cy="914"/>
          </a:xfrm>
          <a:prstGeom prst="line">
            <a:avLst/>
          </a:prstGeom>
          <a:noFill/>
          <a:ln w="12700">
            <a:solidFill>
              <a:srgbClr val="C9CED3"/>
            </a:solidFill>
            <a:prstDash val="solid"/>
          </a:ln>
        </p:spPr>
      </p:sp>
      <p:sp>
        <p:nvSpPr>
          <p:cNvPr id="7" name="HNSW edge 0-2"/>
          <p:cNvSpPr/>
          <p:nvPr/>
        </p:nvSpPr>
        <p:spPr>
          <a:xfrm>
            <a:off x="9098280" y="1965960"/>
            <a:ext cx="1645920" cy="914"/>
          </a:xfrm>
          <a:prstGeom prst="line">
            <a:avLst/>
          </a:prstGeom>
          <a:noFill/>
          <a:ln w="12700">
            <a:solidFill>
              <a:srgbClr val="C9CED3"/>
            </a:solidFill>
            <a:prstDash val="solid"/>
          </a:ln>
        </p:spPr>
      </p:sp>
      <p:sp>
        <p:nvSpPr>
          <p:cNvPr id="8" name="HNSW Layer 1"/>
          <p:cNvSpPr/>
          <p:nvPr/>
        </p:nvSpPr>
        <p:spPr>
          <a:xfrm>
            <a:off x="6355080" y="2697480"/>
            <a:ext cx="5303520" cy="1188720"/>
          </a:xfrm>
          <a:prstGeom prst="roundRect">
            <a:avLst>
              <a:gd name="adj" fmla="val 6154"/>
            </a:avLst>
          </a:prstGeom>
          <a:solidFill>
            <a:schemeClr val="bg2"/>
          </a:solidFill>
          <a:ln w="12700">
            <a:solidFill>
              <a:schemeClr val="bg2"/>
            </a:solidFill>
            <a:prstDash val="solid"/>
          </a:ln>
        </p:spPr>
      </p:sp>
      <p:sp>
        <p:nvSpPr>
          <p:cNvPr id="9" name="HNSW label 1"/>
          <p:cNvSpPr txBox="1"/>
          <p:nvPr/>
        </p:nvSpPr>
        <p:spPr>
          <a:xfrm>
            <a:off x="6464808" y="274320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1</a:t>
            </a:r>
            <a:endParaRPr lang="en-US" sz="1100" dirty="0"/>
          </a:p>
        </p:txBody>
      </p:sp>
      <p:sp>
        <p:nvSpPr>
          <p:cNvPr id="10" name="HNSW edge 1-1"/>
          <p:cNvSpPr/>
          <p:nvPr/>
        </p:nvSpPr>
        <p:spPr>
          <a:xfrm>
            <a:off x="6629400" y="3291840"/>
            <a:ext cx="822960" cy="182880"/>
          </a:xfrm>
          <a:prstGeom prst="line">
            <a:avLst/>
          </a:prstGeom>
          <a:noFill/>
          <a:ln w="12700">
            <a:solidFill>
              <a:srgbClr val="C9CED3"/>
            </a:solidFill>
            <a:prstDash val="solid"/>
          </a:ln>
        </p:spPr>
      </p:sp>
      <p:sp>
        <p:nvSpPr>
          <p:cNvPr id="11" name="HNSW edge 1-2"/>
          <p:cNvSpPr/>
          <p:nvPr/>
        </p:nvSpPr>
        <p:spPr>
          <a:xfrm flipV="1">
            <a:off x="7452360" y="3291840"/>
            <a:ext cx="822960" cy="182880"/>
          </a:xfrm>
          <a:prstGeom prst="line">
            <a:avLst/>
          </a:prstGeom>
          <a:noFill/>
          <a:ln w="12700">
            <a:solidFill>
              <a:srgbClr val="C9CED3"/>
            </a:solidFill>
            <a:prstDash val="solid"/>
          </a:ln>
        </p:spPr>
      </p:sp>
      <p:sp>
        <p:nvSpPr>
          <p:cNvPr id="12" name="HNSW edge 1-3"/>
          <p:cNvSpPr/>
          <p:nvPr/>
        </p:nvSpPr>
        <p:spPr>
          <a:xfrm>
            <a:off x="8275320" y="3291840"/>
            <a:ext cx="822960" cy="182880"/>
          </a:xfrm>
          <a:prstGeom prst="line">
            <a:avLst/>
          </a:prstGeom>
          <a:noFill/>
          <a:ln w="12700">
            <a:solidFill>
              <a:srgbClr val="C9CED3"/>
            </a:solidFill>
            <a:prstDash val="solid"/>
          </a:ln>
        </p:spPr>
      </p:sp>
      <p:sp>
        <p:nvSpPr>
          <p:cNvPr id="13" name="HNSW edge 1-4"/>
          <p:cNvSpPr/>
          <p:nvPr/>
        </p:nvSpPr>
        <p:spPr>
          <a:xfrm flipV="1">
            <a:off x="9098280" y="3291840"/>
            <a:ext cx="822960" cy="182880"/>
          </a:xfrm>
          <a:prstGeom prst="line">
            <a:avLst/>
          </a:prstGeom>
          <a:noFill/>
          <a:ln w="12700">
            <a:solidFill>
              <a:srgbClr val="C9CED3"/>
            </a:solidFill>
            <a:prstDash val="solid"/>
          </a:ln>
        </p:spPr>
      </p:sp>
      <p:sp>
        <p:nvSpPr>
          <p:cNvPr id="14" name="HNSW edge 1-5"/>
          <p:cNvSpPr/>
          <p:nvPr/>
        </p:nvSpPr>
        <p:spPr>
          <a:xfrm>
            <a:off x="9921240" y="3291840"/>
            <a:ext cx="822960" cy="182880"/>
          </a:xfrm>
          <a:prstGeom prst="line">
            <a:avLst/>
          </a:prstGeom>
          <a:noFill/>
          <a:ln w="12700">
            <a:solidFill>
              <a:srgbClr val="C9CED3"/>
            </a:solidFill>
            <a:prstDash val="solid"/>
          </a:ln>
        </p:spPr>
      </p:sp>
      <p:sp>
        <p:nvSpPr>
          <p:cNvPr id="15" name="HNSW Layer 0: every vector"/>
          <p:cNvSpPr/>
          <p:nvPr/>
        </p:nvSpPr>
        <p:spPr>
          <a:xfrm>
            <a:off x="6355080" y="4114800"/>
            <a:ext cx="5303520" cy="1188720"/>
          </a:xfrm>
          <a:prstGeom prst="roundRect">
            <a:avLst>
              <a:gd name="adj" fmla="val 6154"/>
            </a:avLst>
          </a:prstGeom>
          <a:solidFill>
            <a:schemeClr val="bg2"/>
          </a:solidFill>
          <a:ln w="12700">
            <a:solidFill>
              <a:schemeClr val="bg2"/>
            </a:solidFill>
            <a:prstDash val="solid"/>
          </a:ln>
        </p:spPr>
      </p:sp>
      <p:sp>
        <p:nvSpPr>
          <p:cNvPr id="16" name="HNSW label 2"/>
          <p:cNvSpPr txBox="1"/>
          <p:nvPr/>
        </p:nvSpPr>
        <p:spPr>
          <a:xfrm>
            <a:off x="6464808" y="416052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0: every vector</a:t>
            </a:r>
            <a:endParaRPr lang="en-US" sz="1100" dirty="0"/>
          </a:p>
        </p:txBody>
      </p:sp>
      <p:sp>
        <p:nvSpPr>
          <p:cNvPr id="17" name="HNSW edge 2-1"/>
          <p:cNvSpPr/>
          <p:nvPr/>
        </p:nvSpPr>
        <p:spPr>
          <a:xfrm>
            <a:off x="6629400" y="4690872"/>
            <a:ext cx="411480" cy="274320"/>
          </a:xfrm>
          <a:prstGeom prst="line">
            <a:avLst/>
          </a:prstGeom>
          <a:noFill/>
          <a:ln w="12700">
            <a:solidFill>
              <a:srgbClr val="C9CED3"/>
            </a:solidFill>
            <a:prstDash val="solid"/>
          </a:ln>
        </p:spPr>
      </p:sp>
      <p:sp>
        <p:nvSpPr>
          <p:cNvPr id="18" name="HNSW edge 2-2"/>
          <p:cNvSpPr/>
          <p:nvPr/>
        </p:nvSpPr>
        <p:spPr>
          <a:xfrm flipV="1">
            <a:off x="7040880" y="4690872"/>
            <a:ext cx="411480" cy="274320"/>
          </a:xfrm>
          <a:prstGeom prst="line">
            <a:avLst/>
          </a:prstGeom>
          <a:noFill/>
          <a:ln w="12700">
            <a:solidFill>
              <a:srgbClr val="C9CED3"/>
            </a:solidFill>
            <a:prstDash val="solid"/>
          </a:ln>
        </p:spPr>
      </p:sp>
      <p:sp>
        <p:nvSpPr>
          <p:cNvPr id="19" name="HNSW edge 2-3"/>
          <p:cNvSpPr/>
          <p:nvPr/>
        </p:nvSpPr>
        <p:spPr>
          <a:xfrm>
            <a:off x="7452360" y="4690872"/>
            <a:ext cx="411480" cy="274320"/>
          </a:xfrm>
          <a:prstGeom prst="line">
            <a:avLst/>
          </a:prstGeom>
          <a:noFill/>
          <a:ln w="12700">
            <a:solidFill>
              <a:srgbClr val="C9CED3"/>
            </a:solidFill>
            <a:prstDash val="solid"/>
          </a:ln>
        </p:spPr>
      </p:sp>
      <p:sp>
        <p:nvSpPr>
          <p:cNvPr id="20" name="HNSW edge 2-4"/>
          <p:cNvSpPr/>
          <p:nvPr/>
        </p:nvSpPr>
        <p:spPr>
          <a:xfrm flipV="1">
            <a:off x="7863840" y="4690872"/>
            <a:ext cx="411480" cy="274320"/>
          </a:xfrm>
          <a:prstGeom prst="line">
            <a:avLst/>
          </a:prstGeom>
          <a:noFill/>
          <a:ln w="12700">
            <a:solidFill>
              <a:srgbClr val="C9CED3"/>
            </a:solidFill>
            <a:prstDash val="solid"/>
          </a:ln>
        </p:spPr>
      </p:sp>
      <p:sp>
        <p:nvSpPr>
          <p:cNvPr id="21" name="HNSW edge 2-5"/>
          <p:cNvSpPr/>
          <p:nvPr/>
        </p:nvSpPr>
        <p:spPr>
          <a:xfrm>
            <a:off x="8275320" y="4690872"/>
            <a:ext cx="411480" cy="274320"/>
          </a:xfrm>
          <a:prstGeom prst="line">
            <a:avLst/>
          </a:prstGeom>
          <a:noFill/>
          <a:ln w="12700">
            <a:solidFill>
              <a:srgbClr val="C9CED3"/>
            </a:solidFill>
            <a:prstDash val="solid"/>
          </a:ln>
        </p:spPr>
      </p:sp>
      <p:sp>
        <p:nvSpPr>
          <p:cNvPr id="22" name="HNSW edge 2-6"/>
          <p:cNvSpPr/>
          <p:nvPr/>
        </p:nvSpPr>
        <p:spPr>
          <a:xfrm flipV="1">
            <a:off x="8686800" y="4690872"/>
            <a:ext cx="411480" cy="274320"/>
          </a:xfrm>
          <a:prstGeom prst="line">
            <a:avLst/>
          </a:prstGeom>
          <a:noFill/>
          <a:ln w="12700">
            <a:solidFill>
              <a:srgbClr val="C9CED3"/>
            </a:solidFill>
            <a:prstDash val="solid"/>
          </a:ln>
        </p:spPr>
      </p:sp>
      <p:sp>
        <p:nvSpPr>
          <p:cNvPr id="23" name="HNSW edge 2-7"/>
          <p:cNvSpPr/>
          <p:nvPr/>
        </p:nvSpPr>
        <p:spPr>
          <a:xfrm>
            <a:off x="9098280" y="4690872"/>
            <a:ext cx="411480" cy="274320"/>
          </a:xfrm>
          <a:prstGeom prst="line">
            <a:avLst/>
          </a:prstGeom>
          <a:noFill/>
          <a:ln w="12700">
            <a:solidFill>
              <a:srgbClr val="C9CED3"/>
            </a:solidFill>
            <a:prstDash val="solid"/>
          </a:ln>
        </p:spPr>
      </p:sp>
      <p:sp>
        <p:nvSpPr>
          <p:cNvPr id="24" name="HNSW edge 2-8"/>
          <p:cNvSpPr/>
          <p:nvPr/>
        </p:nvSpPr>
        <p:spPr>
          <a:xfrm flipV="1">
            <a:off x="9509760" y="4690872"/>
            <a:ext cx="411480" cy="274320"/>
          </a:xfrm>
          <a:prstGeom prst="line">
            <a:avLst/>
          </a:prstGeom>
          <a:noFill/>
          <a:ln w="12700">
            <a:solidFill>
              <a:srgbClr val="C9CED3"/>
            </a:solidFill>
            <a:prstDash val="solid"/>
          </a:ln>
        </p:spPr>
      </p:sp>
      <p:sp>
        <p:nvSpPr>
          <p:cNvPr id="25" name="HNSW edge 2-9"/>
          <p:cNvSpPr/>
          <p:nvPr/>
        </p:nvSpPr>
        <p:spPr>
          <a:xfrm>
            <a:off x="9921240" y="4690872"/>
            <a:ext cx="411480" cy="274320"/>
          </a:xfrm>
          <a:prstGeom prst="line">
            <a:avLst/>
          </a:prstGeom>
          <a:noFill/>
          <a:ln w="12700">
            <a:solidFill>
              <a:srgbClr val="C9CED3"/>
            </a:solidFill>
            <a:prstDash val="solid"/>
          </a:ln>
        </p:spPr>
      </p:sp>
      <p:sp>
        <p:nvSpPr>
          <p:cNvPr id="26" name="HNSW edge 2-10"/>
          <p:cNvSpPr/>
          <p:nvPr/>
        </p:nvSpPr>
        <p:spPr>
          <a:xfrm flipV="1">
            <a:off x="10332720" y="4690872"/>
            <a:ext cx="411480" cy="274320"/>
          </a:xfrm>
          <a:prstGeom prst="line">
            <a:avLst/>
          </a:prstGeom>
          <a:noFill/>
          <a:ln w="12700">
            <a:solidFill>
              <a:srgbClr val="C9CED3"/>
            </a:solidFill>
            <a:prstDash val="solid"/>
          </a:ln>
        </p:spPr>
      </p:sp>
      <p:sp>
        <p:nvSpPr>
          <p:cNvPr id="27" name="HNSW edge 2-11"/>
          <p:cNvSpPr/>
          <p:nvPr/>
        </p:nvSpPr>
        <p:spPr>
          <a:xfrm>
            <a:off x="10744200" y="4690872"/>
            <a:ext cx="411480" cy="274320"/>
          </a:xfrm>
          <a:prstGeom prst="line">
            <a:avLst/>
          </a:prstGeom>
          <a:noFill/>
          <a:ln w="12700">
            <a:solidFill>
              <a:srgbClr val="C9CED3"/>
            </a:solidFill>
            <a:prstDash val="solid"/>
          </a:ln>
        </p:spPr>
      </p:sp>
      <p:sp>
        <p:nvSpPr>
          <p:cNvPr id="28" name="HNSW ef window"/>
          <p:cNvSpPr/>
          <p:nvPr/>
        </p:nvSpPr>
        <p:spPr>
          <a:xfrm>
            <a:off x="9326880" y="4498848"/>
            <a:ext cx="1645920" cy="685800"/>
          </a:xfrm>
          <a:prstGeom prst="roundRect">
            <a:avLst>
              <a:gd name="adj" fmla="val 16000"/>
            </a:avLst>
          </a:prstGeom>
          <a:solidFill>
            <a:schemeClr val="accent1">
              <a:alpha val="25000"/>
            </a:schemeClr>
          </a:solidFill>
          <a:ln w="15875">
            <a:solidFill>
              <a:schemeClr val="accent1"/>
            </a:solidFill>
            <a:prstDash val="solid"/>
          </a:ln>
        </p:spPr>
      </p:sp>
      <p:sp>
        <p:nvSpPr>
          <p:cNvPr id="29" name="HNSW ef label"/>
          <p:cNvSpPr txBox="1"/>
          <p:nvPr/>
        </p:nvSpPr>
        <p:spPr>
          <a:xfrm>
            <a:off x="9326880" y="5193792"/>
            <a:ext cx="1645920" cy="256032"/>
          </a:xfrm>
          <a:prstGeom prst="rect">
            <a:avLst/>
          </a:prstGeom>
          <a:noFill/>
          <a:ln/>
        </p:spPr>
        <p:txBody>
          <a:bodyPr wrap="square" lIns="0" tIns="0" rIns="0" bIns="0" rtlCol="0" anchor="ctr"/>
          <a:lstStyle/>
          <a:p>
            <a:pPr algn="ctr" indent="0" marL="0">
              <a:buNone/>
            </a:pPr>
            <a:r>
              <a:rPr lang="en-US" sz="1100" b="1" dirty="0">
                <a:solidFill>
                  <a:schemeClr val="accent1"/>
                </a:solidFill>
              </a:rPr>
              <a:t>ef candidates</a:t>
            </a:r>
            <a:endParaRPr lang="en-US" sz="1100" dirty="0"/>
          </a:p>
        </p:txBody>
      </p:sp>
      <p:sp>
        <p:nvSpPr>
          <p:cNvPr id="30" name="HNSW node 0-2"/>
          <p:cNvSpPr/>
          <p:nvPr/>
        </p:nvSpPr>
        <p:spPr>
          <a:xfrm>
            <a:off x="7370064" y="1883664"/>
            <a:ext cx="164592" cy="164592"/>
          </a:xfrm>
          <a:prstGeom prst="ellipse">
            <a:avLst/>
          </a:prstGeom>
          <a:solidFill>
            <a:schemeClr val="accent2"/>
          </a:solidFill>
          <a:ln w="12700">
            <a:solidFill>
              <a:schemeClr val="bg1"/>
            </a:solidFill>
            <a:prstDash val="solid"/>
          </a:ln>
        </p:spPr>
      </p:sp>
      <p:sp>
        <p:nvSpPr>
          <p:cNvPr id="31" name="HNSW node 0-6"/>
          <p:cNvSpPr/>
          <p:nvPr/>
        </p:nvSpPr>
        <p:spPr>
          <a:xfrm>
            <a:off x="9015984" y="1883664"/>
            <a:ext cx="164592" cy="164592"/>
          </a:xfrm>
          <a:prstGeom prst="ellipse">
            <a:avLst/>
          </a:prstGeom>
          <a:solidFill>
            <a:schemeClr val="accent2"/>
          </a:solidFill>
          <a:ln w="12700">
            <a:solidFill>
              <a:schemeClr val="bg1"/>
            </a:solidFill>
            <a:prstDash val="solid"/>
          </a:ln>
        </p:spPr>
      </p:sp>
      <p:sp>
        <p:nvSpPr>
          <p:cNvPr id="32" name="HNSW node 0-10"/>
          <p:cNvSpPr/>
          <p:nvPr/>
        </p:nvSpPr>
        <p:spPr>
          <a:xfrm>
            <a:off x="10661904" y="1883664"/>
            <a:ext cx="164592" cy="164592"/>
          </a:xfrm>
          <a:prstGeom prst="ellipse">
            <a:avLst/>
          </a:prstGeom>
          <a:solidFill>
            <a:schemeClr val="accent2"/>
          </a:solidFill>
          <a:ln w="12700">
            <a:solidFill>
              <a:schemeClr val="bg1"/>
            </a:solidFill>
            <a:prstDash val="solid"/>
          </a:ln>
        </p:spPr>
      </p:sp>
      <p:sp>
        <p:nvSpPr>
          <p:cNvPr id="33" name="HNSW node 1-0"/>
          <p:cNvSpPr/>
          <p:nvPr/>
        </p:nvSpPr>
        <p:spPr>
          <a:xfrm>
            <a:off x="6547104" y="3209544"/>
            <a:ext cx="164592" cy="164592"/>
          </a:xfrm>
          <a:prstGeom prst="ellipse">
            <a:avLst/>
          </a:prstGeom>
          <a:solidFill>
            <a:schemeClr val="accent2"/>
          </a:solidFill>
          <a:ln w="12700">
            <a:solidFill>
              <a:schemeClr val="bg1"/>
            </a:solidFill>
            <a:prstDash val="solid"/>
          </a:ln>
        </p:spPr>
      </p:sp>
      <p:sp>
        <p:nvSpPr>
          <p:cNvPr id="34" name="HNSW node 1-2"/>
          <p:cNvSpPr/>
          <p:nvPr/>
        </p:nvSpPr>
        <p:spPr>
          <a:xfrm>
            <a:off x="7370064" y="3392424"/>
            <a:ext cx="164592" cy="164592"/>
          </a:xfrm>
          <a:prstGeom prst="ellipse">
            <a:avLst/>
          </a:prstGeom>
          <a:solidFill>
            <a:schemeClr val="accent2"/>
          </a:solidFill>
          <a:ln w="12700">
            <a:solidFill>
              <a:schemeClr val="bg1"/>
            </a:solidFill>
            <a:prstDash val="solid"/>
          </a:ln>
        </p:spPr>
      </p:sp>
      <p:sp>
        <p:nvSpPr>
          <p:cNvPr id="35" name="HNSW node 1-4"/>
          <p:cNvSpPr/>
          <p:nvPr/>
        </p:nvSpPr>
        <p:spPr>
          <a:xfrm>
            <a:off x="8193024" y="3209544"/>
            <a:ext cx="164592" cy="164592"/>
          </a:xfrm>
          <a:prstGeom prst="ellipse">
            <a:avLst/>
          </a:prstGeom>
          <a:solidFill>
            <a:schemeClr val="accent2"/>
          </a:solidFill>
          <a:ln w="12700">
            <a:solidFill>
              <a:schemeClr val="bg1"/>
            </a:solidFill>
            <a:prstDash val="solid"/>
          </a:ln>
        </p:spPr>
      </p:sp>
      <p:sp>
        <p:nvSpPr>
          <p:cNvPr id="36" name="HNSW node 1-6"/>
          <p:cNvSpPr/>
          <p:nvPr/>
        </p:nvSpPr>
        <p:spPr>
          <a:xfrm>
            <a:off x="9015984" y="3392424"/>
            <a:ext cx="164592" cy="164592"/>
          </a:xfrm>
          <a:prstGeom prst="ellipse">
            <a:avLst/>
          </a:prstGeom>
          <a:solidFill>
            <a:schemeClr val="accent2"/>
          </a:solidFill>
          <a:ln w="12700">
            <a:solidFill>
              <a:schemeClr val="bg1"/>
            </a:solidFill>
            <a:prstDash val="solid"/>
          </a:ln>
        </p:spPr>
      </p:sp>
      <p:sp>
        <p:nvSpPr>
          <p:cNvPr id="37" name="HNSW node 1-8"/>
          <p:cNvSpPr/>
          <p:nvPr/>
        </p:nvSpPr>
        <p:spPr>
          <a:xfrm>
            <a:off x="9838944" y="3209544"/>
            <a:ext cx="164592" cy="164592"/>
          </a:xfrm>
          <a:prstGeom prst="ellipse">
            <a:avLst/>
          </a:prstGeom>
          <a:solidFill>
            <a:schemeClr val="accent2"/>
          </a:solidFill>
          <a:ln w="12700">
            <a:solidFill>
              <a:schemeClr val="bg1"/>
            </a:solidFill>
            <a:prstDash val="solid"/>
          </a:ln>
        </p:spPr>
      </p:sp>
      <p:sp>
        <p:nvSpPr>
          <p:cNvPr id="38" name="HNSW node 1-10"/>
          <p:cNvSpPr/>
          <p:nvPr/>
        </p:nvSpPr>
        <p:spPr>
          <a:xfrm>
            <a:off x="10661904" y="3392424"/>
            <a:ext cx="164592" cy="164592"/>
          </a:xfrm>
          <a:prstGeom prst="ellipse">
            <a:avLst/>
          </a:prstGeom>
          <a:solidFill>
            <a:schemeClr val="accent2"/>
          </a:solidFill>
          <a:ln w="12700">
            <a:solidFill>
              <a:schemeClr val="bg1"/>
            </a:solidFill>
            <a:prstDash val="solid"/>
          </a:ln>
        </p:spPr>
      </p:sp>
      <p:sp>
        <p:nvSpPr>
          <p:cNvPr id="39" name="HNSW node 2-0"/>
          <p:cNvSpPr/>
          <p:nvPr/>
        </p:nvSpPr>
        <p:spPr>
          <a:xfrm>
            <a:off x="6547104" y="4608576"/>
            <a:ext cx="164592" cy="164592"/>
          </a:xfrm>
          <a:prstGeom prst="ellipse">
            <a:avLst/>
          </a:prstGeom>
          <a:solidFill>
            <a:schemeClr val="accent2"/>
          </a:solidFill>
          <a:ln w="12700">
            <a:solidFill>
              <a:schemeClr val="bg1"/>
            </a:solidFill>
            <a:prstDash val="solid"/>
          </a:ln>
        </p:spPr>
      </p:sp>
      <p:sp>
        <p:nvSpPr>
          <p:cNvPr id="40" name="HNSW node 2-1"/>
          <p:cNvSpPr/>
          <p:nvPr/>
        </p:nvSpPr>
        <p:spPr>
          <a:xfrm>
            <a:off x="6958584" y="4882896"/>
            <a:ext cx="164592" cy="164592"/>
          </a:xfrm>
          <a:prstGeom prst="ellipse">
            <a:avLst/>
          </a:prstGeom>
          <a:solidFill>
            <a:schemeClr val="accent2"/>
          </a:solidFill>
          <a:ln w="12700">
            <a:solidFill>
              <a:schemeClr val="bg1"/>
            </a:solidFill>
            <a:prstDash val="solid"/>
          </a:ln>
        </p:spPr>
      </p:sp>
      <p:sp>
        <p:nvSpPr>
          <p:cNvPr id="41" name="HNSW node 2-2"/>
          <p:cNvSpPr/>
          <p:nvPr/>
        </p:nvSpPr>
        <p:spPr>
          <a:xfrm>
            <a:off x="7370064" y="4608576"/>
            <a:ext cx="164592" cy="164592"/>
          </a:xfrm>
          <a:prstGeom prst="ellipse">
            <a:avLst/>
          </a:prstGeom>
          <a:solidFill>
            <a:schemeClr val="accent2"/>
          </a:solidFill>
          <a:ln w="12700">
            <a:solidFill>
              <a:schemeClr val="bg1"/>
            </a:solidFill>
            <a:prstDash val="solid"/>
          </a:ln>
        </p:spPr>
      </p:sp>
      <p:sp>
        <p:nvSpPr>
          <p:cNvPr id="42" name="HNSW node 2-3"/>
          <p:cNvSpPr/>
          <p:nvPr/>
        </p:nvSpPr>
        <p:spPr>
          <a:xfrm>
            <a:off x="7781544" y="4882896"/>
            <a:ext cx="164592" cy="164592"/>
          </a:xfrm>
          <a:prstGeom prst="ellipse">
            <a:avLst/>
          </a:prstGeom>
          <a:solidFill>
            <a:schemeClr val="accent2"/>
          </a:solidFill>
          <a:ln w="12700">
            <a:solidFill>
              <a:schemeClr val="bg1"/>
            </a:solidFill>
            <a:prstDash val="solid"/>
          </a:ln>
        </p:spPr>
      </p:sp>
      <p:sp>
        <p:nvSpPr>
          <p:cNvPr id="43" name="HNSW node 2-4"/>
          <p:cNvSpPr/>
          <p:nvPr/>
        </p:nvSpPr>
        <p:spPr>
          <a:xfrm>
            <a:off x="8193024" y="4608576"/>
            <a:ext cx="164592" cy="164592"/>
          </a:xfrm>
          <a:prstGeom prst="ellipse">
            <a:avLst/>
          </a:prstGeom>
          <a:solidFill>
            <a:schemeClr val="accent2"/>
          </a:solidFill>
          <a:ln w="12700">
            <a:solidFill>
              <a:schemeClr val="bg1"/>
            </a:solidFill>
            <a:prstDash val="solid"/>
          </a:ln>
        </p:spPr>
      </p:sp>
      <p:sp>
        <p:nvSpPr>
          <p:cNvPr id="44" name="HNSW node 2-5"/>
          <p:cNvSpPr/>
          <p:nvPr/>
        </p:nvSpPr>
        <p:spPr>
          <a:xfrm>
            <a:off x="8604504" y="4882896"/>
            <a:ext cx="164592" cy="164592"/>
          </a:xfrm>
          <a:prstGeom prst="ellipse">
            <a:avLst/>
          </a:prstGeom>
          <a:solidFill>
            <a:schemeClr val="accent2"/>
          </a:solidFill>
          <a:ln w="12700">
            <a:solidFill>
              <a:schemeClr val="bg1"/>
            </a:solidFill>
            <a:prstDash val="solid"/>
          </a:ln>
        </p:spPr>
      </p:sp>
      <p:sp>
        <p:nvSpPr>
          <p:cNvPr id="45" name="HNSW node 2-6"/>
          <p:cNvSpPr/>
          <p:nvPr/>
        </p:nvSpPr>
        <p:spPr>
          <a:xfrm>
            <a:off x="9015984" y="4608576"/>
            <a:ext cx="164592" cy="164592"/>
          </a:xfrm>
          <a:prstGeom prst="ellipse">
            <a:avLst/>
          </a:prstGeom>
          <a:solidFill>
            <a:schemeClr val="accent2"/>
          </a:solidFill>
          <a:ln w="12700">
            <a:solidFill>
              <a:schemeClr val="bg1"/>
            </a:solidFill>
            <a:prstDash val="solid"/>
          </a:ln>
        </p:spPr>
      </p:sp>
      <p:sp>
        <p:nvSpPr>
          <p:cNvPr id="46" name="HNSW node 2-7"/>
          <p:cNvSpPr/>
          <p:nvPr/>
        </p:nvSpPr>
        <p:spPr>
          <a:xfrm>
            <a:off x="9427464" y="4882896"/>
            <a:ext cx="164592" cy="164592"/>
          </a:xfrm>
          <a:prstGeom prst="ellipse">
            <a:avLst/>
          </a:prstGeom>
          <a:solidFill>
            <a:schemeClr val="accent2"/>
          </a:solidFill>
          <a:ln w="12700">
            <a:solidFill>
              <a:schemeClr val="bg1"/>
            </a:solidFill>
            <a:prstDash val="solid"/>
          </a:ln>
        </p:spPr>
      </p:sp>
      <p:sp>
        <p:nvSpPr>
          <p:cNvPr id="47" name="HNSW node 2-8"/>
          <p:cNvSpPr/>
          <p:nvPr/>
        </p:nvSpPr>
        <p:spPr>
          <a:xfrm>
            <a:off x="9838944" y="4608576"/>
            <a:ext cx="164592" cy="164592"/>
          </a:xfrm>
          <a:prstGeom prst="ellipse">
            <a:avLst/>
          </a:prstGeom>
          <a:solidFill>
            <a:schemeClr val="accent2"/>
          </a:solidFill>
          <a:ln w="12700">
            <a:solidFill>
              <a:schemeClr val="bg1"/>
            </a:solidFill>
            <a:prstDash val="solid"/>
          </a:ln>
        </p:spPr>
      </p:sp>
      <p:sp>
        <p:nvSpPr>
          <p:cNvPr id="48" name="HNSW node 2-9"/>
          <p:cNvSpPr/>
          <p:nvPr/>
        </p:nvSpPr>
        <p:spPr>
          <a:xfrm>
            <a:off x="10250424" y="4882896"/>
            <a:ext cx="164592" cy="164592"/>
          </a:xfrm>
          <a:prstGeom prst="ellipse">
            <a:avLst/>
          </a:prstGeom>
          <a:solidFill>
            <a:schemeClr val="accent2"/>
          </a:solidFill>
          <a:ln w="12700">
            <a:solidFill>
              <a:schemeClr val="bg1"/>
            </a:solidFill>
            <a:prstDash val="solid"/>
          </a:ln>
        </p:spPr>
      </p:sp>
      <p:sp>
        <p:nvSpPr>
          <p:cNvPr id="49" name="HNSW node 2-10"/>
          <p:cNvSpPr/>
          <p:nvPr/>
        </p:nvSpPr>
        <p:spPr>
          <a:xfrm>
            <a:off x="10661904" y="4608576"/>
            <a:ext cx="164592" cy="164592"/>
          </a:xfrm>
          <a:prstGeom prst="ellipse">
            <a:avLst/>
          </a:prstGeom>
          <a:solidFill>
            <a:schemeClr val="accent2"/>
          </a:solidFill>
          <a:ln w="12700">
            <a:solidFill>
              <a:schemeClr val="bg1"/>
            </a:solidFill>
            <a:prstDash val="solid"/>
          </a:ln>
        </p:spPr>
      </p:sp>
      <p:sp>
        <p:nvSpPr>
          <p:cNvPr id="50" name="HNSW node 2-11"/>
          <p:cNvSpPr/>
          <p:nvPr/>
        </p:nvSpPr>
        <p:spPr>
          <a:xfrm>
            <a:off x="11073384" y="4882896"/>
            <a:ext cx="164592" cy="164592"/>
          </a:xfrm>
          <a:prstGeom prst="ellipse">
            <a:avLst/>
          </a:prstGeom>
          <a:solidFill>
            <a:schemeClr val="accent2"/>
          </a:solidFill>
          <a:ln w="12700">
            <a:solidFill>
              <a:schemeClr val="bg1"/>
            </a:solidFill>
            <a:prstDash val="solid"/>
          </a:ln>
        </p:spPr>
      </p:sp>
      <p:sp>
        <p:nvSpPr>
          <p:cNvPr id="51" name="HNSW search step 1"/>
          <p:cNvSpPr/>
          <p:nvPr/>
        </p:nvSpPr>
        <p:spPr>
          <a:xfrm>
            <a:off x="7452360" y="1965960"/>
            <a:ext cx="1645920" cy="914"/>
          </a:xfrm>
          <a:prstGeom prst="line">
            <a:avLst/>
          </a:prstGeom>
          <a:noFill/>
          <a:ln w="28575">
            <a:solidFill>
              <a:schemeClr val="accent1"/>
            </a:solidFill>
            <a:prstDash val="solid"/>
            <a:tailEnd type="triangle"/>
          </a:ln>
        </p:spPr>
      </p:sp>
      <p:sp>
        <p:nvSpPr>
          <p:cNvPr id="52" name="HNSW search step 2"/>
          <p:cNvSpPr/>
          <p:nvPr/>
        </p:nvSpPr>
        <p:spPr>
          <a:xfrm>
            <a:off x="9098280" y="1965960"/>
            <a:ext cx="914" cy="1508760"/>
          </a:xfrm>
          <a:prstGeom prst="line">
            <a:avLst/>
          </a:prstGeom>
          <a:noFill/>
          <a:ln w="28575">
            <a:solidFill>
              <a:schemeClr val="accent1"/>
            </a:solidFill>
            <a:prstDash val="dash"/>
            <a:tailEnd type="triangle"/>
          </a:ln>
        </p:spPr>
      </p:sp>
      <p:sp>
        <p:nvSpPr>
          <p:cNvPr id="53" name="HNSW search step 3"/>
          <p:cNvSpPr/>
          <p:nvPr/>
        </p:nvSpPr>
        <p:spPr>
          <a:xfrm flipV="1">
            <a:off x="9098280" y="3291840"/>
            <a:ext cx="822960" cy="182880"/>
          </a:xfrm>
          <a:prstGeom prst="line">
            <a:avLst/>
          </a:prstGeom>
          <a:noFill/>
          <a:ln w="28575">
            <a:solidFill>
              <a:schemeClr val="accent1"/>
            </a:solidFill>
            <a:prstDash val="solid"/>
            <a:tailEnd type="triangle"/>
          </a:ln>
        </p:spPr>
      </p:sp>
      <p:sp>
        <p:nvSpPr>
          <p:cNvPr id="54" name="HNSW search step 4"/>
          <p:cNvSpPr/>
          <p:nvPr/>
        </p:nvSpPr>
        <p:spPr>
          <a:xfrm>
            <a:off x="9921240" y="3291840"/>
            <a:ext cx="914" cy="1399032"/>
          </a:xfrm>
          <a:prstGeom prst="line">
            <a:avLst/>
          </a:prstGeom>
          <a:noFill/>
          <a:ln w="28575">
            <a:solidFill>
              <a:schemeClr val="accent1"/>
            </a:solidFill>
            <a:prstDash val="dash"/>
            <a:tailEnd type="triangle"/>
          </a:ln>
        </p:spPr>
      </p:sp>
      <p:sp>
        <p:nvSpPr>
          <p:cNvPr id="55" name="HNSW search step 5"/>
          <p:cNvSpPr/>
          <p:nvPr/>
        </p:nvSpPr>
        <p:spPr>
          <a:xfrm>
            <a:off x="9921240" y="4690872"/>
            <a:ext cx="411480" cy="274320"/>
          </a:xfrm>
          <a:prstGeom prst="line">
            <a:avLst/>
          </a:prstGeom>
          <a:noFill/>
          <a:ln w="28575">
            <a:solidFill>
              <a:schemeClr val="accent1"/>
            </a:solidFill>
            <a:prstDash val="solid"/>
            <a:tailEnd type="triangle"/>
          </a:ln>
        </p:spPr>
      </p:sp>
      <p:sp>
        <p:nvSpPr>
          <p:cNvPr id="56" name="HNSW query"/>
          <p:cNvSpPr/>
          <p:nvPr/>
        </p:nvSpPr>
        <p:spPr>
          <a:xfrm>
            <a:off x="10369296" y="4864608"/>
            <a:ext cx="292608" cy="292608"/>
          </a:xfrm>
          <a:prstGeom prst="star5">
            <a:avLst/>
          </a:prstGeom>
          <a:solidFill>
            <a:schemeClr val="accent4"/>
          </a:solidFill>
          <a:ln w="12700">
            <a:solidFill>
              <a:schemeClr val="accent4"/>
            </a:solidFill>
            <a:prstDash val="solid"/>
          </a:ln>
        </p:spPr>
      </p:sp>
      <p:sp>
        <p:nvSpPr>
          <p:cNvPr id="57" name="HNSW query label"/>
          <p:cNvSpPr txBox="1"/>
          <p:nvPr/>
        </p:nvSpPr>
        <p:spPr>
          <a:xfrm>
            <a:off x="10625328" y="5120640"/>
            <a:ext cx="822960" cy="274320"/>
          </a:xfrm>
          <a:prstGeom prst="rect">
            <a:avLst/>
          </a:prstGeom>
          <a:noFill/>
          <a:ln/>
        </p:spPr>
        <p:txBody>
          <a:bodyPr wrap="square" lIns="0" tIns="0" rIns="0" bIns="0" rtlCol="0" anchor="ctr"/>
          <a:lstStyle/>
          <a:p>
            <a:pPr indent="0" marL="0">
              <a:buNone/>
            </a:pPr>
            <a:r>
              <a:rPr lang="en-US" sz="1100" b="1" dirty="0">
                <a:solidFill>
                  <a:schemeClr val="accent4"/>
                </a:solidFill>
              </a:rPr>
              <a:t>query</a:t>
            </a:r>
            <a:endParaRPr lang="en-US" sz="1100" dirty="0"/>
          </a:p>
        </p:txBody>
      </p:sp>
      <p:sp>
        <p:nvSpPr>
          <p:cNvPr id="58" name="HNSW entry label"/>
          <p:cNvSpPr txBox="1"/>
          <p:nvPr/>
        </p:nvSpPr>
        <p:spPr>
          <a:xfrm>
            <a:off x="7040880" y="1554480"/>
            <a:ext cx="822960" cy="256032"/>
          </a:xfrm>
          <a:prstGeom prst="rect">
            <a:avLst/>
          </a:prstGeom>
          <a:noFill/>
          <a:ln/>
        </p:spPr>
        <p:txBody>
          <a:bodyPr wrap="square" lIns="0" tIns="0" rIns="0" bIns="0" rtlCol="0" anchor="ctr"/>
          <a:lstStyle/>
          <a:p>
            <a:pPr algn="ctr" indent="0" marL="0">
              <a:buNone/>
            </a:pPr>
            <a:r>
              <a:rPr lang="en-US" sz="1100" b="1" dirty="0">
                <a:solidFill>
                  <a:schemeClr val="accent1"/>
                </a:solidFill>
              </a:rPr>
              <a:t>entry</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indent="0" marL="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indent="0" marL="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Finds its neighbours with a small ef.</a:t>
            </a:r>
            <a:endParaRPr lang="en-US" sz="1500" dirty="0"/>
          </a:p>
          <a:p>
            <a:pPr indent="0" marL="0">
              <a:buNone/>
            </a:pPr>
            <a:r>
              <a:rPr lang="en-US" sz="1500" dirty="0">
                <a:solidFill>
                  <a:schemeClr val="tx1"/>
                </a:solidFill>
              </a:rPr>
              <a:t>A large shared ef wastes work on it.</a:t>
            </a:r>
            <a:endParaRPr lang="en-US" sz="1500" dirty="0"/>
          </a:p>
          <a:p>
            <a:pPr indent="0" marL="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indent="0" marL="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Needs a large ef.</a:t>
            </a:r>
            <a:endParaRPr lang="en-US" sz="1500" dirty="0"/>
          </a:p>
          <a:p>
            <a:pPr indent="0" marL="0">
              <a:buNone/>
            </a:pPr>
            <a:r>
              <a:rPr lang="en-US" sz="1500" dirty="0">
                <a:solidFill>
                  <a:schemeClr val="tx1"/>
                </a:solidFill>
              </a:rPr>
              <a:t>A small shared ef leaves it short of its neighbours.</a:t>
            </a:r>
            <a:endParaRPr lang="en-US" sz="1500" dirty="0"/>
          </a:p>
          <a:p>
            <a:pPr indent="0" marL="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indent="0" marL="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indent="0" marL="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indent="0" marL="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indent="0" marL="0">
              <a:buNone/>
            </a:pPr>
            <a:r>
              <a:rPr lang="en-US" sz="1600" dirty="0">
                <a:solidFill>
                  <a:schemeClr val="tx1"/>
                </a:solidFill>
              </a:rPr>
              <a:t>LAET (SIGMOD 2020), DARTH (SIGMOD 2026)</a:t>
            </a:r>
            <a:endParaRPr lang="en-US" sz="1600" dirty="0"/>
          </a:p>
          <a:p>
            <a:pPr indent="0" marL="0">
              <a:buNone/>
            </a:pPr>
            <a:endParaRPr lang="en-US" sz="1600" dirty="0"/>
          </a:p>
          <a:p>
            <a:pPr indent="0" marL="0">
              <a:buNone/>
            </a:pPr>
            <a:r>
              <a:rPr lang="en-US" sz="1600" dirty="0">
                <a:solidFill>
                  <a:schemeClr val="tx1"/>
                </a:solidFill>
              </a:rPr>
              <a:t>• A trained model watches each search and predicts when the target recall is reached</a:t>
            </a:r>
            <a:endParaRPr lang="en-US" sz="1600" dirty="0"/>
          </a:p>
          <a:p>
            <a:pPr indent="0" marL="0">
              <a:buNone/>
            </a:pPr>
            <a:r>
              <a:rPr lang="en-US" sz="1600" dirty="0">
                <a:solidFill>
                  <a:schemeClr val="tx1"/>
                </a:solidFill>
              </a:rPr>
              <a:t>• Needs training data and a model per dataset</a:t>
            </a:r>
            <a:endParaRPr lang="en-US" sz="1600" dirty="0"/>
          </a:p>
          <a:p>
            <a:pPr indent="0" marL="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indent="0" marL="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indent="0" marL="0">
              <a:buNone/>
            </a:pPr>
            <a:r>
              <a:rPr lang="en-US" sz="1600" dirty="0">
                <a:solidFill>
                  <a:schemeClr val="tx1"/>
                </a:solidFill>
              </a:rPr>
              <a:t>Zhang &amp; Miller, SIGMOD 2026</a:t>
            </a:r>
            <a:endParaRPr lang="en-US" sz="1600" dirty="0"/>
          </a:p>
          <a:p>
            <a:pPr indent="0" marL="0">
              <a:buNone/>
            </a:pPr>
            <a:endParaRPr lang="en-US" sz="1600" dirty="0"/>
          </a:p>
          <a:p>
            <a:pPr indent="0" marL="0">
              <a:buNone/>
            </a:pPr>
            <a:r>
              <a:rPr lang="en-US" sz="1600" dirty="0">
                <a:solidFill>
                  <a:schemeClr val="tx1"/>
                </a:solidFill>
              </a:rPr>
              <a:t>• Models a query's similarities to the data as a bell curve (central limit theorem)</a:t>
            </a:r>
            <a:endParaRPr lang="en-US" sz="1600" dirty="0"/>
          </a:p>
          <a:p>
            <a:pPr indent="0" marL="0">
              <a:buNone/>
            </a:pPr>
            <a:r>
              <a:rPr lang="en-US" sz="1600" dirty="0">
                <a:solidFill>
                  <a:schemeClr val="tx1"/>
                </a:solidFill>
              </a:rPr>
              <a:t>• A short probe scores how hard the query is; a table maps score to ef</a:t>
            </a:r>
            <a:endParaRPr lang="en-US" sz="1600" dirty="0"/>
          </a:p>
          <a:p>
            <a:pPr indent="0" marL="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indent="0" marL="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indent="0" marL="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indent="0" marL="0">
              <a:buNone/>
            </a:pPr>
            <a:r>
              <a:rPr lang="en-US" sz="1600" dirty="0">
                <a:solidFill>
                  <a:schemeClr val="tx1"/>
                </a:solidFill>
              </a:rPr>
              <a:t>Ada-ef's paper states this assumption but never measures it on data. Neither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The assumption fails on 9 of 41 datasets</a:t>
            </a:r>
            <a:endParaRPr lang="en-US" sz="3200" dirty="0"/>
          </a:p>
        </p:txBody>
      </p:sp>
      <p:pic>
        <p:nvPicPr>
          <p:cNvPr id="3" name="KS survey figure" descr="E:\shenvipranav\projects\hybridAdaEf\server_results\paper_out_20261006_203218\fig1_ks_survey.png">    </p:cNvPr>
          <p:cNvPicPr>
            <a:picLocks noChangeAspect="1"/>
          </p:cNvPicPr>
          <p:nvPr/>
        </p:nvPicPr>
        <p:blipFill>
          <a:blip r:embed="rId1"/>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indent="0" marL="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indent="0" marL="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algn="ctr" indent="0" marL="0">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algn="ctr" indent="0" marL="0">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algn="ctr" indent="0" marL="0">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47548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datasets where KS picked the method that ranks queries better</a:t>
            </a:r>
            <a:endParaRPr lang="en-US" sz="1400" dirty="0"/>
          </a:p>
        </p:txBody>
      </p:sp>
      <p:sp>
        <p:nvSpPr>
          <p:cNvPr id="12" name="Stat: 1 miss"/>
          <p:cNvSpPr txBox="1"/>
          <p:nvPr/>
        </p:nvSpPr>
        <p:spPr>
          <a:xfrm>
            <a:off x="6263640" y="3108960"/>
            <a:ext cx="4754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 miss</a:t>
            </a:r>
            <a:endParaRPr lang="en-US" sz="4000" dirty="0"/>
          </a:p>
        </p:txBody>
      </p:sp>
      <p:sp>
        <p:nvSpPr>
          <p:cNvPr id="13" name="Stat label: 1 miss"/>
          <p:cNvSpPr txBox="1"/>
          <p:nvPr/>
        </p:nvSpPr>
        <p:spPr>
          <a:xfrm>
            <a:off x="626364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SIFT-1B: KS said Ada-ef, but PercEF ranked better</a:t>
            </a:r>
            <a:endParaRPr lang="en-US" sz="1400" dirty="0"/>
          </a:p>
        </p:txBody>
      </p:sp>
      <p:sp>
        <p:nvSpPr>
          <p:cNvPr id="14" name="KS not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1600" dirty="0">
                <a:solidFill>
                  <a:schemeClr val="tx1"/>
                </a:solidFill>
              </a:rPr>
              <a:t>Every KS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is new</a:t>
            </a:r>
            <a:endParaRPr lang="en-US" sz="3200" dirty="0"/>
          </a:p>
        </p:txBody>
      </p:sp>
      <p:sp>
        <p:nvSpPr>
          <p:cNvPr id="3" name="Card: 1  First test of the assumption"/>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First test of the assumption"/>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1  First test of the assumption</a:t>
            </a:r>
            <a:endParaRPr lang="en-US" sz="1800" dirty="0"/>
          </a:p>
        </p:txBody>
      </p:sp>
      <p:sp>
        <p:nvSpPr>
          <p:cNvPr id="5" name="Card body: 1  First test of the assumption"/>
          <p:cNvSpPr txBox="1"/>
          <p:nvPr/>
        </p:nvSpPr>
        <p:spPr>
          <a:xfrm>
            <a:off x="77724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Ada-ef's Gaussian model measured on 41 datasets; fails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1"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914400"/>
        </p:xfrm>
        <a:graphic>
          <a:graphicData uri="http://schemas.openxmlformats.org/drawingml/2006/table">
            <a:tbl>
              <a:tblPr/>
              <a:tblGrid>
                <a:gridCol w="1920240"/>
                <a:gridCol w="379476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Non-Gaussian data: better worst-case recall</a:t>
            </a:r>
            <a:endParaRPr lang="en-US" sz="3200" dirty="0"/>
          </a:p>
        </p:txBody>
      </p:sp>
      <p:graphicFrame>
        <p:nvGraphicFramePr>
          <p:cNvPr id="3" name="p1 gain chart"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 ranks queries better than Ada-ef</a:t>
            </a:r>
            <a:endParaRPr lang="en-US" sz="1400" dirty="0"/>
          </a:p>
        </p:txBody>
      </p:sp>
      <p:sp>
        <p:nvSpPr>
          <p:cNvPr id="6" name="Stat: 15 / 16"/>
          <p:cNvSpPr txBox="1"/>
          <p:nvPr/>
        </p:nvSpPr>
        <p:spPr>
          <a:xfrm>
            <a:off x="8412480" y="288036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 / 16</a:t>
            </a:r>
            <a:endParaRPr lang="en-US" sz="4000" dirty="0"/>
          </a:p>
        </p:txBody>
      </p:sp>
      <p:sp>
        <p:nvSpPr>
          <p:cNvPr id="7" name="Stat label: 15 / 16"/>
          <p:cNvSpPr txBox="1"/>
          <p:nvPr/>
        </p:nvSpPr>
        <p:spPr>
          <a:xfrm>
            <a:off x="8412480" y="356616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worst-case gain is at least Ada-ef's (the 16th: a tie near zero)</a:t>
            </a:r>
            <a:endParaRPr lang="en-US" sz="1400" dirty="0"/>
          </a:p>
        </p:txBody>
      </p:sp>
      <p:sp>
        <p:nvSpPr>
          <p:cNvPr id="8" name="Stat: 14 vs 2"/>
          <p:cNvSpPr txBox="1"/>
          <p:nvPr/>
        </p:nvSpPr>
        <p:spPr>
          <a:xfrm>
            <a:off x="8412480" y="4434840"/>
            <a:ext cx="320040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14 vs 2</a:t>
            </a:r>
            <a:endParaRPr lang="en-US" sz="4000" dirty="0"/>
          </a:p>
        </p:txBody>
      </p:sp>
      <p:sp>
        <p:nvSpPr>
          <p:cNvPr id="9" name="Stat label: 14 vs 2"/>
          <p:cNvSpPr txBox="1"/>
          <p:nvPr/>
        </p:nvSpPr>
        <p:spPr>
          <a:xfrm>
            <a:off x="8412480" y="512064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cheaper than the fixed ef: PercEF vs Ada-ef (of 16)</a:t>
            </a:r>
            <a:endParaRPr lang="en-US" sz="1400" dirty="0"/>
          </a:p>
        </p:txBody>
      </p:sp>
      <p:sp>
        <p:nvSpPr>
          <p:cNvPr id="10" name="Runs definition"/>
          <p:cNvSpPr txBox="1"/>
          <p:nvPr/>
        </p:nvSpPr>
        <p:spPr>
          <a:xfrm>
            <a:off x="8412480" y="5806440"/>
            <a:ext cx="3246120" cy="457200"/>
          </a:xfrm>
          <a:prstGeom prst="rect">
            <a:avLst/>
          </a:prstGeom>
          <a:noFill/>
          <a:ln/>
        </p:spPr>
        <p:txBody>
          <a:bodyPr wrap="square" lIns="0" tIns="0" rIns="0" bIns="0" rtlCol="0" anchor="ctr"/>
          <a:lstStyle/>
          <a:p>
            <a:pPr indent="0" marL="0">
              <a:buNone/>
            </a:pPr>
            <a:r>
              <a:rPr lang="en-US" sz="1100" i="1" dirty="0">
                <a:solidFill>
                  <a:schemeClr val="accent6"/>
                </a:solidFill>
              </a:rPr>
              <a:t>16 runs = the 8 non-Gaussian datasets x 2 calibration settings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does less work than the tuned fixed ef (Ada-ef: 10 / 34)</a:t>
            </a:r>
            <a:endParaRPr lang="en-US" sz="1400" dirty="0"/>
          </a:p>
        </p:txBody>
      </p:sp>
      <p:sp>
        <p:nvSpPr>
          <p:cNvPr id="5" name="Stat: 23 / 34"/>
          <p:cNvSpPr txBox="1"/>
          <p:nvPr/>
        </p:nvSpPr>
        <p:spPr>
          <a:xfrm>
            <a:off x="548640" y="288036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23 / 34</a:t>
            </a:r>
            <a:endParaRPr lang="en-US" sz="4000" dirty="0"/>
          </a:p>
        </p:txBody>
      </p:sp>
      <p:sp>
        <p:nvSpPr>
          <p:cNvPr id="6" name="Stat label: 23 / 34"/>
          <p:cNvSpPr txBox="1"/>
          <p:nvPr/>
        </p:nvSpPr>
        <p:spPr>
          <a:xfrm>
            <a:off x="548640" y="356616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is faster than the tuned fixed ef (Ada-ef: 3 / 34)</a:t>
            </a:r>
            <a:endParaRPr lang="en-US" sz="1400" dirty="0"/>
          </a:p>
        </p:txBody>
      </p:sp>
      <p:sp>
        <p:nvSpPr>
          <p:cNvPr id="7" name="Stat: 18 / 18"/>
          <p:cNvSpPr txBox="1"/>
          <p:nvPr/>
        </p:nvSpPr>
        <p:spPr>
          <a:xfrm>
            <a:off x="548640" y="4434840"/>
            <a:ext cx="3383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18 / 18</a:t>
            </a:r>
            <a:endParaRPr lang="en-US" sz="4000" dirty="0"/>
          </a:p>
        </p:txBody>
      </p:sp>
      <p:sp>
        <p:nvSpPr>
          <p:cNvPr id="8" name="Stat label: 18 / 18"/>
          <p:cNvSpPr txBox="1"/>
          <p:nvPr/>
        </p:nvSpPr>
        <p:spPr>
          <a:xfrm>
            <a:off x="548640" y="5120640"/>
            <a:ext cx="3383280" cy="640080"/>
          </a:xfrm>
          <a:prstGeom prst="rect">
            <a:avLst/>
          </a:prstGeom>
          <a:noFill/>
          <a:ln/>
        </p:spPr>
        <p:txBody>
          <a:bodyPr wrap="square" lIns="0" tIns="0" rIns="0" bIns="0" rtlCol="0" anchor="t"/>
          <a:lstStyle/>
          <a:p>
            <a:pPr indent="0" marL="0">
              <a:buNone/>
            </a:pPr>
            <a:r>
              <a:rPr lang="en-US" sz="1400" dirty="0">
                <a:solidFill>
                  <a:schemeClr val="tx1"/>
                </a:solidFill>
              </a:rPr>
              <a:t>near-Gaussian runs where PercEF is both cheaper and faster than the fixed ef</a:t>
            </a:r>
            <a:endParaRPr lang="en-US" sz="1400" dirty="0"/>
          </a:p>
        </p:txBody>
      </p:sp>
      <p:sp>
        <p:nvSpPr>
          <p:cNvPr id="9" name="Runs definition"/>
          <p:cNvSpPr txBox="1"/>
          <p:nvPr/>
        </p:nvSpPr>
        <p:spPr>
          <a:xfrm>
            <a:off x="548640" y="5760720"/>
            <a:ext cx="3566160" cy="548640"/>
          </a:xfrm>
          <a:prstGeom prst="rect">
            <a:avLst/>
          </a:prstGeom>
          <a:noFill/>
          <a:ln/>
        </p:spPr>
        <p:txBody>
          <a:bodyPr wrap="square" lIns="0" tIns="0" rIns="0" bIns="0" rtlCol="0" anchor="ctr"/>
          <a:lstStyle/>
          <a:p>
            <a:pPr indent="0" marL="0">
              <a:buNone/>
            </a:pPr>
            <a:r>
              <a:rPr lang="en-US" sz="1100" i="1" dirty="0">
                <a:solidFill>
                  <a:schemeClr val="accent6"/>
                </a:solidFill>
              </a:rPr>
              <a:t>34 runs = 17 benchmarked datasets x 2 settings (3 cross-modal sets left out); work and time measured on all 34</a:t>
            </a:r>
            <a:endParaRPr lang="en-US" sz="1100" dirty="0"/>
          </a:p>
        </p:txBody>
      </p:sp>
      <p:graphicFrame>
        <p:nvGraphicFramePr>
          <p:cNvPr id="10" name="Speed-up chart" descr=""/>
          <p:cNvGraphicFramePr/>
          <p:nvPr/>
        </p:nvGraphicFramePr>
        <p:xfrm>
          <a:off x="4297680" y="1234440"/>
          <a:ext cx="7360920" cy="4023360"/>
        </p:xfrm>
        <a:graphic xmlns:a="http://schemas.openxmlformats.org/drawingml/2006/main">
          <a:graphicData uri="http://schemas.openxmlformats.org/drawingml/2006/chart">
            <c:chart xmlns:c="http://schemas.openxmlformats.org/drawingml/2006/chart" r:id="rId1"/>
          </a:graphicData>
        </a:graphic>
      </p:graphicFrame>
      <p:sp>
        <p:nvSpPr>
          <p:cNvPr id="11" name="Speed note"/>
          <p:cNvSpPr txBox="1"/>
          <p:nvPr/>
        </p:nvSpPr>
        <p:spPr>
          <a:xfrm>
            <a:off x="4297680" y="5440680"/>
            <a:ext cx="7360920" cy="685800"/>
          </a:xfrm>
          <a:prstGeom prst="rect">
            <a:avLst/>
          </a:prstGeom>
          <a:noFill/>
          <a:ln/>
        </p:spPr>
        <p:txBody>
          <a:bodyPr wrap="square" lIns="0" tIns="0" rIns="0" bIns="0" rtlCol="0" anchor="ctr"/>
          <a:lstStyle/>
          <a:p>
            <a:pPr indent="0" marL="0">
              <a:buNone/>
            </a:pPr>
            <a:r>
              <a:rPr lang="en-US" sz="1400" i="1" dirty="0">
                <a:solidFill>
                  <a:schemeClr val="accent2"/>
                </a:solidFill>
              </a:rPr>
              <a:t>On short non-Gaussian searches PercEF is slightly slower than the fixed ef (within 3% in most runs). Ada-ef with its WAE floor is fastest on its own long-search data (21% on GloVe).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Two checks: probe length and DARTH</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Ranking quality |ρ| with matched probe lengths</a:t>
            </a:r>
            <a:endParaRPr lang="en-US" sz="1500" dirty="0"/>
          </a:p>
        </p:txBody>
      </p:sp>
      <p:graphicFrame>
        <p:nvGraphicFramePr>
          <p:cNvPr id="14"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914400"/>
        </p:xfrm>
        <a:graphic>
          <a:graphicData uri="http://schemas.openxmlformats.org/drawingml/2006/table">
            <a:tbl>
              <a:tblPr/>
              <a:tblGrid>
                <a:gridCol w="1280160"/>
                <a:gridCol w="1051560"/>
                <a:gridCol w="1051560"/>
                <a:gridCol w="1051560"/>
                <a:gridCol w="10515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indent="0" marL="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indent="0" marL="0">
              <a:buNone/>
            </a:pPr>
            <a:r>
              <a:rPr lang="en-US" sz="1500" b="1" dirty="0">
                <a:solidFill>
                  <a:schemeClr val="tx2"/>
                </a:solidFill>
              </a:rPr>
              <a:t>DARTH (learned) vs PercEF, setting R</a:t>
            </a:r>
            <a:endParaRPr lang="en-US" sz="1500" dirty="0"/>
          </a:p>
        </p:txBody>
      </p:sp>
      <p:graphicFrame>
        <p:nvGraphicFramePr>
          <p:cNvPr id="27"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914400"/>
        </p:xfrm>
        <a:graphic>
          <a:graphicData uri="http://schemas.openxmlformats.org/drawingml/2006/table">
            <a:tbl>
              <a:tblPr/>
              <a:tblGrid>
                <a:gridCol w="1097280"/>
                <a:gridCol w="1005840"/>
                <a:gridCol w="1005840"/>
                <a:gridCol w="1097280"/>
                <a:gridCol w="109728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42%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2.3x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+0.098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1.9x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1.5%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8" name="DARTH takeaway"/>
          <p:cNvSpPr txBox="1"/>
          <p:nvPr/>
        </p:nvSpPr>
        <p:spPr>
          <a:xfrm>
            <a:off x="6355080" y="3931920"/>
            <a:ext cx="5303520" cy="822960"/>
          </a:xfrm>
          <a:prstGeom prst="rect">
            <a:avLst/>
          </a:prstGeom>
          <a:noFill/>
          <a:ln/>
        </p:spPr>
        <p:txBody>
          <a:bodyPr wrap="square" lIns="0" tIns="0" rIns="0" bIns="0" rtlCol="0" anchor="ctr"/>
          <a:lstStyle/>
          <a:p>
            <a:pPr indent="0" marL="0">
              <a:buNone/>
            </a:pPr>
            <a:r>
              <a:rPr lang="en-US" sz="1400" i="1" dirty="0">
                <a:solidFill>
                  <a:schemeClr val="accent2"/>
                </a:solidFill>
              </a:rPr>
              <a:t>DARTH has the best tail but costs time and training; PercEF gets much of the gain at almost no time cost.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Tested: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700" dirty="0">
                <a:solidFill>
                  <a:schemeClr val="tx1"/>
                </a:solidFill>
              </a:rPr>
              <a:t>Idea: if Ada-ef's better tail on Gaussian data came from its ef table, PercEF's score with that table should match it.</a:t>
            </a:r>
            <a:endParaRPr lang="en-US" sz="1700" dirty="0"/>
          </a:p>
        </p:txBody>
      </p:sp>
      <p:graphicFrame>
        <p:nvGraphicFramePr>
          <p:cNvPr id="15" name="Combined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94560"/>
                <a:gridCol w="2011680"/>
                <a:gridCol w="2103120"/>
                <a:gridCol w="2743200"/>
                <a:gridCol w="201168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GloVe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MS Turing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1.3%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Combo bullets"/>
          <p:cNvSpPr txBox="1"/>
          <p:nvPr/>
        </p:nvSpPr>
        <p:spPr>
          <a:xfrm>
            <a:off x="548640" y="480060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Not adopted: on GloVe the table lifts PercEF only from +0.029 to +0.031, far from Ada-ef's +0.073</a:t>
            </a:r>
            <a:endParaRPr lang="en-US" sz="1500" dirty="0"/>
          </a:p>
          <a:p>
            <a:pPr marL="342900" indent="-342900">
              <a:spcAft>
                <a:spcPts val="800"/>
              </a:spcAft>
              <a:buSzPct val="100000"/>
              <a:buChar char="•"/>
            </a:pPr>
            <a:r>
              <a:rPr lang="en-US" sz="1500" dirty="0">
                <a:solidFill>
                  <a:schemeClr val="tx1"/>
                </a:solidFill>
              </a:rPr>
              <a:t>Ada-ef's tail edge on Gaussian data needs its own score and its table together</a:t>
            </a:r>
            <a:endParaRPr lang="en-US" sz="1500" dirty="0"/>
          </a:p>
          <a:p>
            <a:pPr marL="342900" indent="-342900">
              <a:spcAft>
                <a:spcPts val="800"/>
              </a:spcAft>
              <a:buSzPct val="100000"/>
              <a:buChar char="•"/>
            </a:pPr>
            <a:r>
              <a:rPr lang="en-US" sz="1500" dirty="0">
                <a:solidFill>
                  <a:schemeClr val="tx1"/>
                </a:solidFill>
              </a:rPr>
              <a:t>Plain PercEF keeps the best or tied-best worst-case recall on 5 of 6 datasets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indent="0" marL="0">
              <a:buNone/>
            </a:pPr>
            <a:r>
              <a:rPr lang="en-US" sz="1600" dirty="0">
                <a:solidFill>
                  <a:schemeClr val="tx1"/>
                </a:solidFill>
              </a:rPr>
              <a:t>• Near-Gaussian text: Ada-ef gives larger worst-case gains (PercEF still cheaper and faster than the fixed ef)</a:t>
            </a:r>
            <a:endParaRPr lang="en-US" sz="1600" dirty="0"/>
          </a:p>
          <a:p>
            <a:pPr indent="0" marL="0">
              <a:buNone/>
            </a:pPr>
            <a:r>
              <a:rPr lang="en-US" sz="1600" dirty="0">
                <a:solidFill>
                  <a:schemeClr val="tx1"/>
                </a:solidFill>
              </a:rPr>
              <a:t>• Short non-Gaussian searches: PercEF slightly slower than the fixed ef</a:t>
            </a:r>
            <a:endParaRPr lang="en-US" sz="1600" dirty="0"/>
          </a:p>
          <a:p>
            <a:pPr indent="0" marL="0">
              <a:buNone/>
            </a:pPr>
            <a:r>
              <a:rPr lang="en-US" sz="1600" dirty="0">
                <a:solidFill>
                  <a:schemeClr val="tx1"/>
                </a:solidFill>
              </a:rPr>
              <a:t>• Cross-modal queries (text searching images): neither method adapts</a:t>
            </a:r>
            <a:endParaRPr lang="en-US" sz="1600" dirty="0"/>
          </a:p>
          <a:p>
            <a:pPr indent="0" marL="0">
              <a:buNone/>
            </a:pPr>
            <a:r>
              <a:rPr lang="en-US" sz="1600" dirty="0">
                <a:solidFill>
                  <a:schemeClr val="tx1"/>
                </a:solidFill>
              </a:rPr>
              <a:t>• One failed KS prediction (SIFT-1B)</a:t>
            </a:r>
            <a:endParaRPr lang="en-US" sz="1600" dirty="0"/>
          </a:p>
          <a:p>
            <a:pPr indent="0" marL="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indent="0" marL="0">
              <a:buNone/>
            </a:pPr>
            <a:r>
              <a:rPr lang="en-US" sz="1600" dirty="0">
                <a:solidFill>
                  <a:schemeClr val="tx1"/>
                </a:solidFill>
              </a:rPr>
              <a:t>• Understand why Ada-ef's score and table together win the tail on GloVe</a:t>
            </a:r>
            <a:endParaRPr lang="en-US" sz="1600" dirty="0"/>
          </a:p>
          <a:p>
            <a:pPr indent="0" marL="0">
              <a:buNone/>
            </a:pPr>
            <a:r>
              <a:rPr lang="en-US" sz="1600" dirty="0">
                <a:solidFill>
                  <a:schemeClr val="tx1"/>
                </a:solidFill>
              </a:rPr>
              <a:t>• Final figures and numbers in the paper</a:t>
            </a:r>
            <a:endParaRPr lang="en-US" sz="1600" dirty="0"/>
          </a:p>
          <a:p>
            <a:pPr indent="0" marL="0">
              <a:buNone/>
            </a:pPr>
            <a:r>
              <a:rPr lang="en-US" sz="1600" dirty="0">
                <a:solidFill>
                  <a:schemeClr val="tx1"/>
                </a:solidFill>
              </a:rPr>
              <a:t>• Guide review, author list</a:t>
            </a:r>
            <a:endParaRPr lang="en-US" sz="1600" dirty="0"/>
          </a:p>
          <a:p>
            <a:pPr indent="0" marL="0">
              <a:buNone/>
            </a:pPr>
            <a:r>
              <a:rPr lang="en-US" sz="1600" dirty="0">
                <a:solidFill>
                  <a:schemeClr val="tx1"/>
                </a:solidFill>
              </a:rPr>
              <a:t>• arXiv preprint and code release</a:t>
            </a:r>
            <a:endParaRPr lang="en-US" sz="1600" dirty="0"/>
          </a:p>
          <a:p>
            <a:pPr indent="0" marL="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Measure, don't assume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indent="0" marL="0">
              <a:buNone/>
            </a:pPr>
            <a:r>
              <a:rPr lang="en-US" sz="1800" dirty="0">
                <a:solidFill>
                  <a:schemeClr val="bg2"/>
                </a:solidFill>
              </a:rPr>
              <a:t>Ada-ef's bell-curve assumption fails on 9 of 41 datasets. PercEF measures the thresholds instead: better worst-case recall where the assumption fails, never meaningfully costlier than a tuned fixed ef, and a seconds-long test that says which method to use.</a:t>
            </a:r>
            <a:endParaRPr lang="en-US" sz="1800" dirty="0"/>
          </a:p>
          <a:p>
            <a:pPr indent="0" marL="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Pranav Shenvi</cp:lastModifiedBy>
  <cp:revision>1</cp:revision>
  <dcterms:created xsi:type="dcterms:W3CDTF">2026-10-06T16:26:28Z</dcterms:created>
  <dcterms:modified xsi:type="dcterms:W3CDTF">2026-10-06T16:26:28Z</dcterms:modified>
</cp:coreProperties>
</file>