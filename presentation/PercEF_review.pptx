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6b38208-af5e-4d3d-7f82-245f49bc18d7}">
          <p14:sldIdLst>
            <p14:sldId id="256"/>
          </p14:sldIdLst>
        </p14:section>
        <p14:section name="Problem statement" id="{b6b0b551-c846-d45f-fb76-c04fdf674941}">
          <p14:sldIdLst>
            <p14:sldId id="257"/>
          </p14:sldIdLst>
        </p14:section>
        <p14:section name="Existing methodology" id="{f90fd0b8-f862-91bd-d256-804e3595a3f1}">
          <p14:sldIdLst>
            <p14:sldId id="258"/>
            <p14:sldId id="259"/>
          </p14:sldIdLst>
        </p14:section>
        <p14:section name="Our method" id="{de7e5316-b2d6-831e-796e-30f3df5552ff}">
          <p14:sldIdLst>
            <p14:sldId id="260"/>
            <p14:sldId id="261"/>
            <p14:sldId id="262"/>
          </p14:sldIdLst>
        </p14:section>
        <p14:section name="Novelty" id="{47b3a957-7ffc-9606-858e-90b7689cca77}">
          <p14:sldIdLst>
            <p14:sldId id="263"/>
          </p14:sldIdLst>
        </p14:section>
        <p14:section name="Results" id="{28607ef0-810e-f344-9e32-485dad1177ea}">
          <p14:sldIdLst>
            <p14:sldId id="264"/>
            <p14:sldId id="265"/>
            <p14:sldId id="266"/>
            <p14:sldId id="267"/>
            <p14:sldId id="268"/>
          </p14:sldIdLst>
        </p14:section>
        <p14:section name="Wrap-up" id="{285ba32f-da7a-3e93-4827-b98b396d1d74}">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3"/>
                </a:solidFill>
                <a:latin typeface="+mn-lt"/>
              </a:defRPr>
            </a:pPr>
            <a:r>
              <a:rPr sz="1400" b="0" i="0" u="none" strike="noStrike">
                <a:solidFill>
                  <a:srgbClr val="1F2933"/>
                </a:solidFill>
                <a:latin typeface="+mn-lt"/>
              </a:rPr>
              <a:t>p1 recall gain over the tuned fixed ef (percentage points)</a:t>
            </a:r>
          </a:p>
        </c:rich>
      </c:tx>
      <c:layout/>
      <c:overlay val="0"/>
    </c:title>
    <c:autoTitleDeleted val="0"/>
    <c:plotArea>
      <c:layout/>
      <c:barChart>
        <c:barDir val="bar"/>
        <c:grouping val="clustered"/>
        <c:varyColors val="0"/>
        <c:ser>
          <c:idx val="0"/>
          <c:order val="0"/>
          <c:tx>
            <c:strRef>
              <c:f>Sheet1!$B$1</c:f>
              <c:strCache>
                <c:ptCount val="1"/>
                <c:pt idx="0">
                  <c:v>PercEF</c:v>
                </c:pt>
              </c:strCache>
            </c:strRef>
          </c:tx>
          <c:spPr>
            <a:solidFill>
              <a:srgbClr val="2A78D6"/>
            </a:solidFill>
            <a:effectLst/>
          </c:spPr>
          <c:invertIfNegative val="0"/>
          <c:dLbls>
            <c:numFmt formatCode="0.0" sourceLinked="0"/>
            <c:txPr>
              <a:bodyPr/>
              <a:lstStyle/>
              <a:p>
                <a:pPr>
                  <a:defRPr b="0" i="0" strike="noStrike" sz="1000" u="none">
                    <a:solidFill>
                      <a:srgbClr val="1F2933"/>
                    </a:solidFill>
                    <a:latin typeface="Arial"/>
                  </a:defRPr>
                </a:pPr>
              </a:p>
            </c:txPr>
            <c:showLegendKey val="0"/>
            <c:showVal val="1"/>
            <c:showCatName val="0"/>
            <c:showSerName val="0"/>
            <c:showPercent val="0"/>
            <c:showBubbleSize val="0"/>
            <c:showLeaderLines val="0"/>
          </c:dLbls>
          <c:cat>
            <c:multiLvlStrRef>
              <c:f>Sheet1!$A$2:$A$9</c:f>
              <c:multiLvlStrCache>
                <c:ptCount val="8"/>
                <c:lvl>
                  <c:pt idx="0">
                    <c:v>DeepImage</c:v>
                  </c:pt>
                  <c:pt idx="1">
                    <c:v>Deep1B</c:v>
                  </c:pt>
                  <c:pt idx="2">
                    <c:v>iNat-ResNet</c:v>
                  </c:pt>
                  <c:pt idx="3">
                    <c:v>Landmark-DINO</c:v>
                  </c:pt>
                  <c:pt idx="4">
                    <c:v>SIFT-1M</c:v>
                  </c:pt>
                  <c:pt idx="5">
                    <c:v>Fashion-MNIST</c:v>
                  </c:pt>
                  <c:pt idx="6">
                    <c:v>Yambda</c:v>
                  </c:pt>
                  <c:pt idx="7">
                    <c:v>GIST</c:v>
                  </c:pt>
                </c:lvl>
              </c:multiLvlStrCache>
            </c:multiLvlStrRef>
          </c:cat>
          <c:val>
            <c:numRef>
              <c:f>Sheet1!$B$2:$B$9</c:f>
              <c:numCache>
                <c:formatCode>General</c:formatCode>
                <c:ptCount val="8"/>
                <c:pt idx="0">
                  <c:v>8.5</c:v>
                </c:pt>
                <c:pt idx="1">
                  <c:v>7.9</c:v>
                </c:pt>
                <c:pt idx="2">
                  <c:v>4</c:v>
                </c:pt>
                <c:pt idx="3">
                  <c:v>3.7</c:v>
                </c:pt>
                <c:pt idx="4">
                  <c:v>2.9</c:v>
                </c:pt>
                <c:pt idx="5">
                  <c:v>1.3</c:v>
                </c:pt>
                <c:pt idx="6">
                  <c:v>1.2</c:v>
                </c:pt>
                <c:pt idx="7">
                  <c:v>-0.6</c:v>
                </c:pt>
              </c:numCache>
            </c:numRef>
          </c:val>
        </c:ser>
        <c:ser>
          <c:idx val="1"/>
          <c:order val="1"/>
          <c:tx>
            <c:strRef>
              <c:f>Sheet1!$C$1</c:f>
              <c:strCache>
                <c:ptCount val="1"/>
                <c:pt idx="0">
                  <c:v>Ada-ef</c:v>
                </c:pt>
              </c:strCache>
            </c:strRef>
          </c:tx>
          <c:spPr>
            <a:solidFill>
              <a:srgbClr val="EB6834"/>
            </a:solidFill>
            <a:effectLst/>
          </c:spPr>
          <c:invertIfNegative val="0"/>
          <c:dLbls>
            <c:numFmt formatCode="0.0" sourceLinked="0"/>
            <c:txPr>
              <a:bodyPr/>
              <a:lstStyle/>
              <a:p>
                <a:pPr>
                  <a:defRPr b="0" i="0" strike="noStrike" sz="1000" u="none">
                    <a:solidFill>
                      <a:srgbClr val="1F2933"/>
                    </a:solidFill>
                    <a:latin typeface="Arial"/>
                  </a:defRPr>
                </a:pPr>
              </a:p>
            </c:txPr>
            <c:showLegendKey val="0"/>
            <c:showVal val="1"/>
            <c:showCatName val="0"/>
            <c:showSerName val="0"/>
            <c:showPercent val="0"/>
            <c:showBubbleSize val="0"/>
            <c:showLeaderLines val="0"/>
          </c:dLbls>
          <c:cat>
            <c:multiLvlStrRef>
              <c:f>Sheet1!$A$2:$A$9</c:f>
              <c:multiLvlStrCache>
                <c:ptCount val="8"/>
                <c:lvl>
                  <c:pt idx="0">
                    <c:v>DeepImage</c:v>
                  </c:pt>
                  <c:pt idx="1">
                    <c:v>Deep1B</c:v>
                  </c:pt>
                  <c:pt idx="2">
                    <c:v>iNat-ResNet</c:v>
                  </c:pt>
                  <c:pt idx="3">
                    <c:v>Landmark-DINO</c:v>
                  </c:pt>
                  <c:pt idx="4">
                    <c:v>SIFT-1M</c:v>
                  </c:pt>
                  <c:pt idx="5">
                    <c:v>Fashion-MNIST</c:v>
                  </c:pt>
                  <c:pt idx="6">
                    <c:v>Yambda</c:v>
                  </c:pt>
                  <c:pt idx="7">
                    <c:v>GIST</c:v>
                  </c:pt>
                </c:lvl>
              </c:multiLvlStrCache>
            </c:multiLvlStrRef>
          </c:cat>
          <c:val>
            <c:numRef>
              <c:f>Sheet1!$C$2:$C$9</c:f>
              <c:numCache>
                <c:formatCode>General</c:formatCode>
                <c:ptCount val="8"/>
                <c:pt idx="0">
                  <c:v>4.3</c:v>
                </c:pt>
                <c:pt idx="1">
                  <c:v>4.4</c:v>
                </c:pt>
                <c:pt idx="2">
                  <c:v>0.4</c:v>
                </c:pt>
                <c:pt idx="3">
                  <c:v>1.1</c:v>
                </c:pt>
                <c:pt idx="4">
                  <c:v>0</c:v>
                </c:pt>
                <c:pt idx="5">
                  <c:v>-1</c:v>
                </c:pt>
                <c:pt idx="6">
                  <c:v>-0.1</c:v>
                </c:pt>
                <c:pt idx="7">
                  <c:v>-2.4</c:v>
                </c:pt>
              </c:numCache>
            </c:numRef>
          </c:val>
        </c:ser>
        <c:dLbls>
          <c:numFmt formatCode="0.0" sourceLinked="0"/>
          <c:txPr>
            <a:bodyPr/>
            <a:lstStyle/>
            <a:p>
              <a:pPr>
                <a:defRPr b="0" i="0" strike="noStrike" sz="1000" u="none">
                  <a:solidFill>
                    <a:srgbClr val="1F29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670"/>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2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67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3"/>
                </a:solidFill>
                <a:latin typeface="+mn-lt"/>
              </a:defRPr>
            </a:pPr>
            <a:r>
              <a:rPr sz="1400" b="0" i="0" u="none" strike="noStrike">
                <a:solidFill>
                  <a:srgbClr val="1F2933"/>
                </a:solidFill>
                <a:latin typeface="+mn-lt"/>
              </a:rPr>
              <a:t>PercEF speed-up over Ada-ef at about the same recall (x)</a:t>
            </a:r>
          </a:p>
        </c:rich>
      </c:tx>
      <c:layout/>
      <c:overlay val="0"/>
    </c:title>
    <c:autoTitleDeleted val="0"/>
    <c:plotArea>
      <c:layout/>
      <c:barChart>
        <c:barDir val="bar"/>
        <c:grouping val="clustered"/>
        <c:varyColors val="0"/>
        <c:ser>
          <c:idx val="0"/>
          <c:order val="0"/>
          <c:tx>
            <c:strRef>
              <c:f>Sheet1!$B$1</c:f>
              <c:strCache>
                <c:ptCount val="1"/>
                <c:pt idx="0">
                  <c:v>Speed-up</c:v>
                </c:pt>
              </c:strCache>
            </c:strRef>
          </c:tx>
          <c:spPr>
            <a:solidFill>
              <a:srgbClr val="2A78D6"/>
            </a:solidFill>
            <a:effectLst/>
          </c:spPr>
          <c:invertIfNegative val="0"/>
          <c:dLbls>
            <c:numFmt formatCode="0.00"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cat>
            <c:multiLvlStrRef>
              <c:f>Sheet1!$A$2:$A$8</c:f>
              <c:multiLvlStrCache>
                <c:ptCount val="7"/>
                <c:lvl>
                  <c:pt idx="0">
                    <c:v>COCO-I2I</c:v>
                  </c:pt>
                  <c:pt idx="1">
                    <c:v>SIFT-1M</c:v>
                  </c:pt>
                  <c:pt idx="2">
                    <c:v>Deep1B</c:v>
                  </c:pt>
                  <c:pt idx="3">
                    <c:v>Cohere</c:v>
                  </c:pt>
                  <c:pt idx="4">
                    <c:v>BIGANN</c:v>
                  </c:pt>
                  <c:pt idx="5">
                    <c:v>MS Turing</c:v>
                  </c:pt>
                  <c:pt idx="6">
                    <c:v>MS MARCO</c:v>
                  </c:pt>
                </c:lvl>
              </c:multiLvlStrCache>
            </c:multiLvlStrRef>
          </c:cat>
          <c:val>
            <c:numRef>
              <c:f>Sheet1!$B$2:$B$8</c:f>
              <c:numCache>
                <c:formatCode>General</c:formatCode>
                <c:ptCount val="7"/>
                <c:pt idx="0">
                  <c:v>1.37</c:v>
                </c:pt>
                <c:pt idx="1">
                  <c:v>1.24</c:v>
                </c:pt>
                <c:pt idx="2">
                  <c:v>1.2</c:v>
                </c:pt>
                <c:pt idx="3">
                  <c:v>1.18</c:v>
                </c:pt>
                <c:pt idx="4">
                  <c:v>1.11</c:v>
                </c:pt>
                <c:pt idx="5">
                  <c:v>1.08</c:v>
                </c:pt>
                <c:pt idx="6">
                  <c:v>1.03</c:v>
                </c:pt>
              </c:numCache>
            </c:numRef>
          </c:val>
        </c:ser>
        <c:dLbls>
          <c:numFmt formatCode="0.00"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670"/>
                </a:solidFill>
                <a:latin typeface="+mn-lt"/>
              </a:defRPr>
            </a:pPr>
            <a:endParaRPr lang="en-US"/>
          </a:p>
        </c:txPr>
        <c:crossAx val="2094734552"/>
        <c:crosses val="autoZero"/>
        <c:auto val="1"/>
        <c:lblAlgn val="ctr"/>
        <c:noMultiLvlLbl val="1"/>
      </c:catAx>
      <c:valAx>
        <c:axId val="2094734552"/>
        <c:scaling>
          <c:orientation val="minMax"/>
          <c:min val="0"/>
        </c:scaling>
        <c:delete val="0"/>
        <c:axPos val="b"/>
        <c:majorGridlines>
          <c:spPr>
            <a:ln w="9525" cap="flat">
              <a:solidFill>
                <a:srgbClr val="E2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67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PercEF is a fix for adaptive search in vector databases. Ada-ef, a SIGMOD 2026 method, chooses the search effort per query by assuming the data looks like a bell curve. We tested that assumption, found where it fails, and built a method that works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Easy queries get too much effort, hard queries too little. The target is a per-query ef that reaches 95% recall without costing more than the best single 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families. Learned methods train a model per dataset and consult it during the search. Ada-ef needs no training: it assumes the similarities are Gaussian and reads query difficulty from a short probe. Its stated claims: meet a target recall, avoid under- and over-searching, and its Gaussian theory applies to learned embeddings.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highlighted step is the weak point: the five thresholds are placed using the bell curve. When the data is not Gaussian, almost no probe distance falls under them, and every query gets the same score and the same 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dot is a dataset; higher KS means less Gaussian. Most modern text embeddings fit well, which is why Ada-ef works on its own datasets. Nine do not, and you cannot tell from the kind of data, so it has to be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PercEF keeps Ada-ef's probe-score-table design and changes one thing: the thresholds are the data's own distance percentiles. Calibration fits an isotonic curve from score to the ef each calibration query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KS test is a pre-check a practitioner can run in seconds. Leave-one-out accuracy is 16 of 19. The one miss is SIFT-1B, where KS said Ada-ef but PercEF won; we tested tail-weighted statistics as replacements and none did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contributions. The diagnosis is new: nobody had measured this assumption. The method is a one-idea change, explained by the diagnosis. The cost floor and the offline test make it usable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comparisons are against the best fixed ef chosen in hindsight at the same mean recall, a demanding reference no deployment could choose in advance. p1 measures how badly the worst queries are 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non-Gaussian datasets, two calibration settings each. Example: on DeepImage the worst 1% of queries gain 8.5 recall points with PercEF against 4.3 with Ada-ef, at the same mean recall as the fixed 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 runs = 17 datasets x 2 calibration settings. PercEF is 1.03x to 1.37x faster than Ada-ef as shipped, mainly because Ada-ef computes 1,025 probe distances per query and PercEF 100. It is not many times faster; its main win is the worst-case recall.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each score at both probe lengths. On non-Gaussian data PercEF ranks better at both, so the thresholds carry the advantage. Right: DARTH, the learned method, wins the worst-case recall but is up to 2.3x slower than a fixed ef and needs minutes of training per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combination matches Ada-ef on Gaussian data, PercEF becomes one method for both kinds of data. Results for GloVe and MS Turing are still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limits are in the paper. Reviewers trust a paper that says what does not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to remember: measure the distribution instead of assuming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931920"/>
            <a:ext cx="10698480" cy="146304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200" b="1" dirty="0">
                <a:solidFill>
                  <a:schemeClr val="tx2"/>
                </a:solidFill>
              </a:defRPr>
            </a:lvl1pPr>
          </a:lstStyle>
          <a:p>
            <a:pPr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PercEF  ·  PES University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737360"/>
          </a:xfrm>
          <a:prstGeom prst="rect">
            <a:avLst/>
          </a:prstGeom>
          <a:noFill/>
          <a:ln/>
        </p:spPr>
        <p:txBody>
          <a:bodyPr wrap="square" lIns="0" tIns="0" rIns="0" bIns="0" rtlCol="0" anchor="b"/>
          <a:lstStyle/>
          <a:p>
            <a:pPr algn="l" indent="0" marL="0">
              <a:buNone/>
            </a:pPr>
            <a:r>
              <a:rPr lang="en-US" sz="3600" b="1" dirty="0">
                <a:solidFill>
                  <a:schemeClr val="bg1"/>
                </a:solidFill>
              </a:rPr>
              <a:t>PercEF: Exploiting Empirical Percentiles for Adaptive HNSW Search Beyond the Gaussian Assumption</a:t>
            </a:r>
            <a:endParaRPr lang="en-US" sz="3600" dirty="0"/>
          </a:p>
        </p:txBody>
      </p:sp>
      <p:sp>
        <p:nvSpPr>
          <p:cNvPr id="3" name="Text 0"/>
          <p:cNvSpPr/>
          <p:nvPr>
            <p:ph idx="101" type="body" hasCustomPrompt="1"/>
          </p:nvPr>
        </p:nvSpPr>
        <p:spPr>
          <a:xfrm>
            <a:off x="731520" y="3931920"/>
            <a:ext cx="10698480" cy="1463040"/>
          </a:xfrm>
          <a:prstGeom prst="rect">
            <a:avLst/>
          </a:prstGeom>
          <a:noFill/>
          <a:ln/>
        </p:spPr>
        <p:txBody>
          <a:bodyPr wrap="square" lIns="0" tIns="0" rIns="0" bIns="0" rtlCol="0" anchor="t"/>
          <a:lstStyle/>
          <a:p>
            <a:pPr indent="0" marL="0">
              <a:buNone/>
            </a:pPr>
            <a:r>
              <a:rPr lang="en-US" sz="1800" dirty="0">
                <a:solidFill>
                  <a:schemeClr val="bg2"/>
                </a:solidFill>
              </a:rPr>
              <a:t>Project review  ·  Department of Computer Science and Engineering, PES University</a:t>
            </a:r>
            <a:endParaRPr lang="en-US" sz="1800" dirty="0"/>
          </a:p>
          <a:p>
            <a:pPr indent="0" marL="0">
              <a:buNone/>
            </a:pPr>
            <a:r>
              <a:rPr lang="en-US" sz="1800" dirty="0">
                <a:solidFill>
                  <a:schemeClr val="bg2"/>
                </a:solidFill>
              </a:rPr>
              <a:t>Team: [Member 1], [Member 2], [Member 3], [Member 4]   ·   Guide: [Guide name]</a:t>
            </a:r>
            <a:endParaRPr lang="en-US" sz="1800" dirty="0"/>
          </a:p>
        </p:txBody>
      </p:sp>
      <p:sp>
        <p:nvSpPr>
          <p:cNvPr id="4" name="Logo backing"/>
          <p:cNvSpPr/>
          <p:nvPr/>
        </p:nvSpPr>
        <p:spPr>
          <a:xfrm>
            <a:off x="731520" y="548640"/>
            <a:ext cx="2743200" cy="1463040"/>
          </a:xfrm>
          <a:prstGeom prst="roundRect">
            <a:avLst>
              <a:gd name="adj" fmla="val 6250"/>
            </a:avLst>
          </a:prstGeom>
          <a:solidFill>
            <a:schemeClr val="bg1"/>
          </a:solidFill>
          <a:ln w="12700">
            <a:solidFill>
              <a:schemeClr val="bg1"/>
            </a:solidFill>
            <a:prstDash val="solid"/>
          </a:ln>
        </p:spPr>
      </p:sp>
      <p:pic>
        <p:nvPicPr>
          <p:cNvPr id="5" name="PES logo" descr="E:\shenvipranav\projects\hybridAdaEf\poster\assets\logo_pes.png">    </p:cNvPr>
          <p:cNvPicPr>
            <a:picLocks noChangeAspect="1"/>
          </p:cNvPicPr>
          <p:nvPr/>
        </p:nvPicPr>
        <p:blipFill>
          <a:blip r:embed="rId1"/>
          <a:stretch>
            <a:fillRect/>
          </a:stretch>
        </p:blipFill>
        <p:spPr>
          <a:xfrm>
            <a:off x="868680" y="658368"/>
            <a:ext cx="2468880" cy="126670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One ef for every query does not fit</a:t>
            </a:r>
            <a:endParaRPr lang="en-US" sz="3200" dirty="0"/>
          </a:p>
        </p:txBody>
      </p:sp>
      <p:sp>
        <p:nvSpPr>
          <p:cNvPr id="3" name="Problem intro"/>
          <p:cNvSpPr txBox="1"/>
          <p:nvPr/>
        </p:nvSpPr>
        <p:spPr>
          <a:xfrm>
            <a:off x="548640" y="1234440"/>
            <a:ext cx="11064240" cy="822960"/>
          </a:xfrm>
          <a:prstGeom prst="rect">
            <a:avLst/>
          </a:prstGeom>
          <a:noFill/>
          <a:ln/>
        </p:spPr>
        <p:txBody>
          <a:bodyPr wrap="square" lIns="0" tIns="0" rIns="0" bIns="0" rtlCol="0" anchor="ctr"/>
          <a:lstStyle/>
          <a:p>
            <a:pPr indent="0" marL="0">
              <a:buNone/>
            </a:pPr>
            <a:r>
              <a:rPr lang="en-US" sz="1800" dirty="0">
                <a:solidFill>
                  <a:schemeClr val="tx1"/>
                </a:solidFill>
              </a:rPr>
              <a:t>Vector databases answer a query with an HNSW graph search. One setting, ef, decides how much of the graph each search explores; most systems use the same ef for every query.</a:t>
            </a:r>
            <a:endParaRPr lang="en-US" sz="1800" dirty="0"/>
          </a:p>
        </p:txBody>
      </p:sp>
      <p:sp>
        <p:nvSpPr>
          <p:cNvPr id="4" name="Card: Easy query"/>
          <p:cNvSpPr/>
          <p:nvPr/>
        </p:nvSpPr>
        <p:spPr>
          <a:xfrm>
            <a:off x="548640" y="2240280"/>
            <a:ext cx="3520440" cy="2011680"/>
          </a:xfrm>
          <a:prstGeom prst="roundRect">
            <a:avLst>
              <a:gd name="adj" fmla="val 3636"/>
            </a:avLst>
          </a:prstGeom>
          <a:solidFill>
            <a:schemeClr val="bg2"/>
          </a:solidFill>
          <a:ln w="12700">
            <a:solidFill>
              <a:schemeClr val="bg2"/>
            </a:solidFill>
            <a:prstDash val="solid"/>
          </a:ln>
        </p:spPr>
      </p:sp>
      <p:sp>
        <p:nvSpPr>
          <p:cNvPr id="5" name="Card head: Easy query"/>
          <p:cNvSpPr txBox="1"/>
          <p:nvPr/>
        </p:nvSpPr>
        <p:spPr>
          <a:xfrm>
            <a:off x="777240" y="2423160"/>
            <a:ext cx="3063240" cy="457200"/>
          </a:xfrm>
          <a:prstGeom prst="rect">
            <a:avLst/>
          </a:prstGeom>
          <a:noFill/>
          <a:ln/>
        </p:spPr>
        <p:txBody>
          <a:bodyPr wrap="square" lIns="0" tIns="0" rIns="0" bIns="0" rtlCol="0" anchor="t"/>
          <a:lstStyle/>
          <a:p>
            <a:pPr indent="0" marL="0">
              <a:buNone/>
            </a:pPr>
            <a:r>
              <a:rPr lang="en-US" sz="1800" b="1" dirty="0">
                <a:solidFill>
                  <a:schemeClr val="tx2"/>
                </a:solidFill>
              </a:rPr>
              <a:t>Easy query</a:t>
            </a:r>
            <a:endParaRPr lang="en-US" sz="1800" dirty="0"/>
          </a:p>
        </p:txBody>
      </p:sp>
      <p:sp>
        <p:nvSpPr>
          <p:cNvPr id="6" name="Card body: Easy query"/>
          <p:cNvSpPr txBox="1"/>
          <p:nvPr/>
        </p:nvSpPr>
        <p:spPr>
          <a:xfrm>
            <a:off x="777240" y="2926080"/>
            <a:ext cx="3063240" cy="1143000"/>
          </a:xfrm>
          <a:prstGeom prst="rect">
            <a:avLst/>
          </a:prstGeom>
          <a:noFill/>
          <a:ln/>
        </p:spPr>
        <p:txBody>
          <a:bodyPr wrap="square" lIns="0" tIns="0" rIns="0" bIns="0" rtlCol="0" anchor="t"/>
          <a:lstStyle/>
          <a:p>
            <a:pPr indent="0" marL="0">
              <a:buNone/>
            </a:pPr>
            <a:r>
              <a:rPr lang="en-US" sz="1500" dirty="0">
                <a:solidFill>
                  <a:schemeClr val="tx1"/>
                </a:solidFill>
              </a:rPr>
              <a:t>Finds its neighbours with a small ef.</a:t>
            </a:r>
            <a:endParaRPr lang="en-US" sz="1500" dirty="0"/>
          </a:p>
          <a:p>
            <a:pPr indent="0" marL="0">
              <a:buNone/>
            </a:pPr>
            <a:r>
              <a:rPr lang="en-US" sz="1500" dirty="0">
                <a:solidFill>
                  <a:schemeClr val="tx1"/>
                </a:solidFill>
              </a:rPr>
              <a:t>A large shared ef wastes work on it.</a:t>
            </a:r>
            <a:endParaRPr lang="en-US" sz="1500" dirty="0"/>
          </a:p>
          <a:p>
            <a:pPr indent="0" marL="0">
              <a:buNone/>
            </a:pPr>
            <a:r>
              <a:rPr lang="en-US" sz="1500" dirty="0">
                <a:solidFill>
                  <a:schemeClr val="tx1"/>
                </a:solidFill>
              </a:rPr>
              <a:t>→ over-searching</a:t>
            </a:r>
            <a:endParaRPr lang="en-US" sz="1500" dirty="0"/>
          </a:p>
        </p:txBody>
      </p:sp>
      <p:sp>
        <p:nvSpPr>
          <p:cNvPr id="7" name="Card: Hard query"/>
          <p:cNvSpPr/>
          <p:nvPr/>
        </p:nvSpPr>
        <p:spPr>
          <a:xfrm>
            <a:off x="4343400" y="2240280"/>
            <a:ext cx="3520440" cy="2011680"/>
          </a:xfrm>
          <a:prstGeom prst="roundRect">
            <a:avLst>
              <a:gd name="adj" fmla="val 3636"/>
            </a:avLst>
          </a:prstGeom>
          <a:solidFill>
            <a:schemeClr val="bg2"/>
          </a:solidFill>
          <a:ln w="12700">
            <a:solidFill>
              <a:schemeClr val="bg2"/>
            </a:solidFill>
            <a:prstDash val="solid"/>
          </a:ln>
        </p:spPr>
      </p:sp>
      <p:sp>
        <p:nvSpPr>
          <p:cNvPr id="8" name="Card head: Hard query"/>
          <p:cNvSpPr txBox="1"/>
          <p:nvPr/>
        </p:nvSpPr>
        <p:spPr>
          <a:xfrm>
            <a:off x="4572000" y="2423160"/>
            <a:ext cx="3063240" cy="457200"/>
          </a:xfrm>
          <a:prstGeom prst="rect">
            <a:avLst/>
          </a:prstGeom>
          <a:noFill/>
          <a:ln/>
        </p:spPr>
        <p:txBody>
          <a:bodyPr wrap="square" lIns="0" tIns="0" rIns="0" bIns="0" rtlCol="0" anchor="t"/>
          <a:lstStyle/>
          <a:p>
            <a:pPr indent="0" marL="0">
              <a:buNone/>
            </a:pPr>
            <a:r>
              <a:rPr lang="en-US" sz="1800" b="1" dirty="0">
                <a:solidFill>
                  <a:schemeClr val="accent4"/>
                </a:solidFill>
              </a:rPr>
              <a:t>Hard query</a:t>
            </a:r>
            <a:endParaRPr lang="en-US" sz="1800" dirty="0"/>
          </a:p>
        </p:txBody>
      </p:sp>
      <p:sp>
        <p:nvSpPr>
          <p:cNvPr id="9" name="Card body: Hard query"/>
          <p:cNvSpPr txBox="1"/>
          <p:nvPr/>
        </p:nvSpPr>
        <p:spPr>
          <a:xfrm>
            <a:off x="4572000" y="2926080"/>
            <a:ext cx="3063240" cy="1143000"/>
          </a:xfrm>
          <a:prstGeom prst="rect">
            <a:avLst/>
          </a:prstGeom>
          <a:noFill/>
          <a:ln/>
        </p:spPr>
        <p:txBody>
          <a:bodyPr wrap="square" lIns="0" tIns="0" rIns="0" bIns="0" rtlCol="0" anchor="t"/>
          <a:lstStyle/>
          <a:p>
            <a:pPr indent="0" marL="0">
              <a:buNone/>
            </a:pPr>
            <a:r>
              <a:rPr lang="en-US" sz="1500" dirty="0">
                <a:solidFill>
                  <a:schemeClr val="tx1"/>
                </a:solidFill>
              </a:rPr>
              <a:t>Needs a large ef.</a:t>
            </a:r>
            <a:endParaRPr lang="en-US" sz="1500" dirty="0"/>
          </a:p>
          <a:p>
            <a:pPr indent="0" marL="0">
              <a:buNone/>
            </a:pPr>
            <a:r>
              <a:rPr lang="en-US" sz="1500" dirty="0">
                <a:solidFill>
                  <a:schemeClr val="tx1"/>
                </a:solidFill>
              </a:rPr>
              <a:t>A small shared ef leaves it short of its neighbours.</a:t>
            </a:r>
            <a:endParaRPr lang="en-US" sz="1500" dirty="0"/>
          </a:p>
          <a:p>
            <a:pPr indent="0" marL="0">
              <a:buNone/>
            </a:pPr>
            <a:r>
              <a:rPr lang="en-US" sz="1500" dirty="0">
                <a:solidFill>
                  <a:schemeClr val="tx1"/>
                </a:solidFill>
              </a:rPr>
              <a:t>→ under-searching</a:t>
            </a:r>
            <a:endParaRPr lang="en-US" sz="1500" dirty="0"/>
          </a:p>
        </p:txBody>
      </p:sp>
      <p:sp>
        <p:nvSpPr>
          <p:cNvPr id="10" name="Card: Goal"/>
          <p:cNvSpPr/>
          <p:nvPr/>
        </p:nvSpPr>
        <p:spPr>
          <a:xfrm>
            <a:off x="8138160" y="2240280"/>
            <a:ext cx="3520440" cy="2011680"/>
          </a:xfrm>
          <a:prstGeom prst="roundRect">
            <a:avLst>
              <a:gd name="adj" fmla="val 3636"/>
            </a:avLst>
          </a:prstGeom>
          <a:solidFill>
            <a:schemeClr val="accent1"/>
          </a:solidFill>
          <a:ln w="12700">
            <a:solidFill>
              <a:schemeClr val="accent1"/>
            </a:solidFill>
            <a:prstDash val="solid"/>
          </a:ln>
        </p:spPr>
      </p:sp>
      <p:sp>
        <p:nvSpPr>
          <p:cNvPr id="11" name="Card head: Goal"/>
          <p:cNvSpPr txBox="1"/>
          <p:nvPr/>
        </p:nvSpPr>
        <p:spPr>
          <a:xfrm>
            <a:off x="8366760" y="2423160"/>
            <a:ext cx="3063240" cy="457200"/>
          </a:xfrm>
          <a:prstGeom prst="rect">
            <a:avLst/>
          </a:prstGeom>
          <a:noFill/>
          <a:ln/>
        </p:spPr>
        <p:txBody>
          <a:bodyPr wrap="square" lIns="0" tIns="0" rIns="0" bIns="0" rtlCol="0" anchor="t"/>
          <a:lstStyle/>
          <a:p>
            <a:pPr indent="0" marL="0">
              <a:buNone/>
            </a:pPr>
            <a:r>
              <a:rPr lang="en-US" sz="1800" b="1" dirty="0">
                <a:solidFill>
                  <a:schemeClr val="bg1"/>
                </a:solidFill>
              </a:rPr>
              <a:t>Goal</a:t>
            </a:r>
            <a:endParaRPr lang="en-US" sz="1800" dirty="0"/>
          </a:p>
        </p:txBody>
      </p:sp>
      <p:sp>
        <p:nvSpPr>
          <p:cNvPr id="12" name="Card body: Goal"/>
          <p:cNvSpPr txBox="1"/>
          <p:nvPr/>
        </p:nvSpPr>
        <p:spPr>
          <a:xfrm>
            <a:off x="8366760" y="2926080"/>
            <a:ext cx="3063240" cy="1143000"/>
          </a:xfrm>
          <a:prstGeom prst="rect">
            <a:avLst/>
          </a:prstGeom>
          <a:noFill/>
          <a:ln/>
        </p:spPr>
        <p:txBody>
          <a:bodyPr wrap="square" lIns="0" tIns="0" rIns="0" bIns="0" rtlCol="0" anchor="t"/>
          <a:lstStyle/>
          <a:p>
            <a:pPr indent="0" marL="0">
              <a:buNone/>
            </a:pPr>
            <a:r>
              <a:rPr lang="en-US" sz="1500" dirty="0">
                <a:solidFill>
                  <a:schemeClr val="tx1"/>
                </a:solidFill>
              </a:rPr>
              <a:t>Choose ef per query: meet the target recall (95%), help the worst queries, and cost no more than one well-tuned ef.</a:t>
            </a:r>
            <a:endParaRPr lang="en-US" sz="1500" dirty="0"/>
          </a:p>
        </p:txBody>
      </p:sp>
      <p:sp>
        <p:nvSpPr>
          <p:cNvPr id="13" name="Recall definition"/>
          <p:cNvSpPr txBox="1"/>
          <p:nvPr/>
        </p:nvSpPr>
        <p:spPr>
          <a:xfrm>
            <a:off x="548640" y="4526280"/>
            <a:ext cx="11064240" cy="457200"/>
          </a:xfrm>
          <a:prstGeom prst="rect">
            <a:avLst/>
          </a:prstGeom>
          <a:noFill/>
          <a:ln/>
        </p:spPr>
        <p:txBody>
          <a:bodyPr wrap="square" lIns="0" tIns="0" rIns="0" bIns="0" rtlCol="0" anchor="ctr"/>
          <a:lstStyle/>
          <a:p>
            <a:pPr indent="0" marL="0">
              <a:buNone/>
            </a:pPr>
            <a:r>
              <a:rPr lang="en-US" sz="1500" i="1" dirty="0">
                <a:solidFill>
                  <a:schemeClr val="accent2"/>
                </a:solidFill>
              </a:rPr>
              <a:t>Recall = share of a query's 100 true nearest neighbours that the search finds.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Existing work: two ways to adapt ef</a:t>
            </a:r>
            <a:endParaRPr lang="en-US" sz="3200" dirty="0"/>
          </a:p>
        </p:txBody>
      </p:sp>
      <p:sp>
        <p:nvSpPr>
          <p:cNvPr id="3" name="Card: Learned early termination"/>
          <p:cNvSpPr/>
          <p:nvPr/>
        </p:nvSpPr>
        <p:spPr>
          <a:xfrm>
            <a:off x="548640" y="1325880"/>
            <a:ext cx="5440680" cy="3383280"/>
          </a:xfrm>
          <a:prstGeom prst="roundRect">
            <a:avLst>
              <a:gd name="adj" fmla="val 2162"/>
            </a:avLst>
          </a:prstGeom>
          <a:solidFill>
            <a:schemeClr val="bg2"/>
          </a:solidFill>
          <a:ln w="12700">
            <a:solidFill>
              <a:schemeClr val="bg2"/>
            </a:solidFill>
            <a:prstDash val="solid"/>
          </a:ln>
        </p:spPr>
      </p:sp>
      <p:sp>
        <p:nvSpPr>
          <p:cNvPr id="4" name="Card head: Learned early termination"/>
          <p:cNvSpPr txBox="1"/>
          <p:nvPr/>
        </p:nvSpPr>
        <p:spPr>
          <a:xfrm>
            <a:off x="777240" y="1508760"/>
            <a:ext cx="4983480" cy="457200"/>
          </a:xfrm>
          <a:prstGeom prst="rect">
            <a:avLst/>
          </a:prstGeom>
          <a:noFill/>
          <a:ln/>
        </p:spPr>
        <p:txBody>
          <a:bodyPr wrap="square" lIns="0" tIns="0" rIns="0" bIns="0" rtlCol="0" anchor="t"/>
          <a:lstStyle/>
          <a:p>
            <a:pPr indent="0" marL="0">
              <a:buNone/>
            </a:pPr>
            <a:r>
              <a:rPr lang="en-US" sz="1800" b="1" dirty="0">
                <a:solidFill>
                  <a:schemeClr val="tx2"/>
                </a:solidFill>
              </a:rPr>
              <a:t>Learned early termination</a:t>
            </a:r>
            <a:endParaRPr lang="en-US" sz="1800" dirty="0"/>
          </a:p>
        </p:txBody>
      </p:sp>
      <p:sp>
        <p:nvSpPr>
          <p:cNvPr id="5" name="Card body: Learned early termination"/>
          <p:cNvSpPr txBox="1"/>
          <p:nvPr/>
        </p:nvSpPr>
        <p:spPr>
          <a:xfrm>
            <a:off x="777240" y="2011680"/>
            <a:ext cx="4983480" cy="2514600"/>
          </a:xfrm>
          <a:prstGeom prst="rect">
            <a:avLst/>
          </a:prstGeom>
          <a:noFill/>
          <a:ln/>
        </p:spPr>
        <p:txBody>
          <a:bodyPr wrap="square" lIns="0" tIns="0" rIns="0" bIns="0" rtlCol="0" anchor="t"/>
          <a:lstStyle/>
          <a:p>
            <a:pPr indent="0" marL="0">
              <a:buNone/>
            </a:pPr>
            <a:r>
              <a:rPr lang="en-US" sz="1600" dirty="0">
                <a:solidFill>
                  <a:schemeClr val="tx1"/>
                </a:solidFill>
              </a:rPr>
              <a:t>LAET (SIGMOD 2020), DARTH (SIGMOD 2026)</a:t>
            </a:r>
            <a:endParaRPr lang="en-US" sz="1600" dirty="0"/>
          </a:p>
          <a:p>
            <a:pPr indent="0" marL="0">
              <a:buNone/>
            </a:pPr>
            <a:endParaRPr lang="en-US" sz="1600" dirty="0"/>
          </a:p>
          <a:p>
            <a:pPr indent="0" marL="0">
              <a:buNone/>
            </a:pPr>
            <a:r>
              <a:rPr lang="en-US" sz="1600" dirty="0">
                <a:solidFill>
                  <a:schemeClr val="tx1"/>
                </a:solidFill>
              </a:rPr>
              <a:t>• A trained model watches each search and predicts when the target recall is reached</a:t>
            </a:r>
            <a:endParaRPr lang="en-US" sz="1600" dirty="0"/>
          </a:p>
          <a:p>
            <a:pPr indent="0" marL="0">
              <a:buNone/>
            </a:pPr>
            <a:r>
              <a:rPr lang="en-US" sz="1600" dirty="0">
                <a:solidFill>
                  <a:schemeClr val="tx1"/>
                </a:solidFill>
              </a:rPr>
              <a:t>• Needs training data and a model per dataset</a:t>
            </a:r>
            <a:endParaRPr lang="en-US" sz="1600" dirty="0"/>
          </a:p>
          <a:p>
            <a:pPr indent="0" marL="0">
              <a:buNone/>
            </a:pPr>
            <a:r>
              <a:rPr lang="en-US" sz="1600" dirty="0">
                <a:solidFill>
                  <a:schemeClr val="tx1"/>
                </a:solidFill>
              </a:rPr>
              <a:t>• Model calls run inside every search</a:t>
            </a:r>
            <a:endParaRPr lang="en-US" sz="1600" dirty="0"/>
          </a:p>
        </p:txBody>
      </p:sp>
      <p:sp>
        <p:nvSpPr>
          <p:cNvPr id="6" name="Card: Distribution-aware: Ada-ef"/>
          <p:cNvSpPr/>
          <p:nvPr/>
        </p:nvSpPr>
        <p:spPr>
          <a:xfrm>
            <a:off x="6263640" y="1325880"/>
            <a:ext cx="5394960" cy="3383280"/>
          </a:xfrm>
          <a:prstGeom prst="roundRect">
            <a:avLst>
              <a:gd name="adj" fmla="val 2162"/>
            </a:avLst>
          </a:prstGeom>
          <a:solidFill>
            <a:srgbClr val="DCEFF3"/>
          </a:solidFill>
          <a:ln w="12700">
            <a:solidFill>
              <a:srgbClr val="DCEFF3"/>
            </a:solidFill>
            <a:prstDash val="solid"/>
          </a:ln>
        </p:spPr>
      </p:sp>
      <p:sp>
        <p:nvSpPr>
          <p:cNvPr id="7" name="Card head: Distribution-aware: Ada-ef"/>
          <p:cNvSpPr txBox="1"/>
          <p:nvPr/>
        </p:nvSpPr>
        <p:spPr>
          <a:xfrm>
            <a:off x="6492240" y="1508760"/>
            <a:ext cx="4937760" cy="457200"/>
          </a:xfrm>
          <a:prstGeom prst="rect">
            <a:avLst/>
          </a:prstGeom>
          <a:noFill/>
          <a:ln/>
        </p:spPr>
        <p:txBody>
          <a:bodyPr wrap="square" lIns="0" tIns="0" rIns="0" bIns="0" rtlCol="0" anchor="t"/>
          <a:lstStyle/>
          <a:p>
            <a:pPr indent="0" marL="0">
              <a:buNone/>
            </a:pPr>
            <a:r>
              <a:rPr lang="en-US" sz="1800" b="1" dirty="0">
                <a:solidFill>
                  <a:schemeClr val="tx2"/>
                </a:solidFill>
              </a:rPr>
              <a:t>Distribution-aware: Ada-ef</a:t>
            </a:r>
            <a:endParaRPr lang="en-US" sz="1800" dirty="0"/>
          </a:p>
        </p:txBody>
      </p:sp>
      <p:sp>
        <p:nvSpPr>
          <p:cNvPr id="8" name="Card body: Distribution-aware: Ada-ef"/>
          <p:cNvSpPr txBox="1"/>
          <p:nvPr/>
        </p:nvSpPr>
        <p:spPr>
          <a:xfrm>
            <a:off x="6492240" y="2011680"/>
            <a:ext cx="4937760" cy="2514600"/>
          </a:xfrm>
          <a:prstGeom prst="rect">
            <a:avLst/>
          </a:prstGeom>
          <a:noFill/>
          <a:ln/>
        </p:spPr>
        <p:txBody>
          <a:bodyPr wrap="square" lIns="0" tIns="0" rIns="0" bIns="0" rtlCol="0" anchor="t"/>
          <a:lstStyle/>
          <a:p>
            <a:pPr indent="0" marL="0">
              <a:buNone/>
            </a:pPr>
            <a:r>
              <a:rPr lang="en-US" sz="1600" dirty="0">
                <a:solidFill>
                  <a:schemeClr val="tx1"/>
                </a:solidFill>
              </a:rPr>
              <a:t>Zhang &amp; Miller, SIGMOD 2026</a:t>
            </a:r>
            <a:endParaRPr lang="en-US" sz="1600" dirty="0"/>
          </a:p>
          <a:p>
            <a:pPr indent="0" marL="0">
              <a:buNone/>
            </a:pPr>
            <a:endParaRPr lang="en-US" sz="1600" dirty="0"/>
          </a:p>
          <a:p>
            <a:pPr indent="0" marL="0">
              <a:buNone/>
            </a:pPr>
            <a:r>
              <a:rPr lang="en-US" sz="1600" dirty="0">
                <a:solidFill>
                  <a:schemeClr val="tx1"/>
                </a:solidFill>
              </a:rPr>
              <a:t>• Models a query's similarities to the data as a bell curve (central limit theorem)</a:t>
            </a:r>
            <a:endParaRPr lang="en-US" sz="1600" dirty="0"/>
          </a:p>
          <a:p>
            <a:pPr indent="0" marL="0">
              <a:buNone/>
            </a:pPr>
            <a:r>
              <a:rPr lang="en-US" sz="1600" dirty="0">
                <a:solidFill>
                  <a:schemeClr val="tx1"/>
                </a:solidFill>
              </a:rPr>
              <a:t>• A short probe scores how hard the query is; a table maps score to ef</a:t>
            </a:r>
            <a:endParaRPr lang="en-US" sz="1600" dirty="0"/>
          </a:p>
          <a:p>
            <a:pPr indent="0" marL="0">
              <a:buNone/>
            </a:pPr>
            <a:r>
              <a:rPr lang="en-US" sz="1600" dirty="0">
                <a:solidFill>
                  <a:schemeClr val="tx1"/>
                </a:solidFill>
              </a:rPr>
              <a:t>• No training; claims to meet a target recall while avoiding under- and over-searching, and up to 4x lower latency than learned methods</a:t>
            </a:r>
            <a:endParaRPr lang="en-US" sz="1600" dirty="0"/>
          </a:p>
        </p:txBody>
      </p:sp>
      <p:sp>
        <p:nvSpPr>
          <p:cNvPr id="9" name="Bridge question"/>
          <p:cNvSpPr txBox="1"/>
          <p:nvPr/>
        </p:nvSpPr>
        <p:spPr>
          <a:xfrm>
            <a:off x="548640" y="5029200"/>
            <a:ext cx="11064240" cy="548640"/>
          </a:xfrm>
          <a:prstGeom prst="rect">
            <a:avLst/>
          </a:prstGeom>
          <a:noFill/>
          <a:ln/>
        </p:spPr>
        <p:txBody>
          <a:bodyPr wrap="square" lIns="0" tIns="0" rIns="0" bIns="0" rtlCol="0" anchor="ctr"/>
          <a:lstStyle/>
          <a:p>
            <a:pPr indent="0" marL="0">
              <a:buNone/>
            </a:pPr>
            <a:r>
              <a:rPr lang="en-US" sz="2000" b="1" dirty="0">
                <a:solidFill>
                  <a:schemeClr val="accent1"/>
                </a:solidFill>
              </a:rPr>
              <a:t>Our question: does Ada-ef's bell-curve assumption hold on real data?</a:t>
            </a:r>
            <a:endParaRPr lang="en-US" sz="2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Ada-ef assumes a bell curve</a:t>
            </a:r>
            <a:endParaRPr lang="en-US" sz="3200" dirty="0"/>
          </a:p>
        </p:txBody>
      </p:sp>
      <p:sp>
        <p:nvSpPr>
          <p:cNvPr id="3" name="Node: stats"/>
          <p:cNvSpPr/>
          <p:nvPr/>
        </p:nvSpPr>
        <p:spPr>
          <a:xfrm>
            <a:off x="54864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Database mean and covariance</a:t>
            </a:r>
            <a:endParaRPr lang="en-US" sz="1400" dirty="0"/>
          </a:p>
        </p:txBody>
      </p:sp>
      <p:sp>
        <p:nvSpPr>
          <p:cNvPr id="4" name="Node: normal"/>
          <p:cNvSpPr/>
          <p:nvPr/>
        </p:nvSpPr>
        <p:spPr>
          <a:xfrm>
            <a:off x="278892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Predicted bell curve of similarities, per query</a:t>
            </a:r>
            <a:endParaRPr lang="en-US" sz="1400" dirty="0"/>
          </a:p>
        </p:txBody>
      </p:sp>
      <p:sp>
        <p:nvSpPr>
          <p:cNvPr id="5" name="Node: thresholds"/>
          <p:cNvSpPr/>
          <p:nvPr/>
        </p:nvSpPr>
        <p:spPr>
          <a:xfrm>
            <a:off x="5029200" y="1600200"/>
            <a:ext cx="2057400" cy="1097280"/>
          </a:xfrm>
          <a:prstGeom prst="roundRect">
            <a:avLst>
              <a:gd name="adj" fmla="val 6667"/>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400" b="1" dirty="0">
                <a:solidFill>
                  <a:schemeClr val="bg1"/>
                </a:solidFill>
              </a:rPr>
              <a:t>5 thresholds at the 0.1–0.5% closest</a:t>
            </a:r>
            <a:endParaRPr lang="en-US" sz="1400" dirty="0"/>
          </a:p>
        </p:txBody>
      </p:sp>
      <p:sp>
        <p:nvSpPr>
          <p:cNvPr id="6" name="Node: probe"/>
          <p:cNvSpPr/>
          <p:nvPr/>
        </p:nvSpPr>
        <p:spPr>
          <a:xfrm>
            <a:off x="726948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Probe 1,025 distances; count those under each threshold</a:t>
            </a:r>
            <a:endParaRPr lang="en-US" sz="1400" dirty="0"/>
          </a:p>
        </p:txBody>
      </p:sp>
      <p:sp>
        <p:nvSpPr>
          <p:cNvPr id="7" name="Node: table"/>
          <p:cNvSpPr/>
          <p:nvPr/>
        </p:nvSpPr>
        <p:spPr>
          <a:xfrm>
            <a:off x="950976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Score → ef from a calibrated table</a:t>
            </a:r>
            <a:endParaRPr lang="en-US" sz="1400" dirty="0"/>
          </a:p>
        </p:txBody>
      </p:sp>
      <p:sp>
        <p:nvSpPr>
          <p:cNvPr id="8" name="Arrow: ada 0"/>
          <p:cNvSpPr/>
          <p:nvPr/>
        </p:nvSpPr>
        <p:spPr>
          <a:xfrm>
            <a:off x="2606040" y="2148840"/>
            <a:ext cx="182880" cy="0"/>
          </a:xfrm>
          <a:prstGeom prst="line">
            <a:avLst/>
          </a:prstGeom>
          <a:noFill/>
          <a:ln w="22225">
            <a:solidFill>
              <a:srgbClr val="5B6670"/>
            </a:solidFill>
            <a:prstDash val="solid"/>
            <a:tailEnd type="triangle"/>
          </a:ln>
        </p:spPr>
      </p:sp>
      <p:sp>
        <p:nvSpPr>
          <p:cNvPr id="9" name="Arrow: ada 1"/>
          <p:cNvSpPr/>
          <p:nvPr/>
        </p:nvSpPr>
        <p:spPr>
          <a:xfrm>
            <a:off x="4846320" y="2148840"/>
            <a:ext cx="182880" cy="0"/>
          </a:xfrm>
          <a:prstGeom prst="line">
            <a:avLst/>
          </a:prstGeom>
          <a:noFill/>
          <a:ln w="22225">
            <a:solidFill>
              <a:srgbClr val="5B6670"/>
            </a:solidFill>
            <a:prstDash val="solid"/>
            <a:tailEnd type="triangle"/>
          </a:ln>
        </p:spPr>
      </p:sp>
      <p:sp>
        <p:nvSpPr>
          <p:cNvPr id="10" name="Arrow: ada 2"/>
          <p:cNvSpPr/>
          <p:nvPr/>
        </p:nvSpPr>
        <p:spPr>
          <a:xfrm>
            <a:off x="7086600" y="2148840"/>
            <a:ext cx="182880" cy="0"/>
          </a:xfrm>
          <a:prstGeom prst="line">
            <a:avLst/>
          </a:prstGeom>
          <a:noFill/>
          <a:ln w="22225">
            <a:solidFill>
              <a:srgbClr val="5B6670"/>
            </a:solidFill>
            <a:prstDash val="solid"/>
            <a:tailEnd type="triangle"/>
          </a:ln>
        </p:spPr>
      </p:sp>
      <p:sp>
        <p:nvSpPr>
          <p:cNvPr id="11" name="Arrow: ada 3"/>
          <p:cNvSpPr/>
          <p:nvPr/>
        </p:nvSpPr>
        <p:spPr>
          <a:xfrm>
            <a:off x="9326880" y="2148840"/>
            <a:ext cx="182880" cy="0"/>
          </a:xfrm>
          <a:prstGeom prst="line">
            <a:avLst/>
          </a:prstGeom>
          <a:noFill/>
          <a:ln w="22225">
            <a:solidFill>
              <a:srgbClr val="5B6670"/>
            </a:solidFill>
            <a:prstDash val="solid"/>
            <a:tailEnd type="triangle"/>
          </a:ln>
        </p:spPr>
      </p:sp>
      <p:sp>
        <p:nvSpPr>
          <p:cNvPr id="12" name="Ada-ef weakness"/>
          <p:cNvSpPr txBox="1"/>
          <p:nvPr/>
        </p:nvSpPr>
        <p:spPr>
          <a:xfrm>
            <a:off x="548640" y="3154680"/>
            <a:ext cx="11064240" cy="822960"/>
          </a:xfrm>
          <a:prstGeom prst="rect">
            <a:avLst/>
          </a:prstGeom>
          <a:noFill/>
          <a:ln/>
        </p:spPr>
        <p:txBody>
          <a:bodyPr wrap="square" lIns="0" tIns="0" rIns="0" bIns="0" rtlCol="0" anchor="ctr"/>
          <a:lstStyle/>
          <a:p>
            <a:pPr indent="0" marL="0">
              <a:buNone/>
            </a:pPr>
            <a:r>
              <a:rPr lang="en-US" sz="1800" dirty="0">
                <a:solidFill>
                  <a:schemeClr val="tx1"/>
                </a:solidFill>
              </a:rPr>
              <a:t>The thresholds come from the bell curve. If the real similarities are not bell-shaped, they sit in the wrong place, and the score can no longer tell easy queries from hard ones.</a:t>
            </a:r>
            <a:endParaRPr lang="en-US" sz="1800" dirty="0"/>
          </a:p>
        </p:txBody>
      </p:sp>
      <p:sp>
        <p:nvSpPr>
          <p:cNvPr id="13" name="Card: The gap"/>
          <p:cNvSpPr/>
          <p:nvPr/>
        </p:nvSpPr>
        <p:spPr>
          <a:xfrm>
            <a:off x="548640" y="4160520"/>
            <a:ext cx="11109960" cy="1554480"/>
          </a:xfrm>
          <a:prstGeom prst="roundRect">
            <a:avLst>
              <a:gd name="adj" fmla="val 4706"/>
            </a:avLst>
          </a:prstGeom>
          <a:solidFill>
            <a:srgbClr val="FCE9DF"/>
          </a:solidFill>
          <a:ln w="12700">
            <a:solidFill>
              <a:srgbClr val="FCE9DF"/>
            </a:solidFill>
            <a:prstDash val="solid"/>
          </a:ln>
        </p:spPr>
      </p:sp>
      <p:sp>
        <p:nvSpPr>
          <p:cNvPr id="14" name="Card head: The gap"/>
          <p:cNvSpPr txBox="1"/>
          <p:nvPr/>
        </p:nvSpPr>
        <p:spPr>
          <a:xfrm>
            <a:off x="777240" y="4343400"/>
            <a:ext cx="10652760" cy="457200"/>
          </a:xfrm>
          <a:prstGeom prst="rect">
            <a:avLst/>
          </a:prstGeom>
          <a:noFill/>
          <a:ln/>
        </p:spPr>
        <p:txBody>
          <a:bodyPr wrap="square" lIns="0" tIns="0" rIns="0" bIns="0" rtlCol="0" anchor="t"/>
          <a:lstStyle/>
          <a:p>
            <a:pPr indent="0" marL="0">
              <a:buNone/>
            </a:pPr>
            <a:r>
              <a:rPr lang="en-US" sz="1800" b="1" dirty="0">
                <a:solidFill>
                  <a:schemeClr val="accent4"/>
                </a:solidFill>
              </a:rPr>
              <a:t>The gap</a:t>
            </a:r>
            <a:endParaRPr lang="en-US" sz="1800" dirty="0"/>
          </a:p>
        </p:txBody>
      </p:sp>
      <p:sp>
        <p:nvSpPr>
          <p:cNvPr id="15" name="Card body: The gap"/>
          <p:cNvSpPr txBox="1"/>
          <p:nvPr/>
        </p:nvSpPr>
        <p:spPr>
          <a:xfrm>
            <a:off x="777240" y="4846320"/>
            <a:ext cx="10652760" cy="685800"/>
          </a:xfrm>
          <a:prstGeom prst="rect">
            <a:avLst/>
          </a:prstGeom>
          <a:noFill/>
          <a:ln/>
        </p:spPr>
        <p:txBody>
          <a:bodyPr wrap="square" lIns="0" tIns="0" rIns="0" bIns="0" rtlCol="0" anchor="t"/>
          <a:lstStyle/>
          <a:p>
            <a:pPr indent="0" marL="0">
              <a:buNone/>
            </a:pPr>
            <a:r>
              <a:rPr lang="en-US" sz="1600" dirty="0">
                <a:solidFill>
                  <a:schemeClr val="tx1"/>
                </a:solidFill>
              </a:rPr>
              <a:t>Ada-ef's paper states this assumption but never measures it on data. Neither does any other ANN paper we found.</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The assumption fails on 9 of 41 datasets</a:t>
            </a:r>
            <a:endParaRPr lang="en-US" sz="3200" dirty="0"/>
          </a:p>
        </p:txBody>
      </p:sp>
      <p:pic>
        <p:nvPicPr>
          <p:cNvPr id="3" name="KS survey figure" descr="E:\shenvipranav\projects\hybridAdaEf\server_results\paper_out_20261005_212926\fig1_ks_survey.png">    </p:cNvPr>
          <p:cNvPicPr>
            <a:picLocks noChangeAspect="1"/>
          </p:cNvPicPr>
          <p:nvPr/>
        </p:nvPicPr>
        <p:blipFill>
          <a:blip r:embed="rId1"/>
          <a:stretch>
            <a:fillRect/>
          </a:stretch>
        </p:blipFill>
        <p:spPr>
          <a:xfrm>
            <a:off x="548640" y="1188720"/>
            <a:ext cx="4715583" cy="4937760"/>
          </a:xfrm>
          <a:prstGeom prst="rect">
            <a:avLst/>
          </a:prstGeom>
        </p:spPr>
      </p:pic>
      <p:sp>
        <p:nvSpPr>
          <p:cNvPr id="4" name="Diagnosis bullets"/>
          <p:cNvSpPr txBox="1"/>
          <p:nvPr/>
        </p:nvSpPr>
        <p:spPr>
          <a:xfrm>
            <a:off x="5897880" y="1280160"/>
            <a:ext cx="5760720" cy="48463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KS statistic: how far each query's similarities are from Ada-ef's bell curve (0 = perfect fit)</a:t>
            </a:r>
            <a:endParaRPr lang="en-US" sz="1600" dirty="0"/>
          </a:p>
          <a:p>
            <a:pPr marL="342900" indent="-342900">
              <a:spcAft>
                <a:spcPts val="800"/>
              </a:spcAft>
              <a:buSzPct val="100000"/>
              <a:buChar char="•"/>
            </a:pPr>
            <a:r>
              <a:rPr lang="en-US" sz="1600" dirty="0">
                <a:solidFill>
                  <a:schemeClr val="tx1"/>
                </a:solidFill>
              </a:rPr>
              <a:t>Measured on 41 public datasets (ann-benchmarks, Big-ANN, VIBE, Ada-ef's sources)</a:t>
            </a:r>
            <a:endParaRPr lang="en-US" sz="1600" dirty="0"/>
          </a:p>
          <a:p>
            <a:pPr marL="342900" indent="-342900">
              <a:spcAft>
                <a:spcPts val="800"/>
              </a:spcAft>
              <a:buSzPct val="100000"/>
              <a:buChar char="•"/>
            </a:pPr>
            <a:r>
              <a:rPr lang="en-US" sz="1600" b="1" dirty="0">
                <a:solidFill>
                  <a:schemeClr val="tx1"/>
                </a:solidFill>
              </a:rPr>
              <a:t>9 clearly non-Gaussian, including SIFT, GIST, Fashion-MNIST, DeepImage, Deep1B</a:t>
            </a:r>
            <a:endParaRPr lang="en-US" sz="1600" dirty="0"/>
          </a:p>
          <a:p>
            <a:pPr marL="342900" indent="-342900">
              <a:spcAft>
                <a:spcPts val="800"/>
              </a:spcAft>
              <a:buSzPct val="100000"/>
              <a:buChar char="•"/>
            </a:pPr>
            <a:r>
              <a:rPr lang="en-US" sz="1600" dirty="0">
                <a:solidFill>
                  <a:schemeClr val="tx1"/>
                </a:solidFill>
              </a:rPr>
              <a:t>6 of the 9 are learned embeddings, inside Ada-ef's stated scope</a:t>
            </a:r>
            <a:endParaRPr lang="en-US" sz="1600" dirty="0"/>
          </a:p>
          <a:p>
            <a:pPr marL="342900" indent="-342900">
              <a:spcAft>
                <a:spcPts val="800"/>
              </a:spcAft>
              <a:buSzPct val="100000"/>
              <a:buChar char="•"/>
            </a:pPr>
            <a:r>
              <a:rPr lang="en-US" sz="1600" dirty="0">
                <a:solidFill>
                  <a:schemeClr val="tx1"/>
                </a:solidFill>
              </a:rPr>
              <a:t>Data type does not predict it: SIFT-1M 0.126 vs SIFT-1B 0.029; Fashion-MNIST 0.073 vs MNIST 0.037</a:t>
            </a:r>
            <a:endParaRPr lang="en-US" sz="1600" dirty="0"/>
          </a:p>
          <a:p>
            <a:pPr marL="342900" indent="-342900">
              <a:spcAft>
                <a:spcPts val="800"/>
              </a:spcAft>
              <a:buSzPct val="100000"/>
              <a:buChar char="•"/>
            </a:pPr>
            <a:r>
              <a:rPr lang="en-US" sz="1600" dirty="0">
                <a:solidFill>
                  <a:schemeClr val="tx1"/>
                </a:solidFill>
              </a:rPr>
              <a:t>There, Ada-ef stops adapting: on SIFT it gives every query the same ef</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PercEF: measure the thresholds, don't assume them</a:t>
            </a:r>
            <a:endParaRPr lang="en-US" sz="3200" dirty="0"/>
          </a:p>
        </p:txBody>
      </p:sp>
      <p:sp>
        <p:nvSpPr>
          <p:cNvPr id="3" name="Lane offline"/>
          <p:cNvSpPr txBox="1"/>
          <p:nvPr/>
        </p:nvSpPr>
        <p:spPr>
          <a:xfrm>
            <a:off x="548640" y="1234440"/>
            <a:ext cx="5486400" cy="320040"/>
          </a:xfrm>
          <a:prstGeom prst="rect">
            <a:avLst/>
          </a:prstGeom>
          <a:noFill/>
          <a:ln/>
        </p:spPr>
        <p:txBody>
          <a:bodyPr wrap="square" lIns="0" tIns="0" rIns="0" bIns="0" rtlCol="0" anchor="ctr"/>
          <a:lstStyle/>
          <a:p>
            <a:pPr indent="0" marL="0">
              <a:buNone/>
            </a:pPr>
            <a:r>
              <a:rPr lang="en-US" sz="1400" i="1" dirty="0">
                <a:solidFill>
                  <a:schemeClr val="accent6"/>
                </a:solidFill>
              </a:rPr>
              <a:t>Offline, once per dataset</a:t>
            </a:r>
            <a:endParaRPr lang="en-US" sz="1400" dirty="0"/>
          </a:p>
        </p:txBody>
      </p:sp>
      <p:sp>
        <p:nvSpPr>
          <p:cNvPr id="4" name="Node: corpus"/>
          <p:cNvSpPr/>
          <p:nvPr/>
        </p:nvSpPr>
        <p:spPr>
          <a:xfrm>
            <a:off x="548640" y="160020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Corpus vectors</a:t>
            </a:r>
            <a:endParaRPr lang="en-US" sz="1400" dirty="0"/>
          </a:p>
        </p:txBody>
      </p:sp>
      <p:sp>
        <p:nvSpPr>
          <p:cNvPr id="5" name="Node: percentiles"/>
          <p:cNvSpPr/>
          <p:nvPr/>
        </p:nvSpPr>
        <p:spPr>
          <a:xfrm>
            <a:off x="3429000" y="1600200"/>
            <a:ext cx="23774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400" b="1" dirty="0">
                <a:solidFill>
                  <a:schemeClr val="bg1"/>
                </a:solidFill>
              </a:rPr>
              <a:t>Empirical distance percentiles (0.1–0.5%)</a:t>
            </a:r>
            <a:endParaRPr lang="en-US" sz="1400" dirty="0"/>
          </a:p>
        </p:txBody>
      </p:sp>
      <p:sp>
        <p:nvSpPr>
          <p:cNvPr id="6" name="Node: calibrate"/>
          <p:cNvSpPr/>
          <p:nvPr/>
        </p:nvSpPr>
        <p:spPr>
          <a:xfrm>
            <a:off x="6309360" y="160020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Calibrate ef table on 200–2,000 queries</a:t>
            </a:r>
            <a:endParaRPr lang="en-US" sz="1400" dirty="0"/>
          </a:p>
        </p:txBody>
      </p:sp>
      <p:sp>
        <p:nvSpPr>
          <p:cNvPr id="7" name="Arrow: o1"/>
          <p:cNvSpPr/>
          <p:nvPr/>
        </p:nvSpPr>
        <p:spPr>
          <a:xfrm>
            <a:off x="2926080" y="2057400"/>
            <a:ext cx="502920" cy="0"/>
          </a:xfrm>
          <a:prstGeom prst="line">
            <a:avLst/>
          </a:prstGeom>
          <a:noFill/>
          <a:ln w="22225">
            <a:solidFill>
              <a:srgbClr val="5B6670"/>
            </a:solidFill>
            <a:prstDash val="solid"/>
            <a:tailEnd type="triangle"/>
          </a:ln>
        </p:spPr>
      </p:sp>
      <p:sp>
        <p:nvSpPr>
          <p:cNvPr id="8" name="Arrow: o2"/>
          <p:cNvSpPr/>
          <p:nvPr/>
        </p:nvSpPr>
        <p:spPr>
          <a:xfrm>
            <a:off x="5806440" y="2057400"/>
            <a:ext cx="502920" cy="0"/>
          </a:xfrm>
          <a:prstGeom prst="line">
            <a:avLst/>
          </a:prstGeom>
          <a:noFill/>
          <a:ln w="22225">
            <a:solidFill>
              <a:srgbClr val="5B6670"/>
            </a:solidFill>
            <a:prstDash val="solid"/>
            <a:tailEnd type="triangle"/>
          </a:ln>
        </p:spPr>
      </p:sp>
      <p:sp>
        <p:nvSpPr>
          <p:cNvPr id="9" name="Lane online"/>
          <p:cNvSpPr txBox="1"/>
          <p:nvPr/>
        </p:nvSpPr>
        <p:spPr>
          <a:xfrm>
            <a:off x="548640" y="2788920"/>
            <a:ext cx="5486400" cy="320040"/>
          </a:xfrm>
          <a:prstGeom prst="rect">
            <a:avLst/>
          </a:prstGeom>
          <a:noFill/>
          <a:ln/>
        </p:spPr>
        <p:txBody>
          <a:bodyPr wrap="square" lIns="0" tIns="0" rIns="0" bIns="0" rtlCol="0" anchor="ctr"/>
          <a:lstStyle/>
          <a:p>
            <a:pPr indent="0" marL="0">
              <a:buNone/>
            </a:pPr>
            <a:r>
              <a:rPr lang="en-US" sz="1400" i="1" dirty="0">
                <a:solidFill>
                  <a:schemeClr val="accent6"/>
                </a:solidFill>
              </a:rPr>
              <a:t>Online, per query</a:t>
            </a:r>
            <a:endParaRPr lang="en-US" sz="1400" dirty="0"/>
          </a:p>
        </p:txBody>
      </p:sp>
      <p:sp>
        <p:nvSpPr>
          <p:cNvPr id="10" name="Node: probe"/>
          <p:cNvSpPr/>
          <p:nvPr/>
        </p:nvSpPr>
        <p:spPr>
          <a:xfrm>
            <a:off x="548640" y="315468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Probe the first 100 distances</a:t>
            </a:r>
            <a:endParaRPr lang="en-US" sz="1400" dirty="0"/>
          </a:p>
        </p:txBody>
      </p:sp>
      <p:sp>
        <p:nvSpPr>
          <p:cNvPr id="11" name="Node: score"/>
          <p:cNvSpPr/>
          <p:nvPr/>
        </p:nvSpPr>
        <p:spPr>
          <a:xfrm>
            <a:off x="3429000" y="3154680"/>
            <a:ext cx="23774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400" b="1" dirty="0">
                <a:solidFill>
                  <a:schemeClr val="bg1"/>
                </a:solidFill>
              </a:rPr>
              <a:t>Score: how many fall under each threshold</a:t>
            </a:r>
            <a:endParaRPr lang="en-US" sz="1400" dirty="0"/>
          </a:p>
        </p:txBody>
      </p:sp>
      <p:sp>
        <p:nvSpPr>
          <p:cNvPr id="12" name="Node: continue"/>
          <p:cNvSpPr/>
          <p:nvPr/>
        </p:nvSpPr>
        <p:spPr>
          <a:xfrm>
            <a:off x="6309360" y="315468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Look up ef; continue the same search</a:t>
            </a:r>
            <a:endParaRPr lang="en-US" sz="1400" dirty="0"/>
          </a:p>
        </p:txBody>
      </p:sp>
      <p:sp>
        <p:nvSpPr>
          <p:cNvPr id="13" name="Arrow: n1"/>
          <p:cNvSpPr/>
          <p:nvPr/>
        </p:nvSpPr>
        <p:spPr>
          <a:xfrm>
            <a:off x="2926080" y="3611880"/>
            <a:ext cx="502920" cy="0"/>
          </a:xfrm>
          <a:prstGeom prst="line">
            <a:avLst/>
          </a:prstGeom>
          <a:noFill/>
          <a:ln w="22225">
            <a:solidFill>
              <a:srgbClr val="5B6670"/>
            </a:solidFill>
            <a:prstDash val="solid"/>
            <a:tailEnd type="triangle"/>
          </a:ln>
        </p:spPr>
      </p:sp>
      <p:sp>
        <p:nvSpPr>
          <p:cNvPr id="14" name="Arrow: n2"/>
          <p:cNvSpPr/>
          <p:nvPr/>
        </p:nvSpPr>
        <p:spPr>
          <a:xfrm>
            <a:off x="5806440" y="3611880"/>
            <a:ext cx="502920" cy="0"/>
          </a:xfrm>
          <a:prstGeom prst="line">
            <a:avLst/>
          </a:prstGeom>
          <a:noFill/>
          <a:ln w="22225">
            <a:solidFill>
              <a:srgbClr val="5B6670"/>
            </a:solidFill>
            <a:prstDash val="solid"/>
            <a:tailEnd type="triangle"/>
          </a:ln>
        </p:spPr>
      </p:sp>
      <p:sp>
        <p:nvSpPr>
          <p:cNvPr id="15" name="Arrow: thresholds to score"/>
          <p:cNvSpPr/>
          <p:nvPr/>
        </p:nvSpPr>
        <p:spPr>
          <a:xfrm>
            <a:off x="4617720" y="2514600"/>
            <a:ext cx="0" cy="640080"/>
          </a:xfrm>
          <a:prstGeom prst="line">
            <a:avLst/>
          </a:prstGeom>
          <a:noFill/>
          <a:ln w="22225">
            <a:solidFill>
              <a:srgbClr val="5B6670"/>
            </a:solidFill>
            <a:prstDash val="solid"/>
            <a:tailEnd type="triangle"/>
          </a:ln>
        </p:spPr>
      </p:sp>
      <p:sp>
        <p:nvSpPr>
          <p:cNvPr id="16" name="Card: One change"/>
          <p:cNvSpPr/>
          <p:nvPr/>
        </p:nvSpPr>
        <p:spPr>
          <a:xfrm>
            <a:off x="9144000" y="1234440"/>
            <a:ext cx="2514600" cy="2011680"/>
          </a:xfrm>
          <a:prstGeom prst="roundRect">
            <a:avLst>
              <a:gd name="adj" fmla="val 3636"/>
            </a:avLst>
          </a:prstGeom>
          <a:solidFill>
            <a:srgbClr val="DCEFF3"/>
          </a:solidFill>
          <a:ln w="12700">
            <a:solidFill>
              <a:srgbClr val="DCEFF3"/>
            </a:solidFill>
            <a:prstDash val="solid"/>
          </a:ln>
        </p:spPr>
      </p:sp>
      <p:sp>
        <p:nvSpPr>
          <p:cNvPr id="17" name="Card head: One change"/>
          <p:cNvSpPr txBox="1"/>
          <p:nvPr/>
        </p:nvSpPr>
        <p:spPr>
          <a:xfrm>
            <a:off x="9372600" y="1417320"/>
            <a:ext cx="2057400" cy="457200"/>
          </a:xfrm>
          <a:prstGeom prst="rect">
            <a:avLst/>
          </a:prstGeom>
          <a:noFill/>
          <a:ln/>
        </p:spPr>
        <p:txBody>
          <a:bodyPr wrap="square" lIns="0" tIns="0" rIns="0" bIns="0" rtlCol="0" anchor="t"/>
          <a:lstStyle/>
          <a:p>
            <a:pPr indent="0" marL="0">
              <a:buNone/>
            </a:pPr>
            <a:r>
              <a:rPr lang="en-US" sz="1800" b="1" dirty="0">
                <a:solidFill>
                  <a:schemeClr val="tx2"/>
                </a:solidFill>
              </a:rPr>
              <a:t>One change</a:t>
            </a:r>
            <a:endParaRPr lang="en-US" sz="1800" dirty="0"/>
          </a:p>
        </p:txBody>
      </p:sp>
      <p:sp>
        <p:nvSpPr>
          <p:cNvPr id="18" name="Card body: One change"/>
          <p:cNvSpPr txBox="1"/>
          <p:nvPr/>
        </p:nvSpPr>
        <p:spPr>
          <a:xfrm>
            <a:off x="9372600" y="1920240"/>
            <a:ext cx="2057400" cy="1143000"/>
          </a:xfrm>
          <a:prstGeom prst="rect">
            <a:avLst/>
          </a:prstGeom>
          <a:noFill/>
          <a:ln/>
        </p:spPr>
        <p:txBody>
          <a:bodyPr wrap="square" lIns="0" tIns="0" rIns="0" bIns="0" rtlCol="0" anchor="t"/>
          <a:lstStyle/>
          <a:p>
            <a:pPr indent="0" marL="0">
              <a:buNone/>
            </a:pPr>
            <a:r>
              <a:rPr lang="en-US" sz="1500" dirty="0">
                <a:solidFill>
                  <a:schemeClr val="tx1"/>
                </a:solidFill>
              </a:rPr>
              <a:t>Same mechanism as Ada-ef; only the thresholds come from the data instead of a bell curve.</a:t>
            </a:r>
            <a:endParaRPr lang="en-US" sz="1500" dirty="0"/>
          </a:p>
        </p:txBody>
      </p:sp>
      <p:sp>
        <p:nvSpPr>
          <p:cNvPr id="19" name="PercEF bullets"/>
          <p:cNvSpPr txBox="1"/>
          <p:nvPr/>
        </p:nvSpPr>
        <p:spPr>
          <a:xfrm>
            <a:off x="548640" y="4389120"/>
            <a:ext cx="11064240"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Works whatever the shape of the similarity distribution</a:t>
            </a:r>
            <a:endParaRPr lang="en-US" sz="1600" dirty="0"/>
          </a:p>
          <a:p>
            <a:pPr marL="342900" indent="-342900">
              <a:spcAft>
                <a:spcPts val="800"/>
              </a:spcAft>
              <a:buSzPct val="100000"/>
              <a:buChar char="•"/>
            </a:pPr>
            <a:r>
              <a:rPr lang="en-US" sz="1600" dirty="0">
                <a:solidFill>
                  <a:schemeClr val="tx1"/>
                </a:solidFill>
              </a:rPr>
              <a:t>Probe of 100 distances instead of 1,025; the search does not restart after it</a:t>
            </a:r>
            <a:endParaRPr lang="en-US" sz="1600" dirty="0"/>
          </a:p>
          <a:p>
            <a:pPr marL="342900" indent="-342900">
              <a:spcAft>
                <a:spcPts val="800"/>
              </a:spcAft>
              <a:buSzPct val="100000"/>
              <a:buChar char="•"/>
            </a:pPr>
            <a:r>
              <a:rPr lang="en-US" sz="1600" dirty="0">
                <a:solidFill>
                  <a:schemeClr val="tx1"/>
                </a:solidFill>
              </a:rPr>
              <a:t>No covariance matrix: a few kilobytes instead of up to 9.4 MB</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A seconds-long test picks the method</a:t>
            </a:r>
            <a:endParaRPr lang="en-US" sz="3200" dirty="0"/>
          </a:p>
        </p:txBody>
      </p:sp>
      <p:sp>
        <p:nvSpPr>
          <p:cNvPr id="3" name="Zone Ada-ef"/>
          <p:cNvSpPr/>
          <p:nvPr/>
        </p:nvSpPr>
        <p:spPr>
          <a:xfrm>
            <a:off x="822960" y="1828800"/>
            <a:ext cx="3559126" cy="822960"/>
          </a:xfrm>
          <a:prstGeom prst="rect">
            <a:avLst/>
          </a:prstGeom>
          <a:solidFill>
            <a:srgbClr val="FCE9DF"/>
          </a:solidFill>
          <a:ln w="12700">
            <a:solidFill>
              <a:srgbClr val="FCE9DF"/>
            </a:solidFill>
            <a:prstDash val="solid"/>
          </a:ln>
        </p:spPr>
      </p:sp>
      <p:sp>
        <p:nvSpPr>
          <p:cNvPr id="4" name="Zone band"/>
          <p:cNvSpPr/>
          <p:nvPr/>
        </p:nvSpPr>
        <p:spPr>
          <a:xfrm>
            <a:off x="4382086" y="1828800"/>
            <a:ext cx="1779563" cy="822960"/>
          </a:xfrm>
          <a:prstGeom prst="rect">
            <a:avLst/>
          </a:prstGeom>
          <a:solidFill>
            <a:schemeClr val="bg2"/>
          </a:solidFill>
          <a:ln w="12700">
            <a:solidFill>
              <a:schemeClr val="bg2"/>
            </a:solidFill>
            <a:prstDash val="solid"/>
          </a:ln>
        </p:spPr>
      </p:sp>
      <p:sp>
        <p:nvSpPr>
          <p:cNvPr id="5" name="Zone PercEF"/>
          <p:cNvSpPr/>
          <p:nvPr/>
        </p:nvSpPr>
        <p:spPr>
          <a:xfrm>
            <a:off x="6161649" y="1828800"/>
            <a:ext cx="5176911" cy="822960"/>
          </a:xfrm>
          <a:prstGeom prst="rect">
            <a:avLst/>
          </a:prstGeom>
          <a:solidFill>
            <a:srgbClr val="DCEFF3"/>
          </a:solidFill>
          <a:ln w="12700">
            <a:solidFill>
              <a:srgbClr val="DCEFF3"/>
            </a:solidFill>
            <a:prstDash val="solid"/>
          </a:ln>
        </p:spPr>
      </p:sp>
      <p:sp>
        <p:nvSpPr>
          <p:cNvPr id="6" name="Zone label Ada-ef"/>
          <p:cNvSpPr txBox="1"/>
          <p:nvPr/>
        </p:nvSpPr>
        <p:spPr>
          <a:xfrm>
            <a:off x="822960" y="1828800"/>
            <a:ext cx="3559126" cy="822960"/>
          </a:xfrm>
          <a:prstGeom prst="rect">
            <a:avLst/>
          </a:prstGeom>
          <a:noFill/>
          <a:ln/>
        </p:spPr>
        <p:txBody>
          <a:bodyPr wrap="square" lIns="0" tIns="0" rIns="0" bIns="0" rtlCol="0" anchor="ctr"/>
          <a:lstStyle/>
          <a:p>
            <a:pPr algn="ctr" indent="0" marL="0">
              <a:buNone/>
            </a:pPr>
            <a:r>
              <a:rPr lang="en-US" sz="1600" b="1" dirty="0">
                <a:solidFill>
                  <a:schemeClr val="accent4"/>
                </a:solidFill>
              </a:rPr>
              <a:t>KS ≤ 0.044: near-Gaussian → Ada-ef</a:t>
            </a:r>
            <a:endParaRPr lang="en-US" sz="1600" dirty="0"/>
          </a:p>
        </p:txBody>
      </p:sp>
      <p:sp>
        <p:nvSpPr>
          <p:cNvPr id="7" name="Zone label band"/>
          <p:cNvSpPr txBox="1"/>
          <p:nvPr/>
        </p:nvSpPr>
        <p:spPr>
          <a:xfrm>
            <a:off x="4382086" y="1828800"/>
            <a:ext cx="1779563" cy="822960"/>
          </a:xfrm>
          <a:prstGeom prst="rect">
            <a:avLst/>
          </a:prstGeom>
          <a:noFill/>
          <a:ln/>
        </p:spPr>
        <p:txBody>
          <a:bodyPr wrap="square" lIns="0" tIns="0" rIns="0" bIns="0" rtlCol="0" anchor="ctr"/>
          <a:lstStyle/>
          <a:p>
            <a:pPr algn="ctr" indent="0" marL="0">
              <a:buNone/>
            </a:pPr>
            <a:r>
              <a:rPr lang="en-US" sz="1400" dirty="0">
                <a:solidFill>
                  <a:schemeClr val="accent2"/>
                </a:solidFill>
              </a:rPr>
              <a:t>band</a:t>
            </a:r>
            <a:endParaRPr lang="en-US" sz="1400" dirty="0"/>
          </a:p>
        </p:txBody>
      </p:sp>
      <p:sp>
        <p:nvSpPr>
          <p:cNvPr id="8" name="Zone label PercEF"/>
          <p:cNvSpPr txBox="1"/>
          <p:nvPr/>
        </p:nvSpPr>
        <p:spPr>
          <a:xfrm>
            <a:off x="6161649" y="1828800"/>
            <a:ext cx="5176911" cy="822960"/>
          </a:xfrm>
          <a:prstGeom prst="rect">
            <a:avLst/>
          </a:prstGeom>
          <a:noFill/>
          <a:ln/>
        </p:spPr>
        <p:txBody>
          <a:bodyPr wrap="square" lIns="0" tIns="0" rIns="0" bIns="0" rtlCol="0" anchor="ctr"/>
          <a:lstStyle/>
          <a:p>
            <a:pPr algn="ctr" indent="0" marL="0">
              <a:buNone/>
            </a:pPr>
            <a:r>
              <a:rPr lang="en-US" sz="1600" b="1" dirty="0">
                <a:solidFill>
                  <a:schemeClr val="accent1"/>
                </a:solidFill>
              </a:rPr>
              <a:t>KS ≥ 0.066: non-Gaussian → PercEF</a:t>
            </a:r>
            <a:endParaRPr lang="en-US" sz="1600" dirty="0"/>
          </a:p>
        </p:txBody>
      </p:sp>
      <p:sp>
        <p:nvSpPr>
          <p:cNvPr id="9" name="Scale caption"/>
          <p:cNvSpPr txBox="1"/>
          <p:nvPr/>
        </p:nvSpPr>
        <p:spPr>
          <a:xfrm>
            <a:off x="822960" y="1371600"/>
            <a:ext cx="10515600" cy="365760"/>
          </a:xfrm>
          <a:prstGeom prst="rect">
            <a:avLst/>
          </a:prstGeom>
          <a:noFill/>
          <a:ln/>
        </p:spPr>
        <p:txBody>
          <a:bodyPr wrap="square" lIns="0" tIns="0" rIns="0" bIns="0" rtlCol="0" anchor="ctr"/>
          <a:lstStyle/>
          <a:p>
            <a:pPr indent="0" marL="0">
              <a:buNone/>
            </a:pPr>
            <a:r>
              <a:rPr lang="en-US" sz="1400" i="1" dirty="0">
                <a:solidFill>
                  <a:schemeClr val="accent6"/>
                </a:solidFill>
              </a:rPr>
              <a:t>KS measured on the raw vectors (200 queries, no index needed)</a:t>
            </a:r>
            <a:endParaRPr lang="en-US" sz="1400" dirty="0"/>
          </a:p>
        </p:txBody>
      </p:sp>
      <p:sp>
        <p:nvSpPr>
          <p:cNvPr id="10" name="Stat: 18 / 19"/>
          <p:cNvSpPr txBox="1"/>
          <p:nvPr/>
        </p:nvSpPr>
        <p:spPr>
          <a:xfrm>
            <a:off x="822960" y="3108960"/>
            <a:ext cx="329184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18 / 19</a:t>
            </a:r>
            <a:endParaRPr lang="en-US" sz="4000" dirty="0"/>
          </a:p>
        </p:txBody>
      </p:sp>
      <p:sp>
        <p:nvSpPr>
          <p:cNvPr id="11" name="Stat label: 18 / 19"/>
          <p:cNvSpPr txBox="1"/>
          <p:nvPr/>
        </p:nvSpPr>
        <p:spPr>
          <a:xfrm>
            <a:off x="822960" y="3794760"/>
            <a:ext cx="3291840" cy="640080"/>
          </a:xfrm>
          <a:prstGeom prst="rect">
            <a:avLst/>
          </a:prstGeom>
          <a:noFill/>
          <a:ln/>
        </p:spPr>
        <p:txBody>
          <a:bodyPr wrap="square" lIns="0" tIns="0" rIns="0" bIns="0" rtlCol="0" anchor="t"/>
          <a:lstStyle/>
          <a:p>
            <a:pPr indent="0" marL="0">
              <a:buNone/>
            </a:pPr>
            <a:r>
              <a:rPr lang="en-US" sz="1400" dirty="0">
                <a:solidFill>
                  <a:schemeClr val="tx1"/>
                </a:solidFill>
              </a:rPr>
              <a:t>datasets where KS picks the method with the better ranking</a:t>
            </a:r>
            <a:endParaRPr lang="en-US" sz="1400" dirty="0"/>
          </a:p>
        </p:txBody>
      </p:sp>
      <p:sp>
        <p:nvSpPr>
          <p:cNvPr id="12" name="Stat: 14"/>
          <p:cNvSpPr txBox="1"/>
          <p:nvPr/>
        </p:nvSpPr>
        <p:spPr>
          <a:xfrm>
            <a:off x="4434840" y="3108960"/>
            <a:ext cx="32918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14</a:t>
            </a:r>
            <a:endParaRPr lang="en-US" sz="4000" dirty="0"/>
          </a:p>
        </p:txBody>
      </p:sp>
      <p:sp>
        <p:nvSpPr>
          <p:cNvPr id="13" name="Stat label: 14"/>
          <p:cNvSpPr txBox="1"/>
          <p:nvPr/>
        </p:nvSpPr>
        <p:spPr>
          <a:xfrm>
            <a:off x="4434840" y="3794760"/>
            <a:ext cx="3291840" cy="640080"/>
          </a:xfrm>
          <a:prstGeom prst="rect">
            <a:avLst/>
          </a:prstGeom>
          <a:noFill/>
          <a:ln/>
        </p:spPr>
        <p:txBody>
          <a:bodyPr wrap="square" lIns="0" tIns="0" rIns="0" bIns="0" rtlCol="0" anchor="t"/>
          <a:lstStyle/>
          <a:p>
            <a:pPr indent="0" marL="0">
              <a:buNone/>
            </a:pPr>
            <a:r>
              <a:rPr lang="en-US" sz="1400" dirty="0">
                <a:solidFill>
                  <a:schemeClr val="tx1"/>
                </a:solidFill>
              </a:rPr>
              <a:t>predictions written down before the runs; one failed (SIFT-1B)</a:t>
            </a:r>
            <a:endParaRPr lang="en-US" sz="1400" dirty="0"/>
          </a:p>
        </p:txBody>
      </p:sp>
      <p:sp>
        <p:nvSpPr>
          <p:cNvPr id="14" name="Stat: 0"/>
          <p:cNvSpPr txBox="1"/>
          <p:nvPr/>
        </p:nvSpPr>
        <p:spPr>
          <a:xfrm>
            <a:off x="8046720" y="3108960"/>
            <a:ext cx="3291840" cy="685800"/>
          </a:xfrm>
          <a:prstGeom prst="rect">
            <a:avLst/>
          </a:prstGeom>
          <a:noFill/>
          <a:ln/>
        </p:spPr>
        <p:txBody>
          <a:bodyPr wrap="square" lIns="0" tIns="0" rIns="0" bIns="0" rtlCol="0" anchor="ctr"/>
          <a:lstStyle/>
          <a:p>
            <a:pPr indent="0" marL="0">
              <a:buNone/>
            </a:pPr>
            <a:r>
              <a:rPr lang="en-US" sz="4000" b="1" dirty="0">
                <a:solidFill>
                  <a:schemeClr val="accent4"/>
                </a:solidFill>
                <a:latin typeface="Cambria" pitchFamily="34" charset="0"/>
                <a:ea typeface="Cambria" pitchFamily="34" charset="-122"/>
                <a:cs typeface="Cambria" pitchFamily="34" charset="-120"/>
              </a:rPr>
              <a:t>0</a:t>
            </a:r>
            <a:endParaRPr lang="en-US" sz="4000" dirty="0"/>
          </a:p>
        </p:txBody>
      </p:sp>
      <p:sp>
        <p:nvSpPr>
          <p:cNvPr id="15" name="Stat label: 0"/>
          <p:cNvSpPr txBox="1"/>
          <p:nvPr/>
        </p:nvSpPr>
        <p:spPr>
          <a:xfrm>
            <a:off x="8046720" y="3794760"/>
            <a:ext cx="3291840" cy="640080"/>
          </a:xfrm>
          <a:prstGeom prst="rect">
            <a:avLst/>
          </a:prstGeom>
          <a:noFill/>
          <a:ln/>
        </p:spPr>
        <p:txBody>
          <a:bodyPr wrap="square" lIns="0" tIns="0" rIns="0" bIns="0" rtlCol="0" anchor="t"/>
          <a:lstStyle/>
          <a:p>
            <a:pPr indent="0" marL="0">
              <a:buNone/>
            </a:pPr>
            <a:r>
              <a:rPr lang="en-US" sz="1400" dirty="0">
                <a:solidFill>
                  <a:schemeClr val="tx1"/>
                </a:solidFill>
              </a:rPr>
              <a:t>tail-weighted alternatives that beat KS (tested and rejected)</a:t>
            </a:r>
            <a:endParaRPr lang="en-US" sz="1400" dirty="0"/>
          </a:p>
        </p:txBody>
      </p:sp>
      <p:sp>
        <p:nvSpPr>
          <p:cNvPr id="16" name="KS note"/>
          <p:cNvSpPr txBox="1"/>
          <p:nvPr/>
        </p:nvSpPr>
        <p:spPr>
          <a:xfrm>
            <a:off x="822960" y="4937760"/>
            <a:ext cx="10515600" cy="548640"/>
          </a:xfrm>
          <a:prstGeom prst="rect">
            <a:avLst/>
          </a:prstGeom>
          <a:noFill/>
          <a:ln/>
        </p:spPr>
        <p:txBody>
          <a:bodyPr wrap="square" lIns="0" tIns="0" rIns="0" bIns="0" rtlCol="0" anchor="ctr"/>
          <a:lstStyle/>
          <a:p>
            <a:pPr indent="0" marL="0">
              <a:buNone/>
            </a:pPr>
            <a:r>
              <a:rPr lang="en-US" sz="1600" dirty="0">
                <a:solidFill>
                  <a:schemeClr val="tx1"/>
                </a:solidFill>
              </a:rPr>
              <a:t>Every PercEF prediction was recorded before running the dataset, so the test was checked out of sample.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What is new</a:t>
            </a:r>
            <a:endParaRPr lang="en-US" sz="3200" dirty="0"/>
          </a:p>
        </p:txBody>
      </p:sp>
      <p:sp>
        <p:nvSpPr>
          <p:cNvPr id="3" name="Card: 1  First test of the assumption"/>
          <p:cNvSpPr/>
          <p:nvPr/>
        </p:nvSpPr>
        <p:spPr>
          <a:xfrm>
            <a:off x="548640" y="1280160"/>
            <a:ext cx="5440680" cy="1691640"/>
          </a:xfrm>
          <a:prstGeom prst="roundRect">
            <a:avLst>
              <a:gd name="adj" fmla="val 4324"/>
            </a:avLst>
          </a:prstGeom>
          <a:solidFill>
            <a:srgbClr val="DCEFF3"/>
          </a:solidFill>
          <a:ln w="12700">
            <a:solidFill>
              <a:srgbClr val="DCEFF3"/>
            </a:solidFill>
            <a:prstDash val="solid"/>
          </a:ln>
        </p:spPr>
      </p:sp>
      <p:sp>
        <p:nvSpPr>
          <p:cNvPr id="4" name="Card head: 1  First test of the assumption"/>
          <p:cNvSpPr txBox="1"/>
          <p:nvPr/>
        </p:nvSpPr>
        <p:spPr>
          <a:xfrm>
            <a:off x="777240" y="1463040"/>
            <a:ext cx="4983480" cy="457200"/>
          </a:xfrm>
          <a:prstGeom prst="rect">
            <a:avLst/>
          </a:prstGeom>
          <a:noFill/>
          <a:ln/>
        </p:spPr>
        <p:txBody>
          <a:bodyPr wrap="square" lIns="0" tIns="0" rIns="0" bIns="0" rtlCol="0" anchor="t"/>
          <a:lstStyle/>
          <a:p>
            <a:pPr indent="0" marL="0">
              <a:buNone/>
            </a:pPr>
            <a:r>
              <a:rPr lang="en-US" sz="1800" b="1" dirty="0">
                <a:solidFill>
                  <a:schemeClr val="tx2"/>
                </a:solidFill>
              </a:rPr>
              <a:t>1  First test of the assumption</a:t>
            </a:r>
            <a:endParaRPr lang="en-US" sz="1800" dirty="0"/>
          </a:p>
        </p:txBody>
      </p:sp>
      <p:sp>
        <p:nvSpPr>
          <p:cNvPr id="5" name="Card body: 1  First test of the assumption"/>
          <p:cNvSpPr txBox="1"/>
          <p:nvPr/>
        </p:nvSpPr>
        <p:spPr>
          <a:xfrm>
            <a:off x="777240" y="1965960"/>
            <a:ext cx="4983480" cy="822960"/>
          </a:xfrm>
          <a:prstGeom prst="rect">
            <a:avLst/>
          </a:prstGeom>
          <a:noFill/>
          <a:ln/>
        </p:spPr>
        <p:txBody>
          <a:bodyPr wrap="square" lIns="0" tIns="0" rIns="0" bIns="0" rtlCol="0" anchor="t"/>
          <a:lstStyle/>
          <a:p>
            <a:pPr indent="0" marL="0">
              <a:buNone/>
            </a:pPr>
            <a:r>
              <a:rPr lang="en-US" sz="1600" dirty="0">
                <a:solidFill>
                  <a:schemeClr val="tx1"/>
                </a:solidFill>
              </a:rPr>
              <a:t>Ada-ef's Gaussian model measured on 41 datasets; fails on 9, including 6 learned embeddings.</a:t>
            </a:r>
            <a:endParaRPr lang="en-US" sz="1600" dirty="0"/>
          </a:p>
        </p:txBody>
      </p:sp>
      <p:sp>
        <p:nvSpPr>
          <p:cNvPr id="6" name="Card: 2  A distribution-free score"/>
          <p:cNvSpPr/>
          <p:nvPr/>
        </p:nvSpPr>
        <p:spPr>
          <a:xfrm>
            <a:off x="6172200" y="1280160"/>
            <a:ext cx="5440680" cy="1691640"/>
          </a:xfrm>
          <a:prstGeom prst="roundRect">
            <a:avLst>
              <a:gd name="adj" fmla="val 4324"/>
            </a:avLst>
          </a:prstGeom>
          <a:solidFill>
            <a:schemeClr val="bg2"/>
          </a:solidFill>
          <a:ln w="12700">
            <a:solidFill>
              <a:schemeClr val="bg2"/>
            </a:solidFill>
            <a:prstDash val="solid"/>
          </a:ln>
        </p:spPr>
      </p:sp>
      <p:sp>
        <p:nvSpPr>
          <p:cNvPr id="7" name="Card head: 2  A distribution-free score"/>
          <p:cNvSpPr txBox="1"/>
          <p:nvPr/>
        </p:nvSpPr>
        <p:spPr>
          <a:xfrm>
            <a:off x="6400800" y="1463040"/>
            <a:ext cx="4983480" cy="457200"/>
          </a:xfrm>
          <a:prstGeom prst="rect">
            <a:avLst/>
          </a:prstGeom>
          <a:noFill/>
          <a:ln/>
        </p:spPr>
        <p:txBody>
          <a:bodyPr wrap="square" lIns="0" tIns="0" rIns="0" bIns="0" rtlCol="0" anchor="t"/>
          <a:lstStyle/>
          <a:p>
            <a:pPr indent="0" marL="0">
              <a:buNone/>
            </a:pPr>
            <a:r>
              <a:rPr lang="en-US" sz="1800" b="1" dirty="0">
                <a:solidFill>
                  <a:schemeClr val="tx2"/>
                </a:solidFill>
              </a:rPr>
              <a:t>2  A distribution-free score</a:t>
            </a:r>
            <a:endParaRPr lang="en-US" sz="1800" dirty="0"/>
          </a:p>
        </p:txBody>
      </p:sp>
      <p:sp>
        <p:nvSpPr>
          <p:cNvPr id="8" name="Card body: 2  A distribution-free score"/>
          <p:cNvSpPr txBox="1"/>
          <p:nvPr/>
        </p:nvSpPr>
        <p:spPr>
          <a:xfrm>
            <a:off x="6400800" y="1965960"/>
            <a:ext cx="4983480" cy="822960"/>
          </a:xfrm>
          <a:prstGeom prst="rect">
            <a:avLst/>
          </a:prstGeom>
          <a:noFill/>
          <a:ln/>
        </p:spPr>
        <p:txBody>
          <a:bodyPr wrap="square" lIns="0" tIns="0" rIns="0" bIns="0" rtlCol="0" anchor="t"/>
          <a:lstStyle/>
          <a:p>
            <a:pPr indent="0" marL="0">
              <a:buNone/>
            </a:pPr>
            <a:r>
              <a:rPr lang="en-US" sz="1600" dirty="0">
                <a:solidFill>
                  <a:schemeClr val="tx1"/>
                </a:solidFill>
              </a:rPr>
              <a:t>PercEF: thresholds from the data's own percentiles. No covariance, no training.</a:t>
            </a:r>
            <a:endParaRPr lang="en-US" sz="1600" dirty="0"/>
          </a:p>
        </p:txBody>
      </p:sp>
      <p:sp>
        <p:nvSpPr>
          <p:cNvPr id="9" name="Card: 3  A cost floor"/>
          <p:cNvSpPr/>
          <p:nvPr/>
        </p:nvSpPr>
        <p:spPr>
          <a:xfrm>
            <a:off x="548640" y="3200400"/>
            <a:ext cx="5440680" cy="1691640"/>
          </a:xfrm>
          <a:prstGeom prst="roundRect">
            <a:avLst>
              <a:gd name="adj" fmla="val 4324"/>
            </a:avLst>
          </a:prstGeom>
          <a:solidFill>
            <a:srgbClr val="DCEFF3"/>
          </a:solidFill>
          <a:ln w="12700">
            <a:solidFill>
              <a:srgbClr val="DCEFF3"/>
            </a:solidFill>
            <a:prstDash val="solid"/>
          </a:ln>
        </p:spPr>
      </p:sp>
      <p:sp>
        <p:nvSpPr>
          <p:cNvPr id="10" name="Card head: 3  A cost floor"/>
          <p:cNvSpPr txBox="1"/>
          <p:nvPr/>
        </p:nvSpPr>
        <p:spPr>
          <a:xfrm>
            <a:off x="777240" y="3383280"/>
            <a:ext cx="4983480" cy="457200"/>
          </a:xfrm>
          <a:prstGeom prst="rect">
            <a:avLst/>
          </a:prstGeom>
          <a:noFill/>
          <a:ln/>
        </p:spPr>
        <p:txBody>
          <a:bodyPr wrap="square" lIns="0" tIns="0" rIns="0" bIns="0" rtlCol="0" anchor="t"/>
          <a:lstStyle/>
          <a:p>
            <a:pPr indent="0" marL="0">
              <a:buNone/>
            </a:pPr>
            <a:r>
              <a:rPr lang="en-US" sz="1800" b="1" dirty="0">
                <a:solidFill>
                  <a:schemeClr val="tx2"/>
                </a:solidFill>
              </a:rPr>
              <a:t>3  A cost floor</a:t>
            </a:r>
            <a:endParaRPr lang="en-US" sz="1800" dirty="0"/>
          </a:p>
        </p:txBody>
      </p:sp>
      <p:sp>
        <p:nvSpPr>
          <p:cNvPr id="11" name="Card body: 3  A cost floor"/>
          <p:cNvSpPr txBox="1"/>
          <p:nvPr/>
        </p:nvSpPr>
        <p:spPr>
          <a:xfrm>
            <a:off x="777240" y="3886200"/>
            <a:ext cx="4983480" cy="822960"/>
          </a:xfrm>
          <a:prstGeom prst="rect">
            <a:avLst/>
          </a:prstGeom>
          <a:noFill/>
          <a:ln/>
        </p:spPr>
        <p:txBody>
          <a:bodyPr wrap="square" lIns="0" tIns="0" rIns="0" bIns="0" rtlCol="0" anchor="t"/>
          <a:lstStyle/>
          <a:p>
            <a:pPr indent="0" marL="0">
              <a:buNone/>
            </a:pPr>
            <a:r>
              <a:rPr lang="en-US" sz="1600" dirty="0">
                <a:solidFill>
                  <a:schemeClr val="tx1"/>
                </a:solidFill>
              </a:rPr>
              <a:t>Never more than 2.5% costlier than the best fixed ef in hindsight; Ada-ef has no such floor.</a:t>
            </a:r>
            <a:endParaRPr lang="en-US" sz="1600" dirty="0"/>
          </a:p>
        </p:txBody>
      </p:sp>
      <p:sp>
        <p:nvSpPr>
          <p:cNvPr id="12" name="Card: 4  An offline test"/>
          <p:cNvSpPr/>
          <p:nvPr/>
        </p:nvSpPr>
        <p:spPr>
          <a:xfrm>
            <a:off x="6172200" y="3200400"/>
            <a:ext cx="5440680" cy="1691640"/>
          </a:xfrm>
          <a:prstGeom prst="roundRect">
            <a:avLst>
              <a:gd name="adj" fmla="val 4324"/>
            </a:avLst>
          </a:prstGeom>
          <a:solidFill>
            <a:schemeClr val="bg2"/>
          </a:solidFill>
          <a:ln w="12700">
            <a:solidFill>
              <a:schemeClr val="bg2"/>
            </a:solidFill>
            <a:prstDash val="solid"/>
          </a:ln>
        </p:spPr>
      </p:sp>
      <p:sp>
        <p:nvSpPr>
          <p:cNvPr id="13" name="Card head: 4  An offline test"/>
          <p:cNvSpPr txBox="1"/>
          <p:nvPr/>
        </p:nvSpPr>
        <p:spPr>
          <a:xfrm>
            <a:off x="6400800" y="3383280"/>
            <a:ext cx="4983480" cy="457200"/>
          </a:xfrm>
          <a:prstGeom prst="rect">
            <a:avLst/>
          </a:prstGeom>
          <a:noFill/>
          <a:ln/>
        </p:spPr>
        <p:txBody>
          <a:bodyPr wrap="square" lIns="0" tIns="0" rIns="0" bIns="0" rtlCol="0" anchor="t"/>
          <a:lstStyle/>
          <a:p>
            <a:pPr indent="0" marL="0">
              <a:buNone/>
            </a:pPr>
            <a:r>
              <a:rPr lang="en-US" sz="1800" b="1" dirty="0">
                <a:solidFill>
                  <a:schemeClr val="tx2"/>
                </a:solidFill>
              </a:rPr>
              <a:t>4  An offline test</a:t>
            </a:r>
            <a:endParaRPr lang="en-US" sz="1800" dirty="0"/>
          </a:p>
        </p:txBody>
      </p:sp>
      <p:sp>
        <p:nvSpPr>
          <p:cNvPr id="14" name="Card body: 4  An offline test"/>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600" dirty="0">
                <a:solidFill>
                  <a:schemeClr val="tx1"/>
                </a:solidFill>
              </a:rPr>
              <a:t>KS on raw vectors predicts the better method on 18 of 19 datasets, before any index exists.</a:t>
            </a:r>
            <a:endParaRPr lang="en-US" sz="1600" dirty="0"/>
          </a:p>
        </p:txBody>
      </p:sp>
      <p:sp>
        <p:nvSpPr>
          <p:cNvPr id="15" name="Novelty footnote"/>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400" i="1" dirty="0">
                <a:solidFill>
                  <a:schemeClr val="accent2"/>
                </a:solidFill>
              </a:rPr>
              <a:t>Also: an evaluation guide for adaptive search (interpolation bias, timing noise, probe cost), from errors we caught in our own runs.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Setup: Ada-ef's protocol, 20 datasets</a:t>
            </a:r>
            <a:endParaRPr lang="en-US" sz="3200" dirty="0"/>
          </a:p>
        </p:txBody>
      </p:sp>
      <p:sp>
        <p:nvSpPr>
          <p:cNvPr id="3" name="Setup bullets"/>
          <p:cNvSpPr txBox="1"/>
          <p:nvPr/>
        </p:nvSpPr>
        <p:spPr>
          <a:xfrm>
            <a:off x="548640" y="1280160"/>
            <a:ext cx="5120640" cy="4389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20 datasets end to end: text, image, audio, music, CLIP; 60K to 19.6M vectors</a:t>
            </a:r>
            <a:endParaRPr lang="en-US" sz="1500" dirty="0"/>
          </a:p>
          <a:p>
            <a:pPr marL="342900" indent="-342900">
              <a:spcAft>
                <a:spcPts val="800"/>
              </a:spcAft>
              <a:buSzPct val="100000"/>
              <a:buChar char="•"/>
            </a:pPr>
            <a:r>
              <a:rPr lang="en-US" sz="1500" dirty="0">
                <a:solidFill>
                  <a:schemeClr val="tx1"/>
                </a:solidFill>
              </a:rPr>
              <a:t>HNSW M = 16, efConstruction = 500; k = 100 (1,000 for MS MARCO, Cohere, LAION)</a:t>
            </a:r>
            <a:endParaRPr lang="en-US" sz="1500" dirty="0"/>
          </a:p>
          <a:p>
            <a:pPr marL="342900" indent="-342900">
              <a:spcAft>
                <a:spcPts val="800"/>
              </a:spcAft>
              <a:buSzPct val="100000"/>
              <a:buChar char="•"/>
            </a:pPr>
            <a:r>
              <a:rPr lang="en-US" sz="1500" dirty="0">
                <a:solidFill>
                  <a:schemeClr val="tx1"/>
                </a:solidFill>
              </a:rPr>
              <a:t>Target recall 0.95; calibration on 200 corpus points (P) or real queries (R)</a:t>
            </a:r>
            <a:endParaRPr lang="en-US" sz="1500" dirty="0"/>
          </a:p>
          <a:p>
            <a:pPr marL="342900" indent="-342900">
              <a:spcAft>
                <a:spcPts val="800"/>
              </a:spcAft>
              <a:buSzPct val="100000"/>
              <a:buChar char="•"/>
            </a:pPr>
            <a:r>
              <a:rPr lang="en-US" sz="1500" dirty="0">
                <a:solidFill>
                  <a:schemeClr val="tx1"/>
                </a:solidFill>
              </a:rPr>
              <a:t>Ada-ef run through its authors' own code; DARTH through its authors' code</a:t>
            </a:r>
            <a:endParaRPr lang="en-US" sz="1500" dirty="0"/>
          </a:p>
          <a:p>
            <a:pPr marL="342900" indent="-342900">
              <a:spcAft>
                <a:spcPts val="800"/>
              </a:spcAft>
              <a:buSzPct val="100000"/>
              <a:buChar char="•"/>
            </a:pPr>
            <a:r>
              <a:rPr lang="en-US" sz="1500" dirty="0">
                <a:solidFill>
                  <a:schemeClr val="tx1"/>
                </a:solidFill>
              </a:rPr>
              <a:t>One thread; latency timed in 3 rotated rounds</a:t>
            </a:r>
            <a:endParaRPr lang="en-US" sz="1500" dirty="0"/>
          </a:p>
        </p:txBody>
      </p:sp>
      <p:graphicFrame>
        <p:nvGraphicFramePr>
          <p:cNvPr id="10" name="Metrics table"/>
          <p:cNvGraphicFramePr>
            <a:graphicFrameLocks noGrp="1"/>
          </p:cNvGraphicFramePr>
          <p:nvPr>
            <p:extLst>
              <p:ext uri="{D42A27DB-BD31-4B8C-83A1-F6EECF244321}">
                <p14:modId xmlns:p14="http://schemas.microsoft.com/office/powerpoint/2010/main" val="1579011935"/>
              </p:ext>
            </p:extLst>
          </p:nvPr>
        </p:nvGraphicFramePr>
        <p:xfrm>
          <a:off x="5943600" y="1280160"/>
          <a:ext cx="5715000" cy="914400"/>
        </p:xfrm>
        <a:graphic>
          <a:graphicData uri="http://schemas.openxmlformats.org/drawingml/2006/table">
            <a:tbl>
              <a:tblPr/>
              <a:tblGrid>
                <a:gridCol w="1920240"/>
                <a:gridCol w="3794760"/>
              </a:tblGrid>
              <a:tr h="0">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Meaning</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Mean recall</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Average share of the true 100 neighbours found</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p1 (worst-case) recall</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Recall of the worst 1% of queries: under-searching</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Distance computations</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Work per query, hardware-independent: over-searching</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Latency</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Time per query (µs)</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Tuned fixed ef</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One ef for all queries, picked in hindsight for the same mean recall: the reference</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Non-Gaussian data: better worst-case recall</a:t>
            </a:r>
            <a:endParaRPr lang="en-US" sz="3200" dirty="0"/>
          </a:p>
        </p:txBody>
      </p:sp>
      <p:graphicFrame>
        <p:nvGraphicFramePr>
          <p:cNvPr id="3" name="p1 gain chart" descr=""/>
          <p:cNvGraphicFramePr/>
          <p:nvPr/>
        </p:nvGraphicFramePr>
        <p:xfrm>
          <a:off x="548640" y="1234440"/>
          <a:ext cx="7498080" cy="4937760"/>
        </p:xfrm>
        <a:graphic xmlns:a="http://schemas.openxmlformats.org/drawingml/2006/main">
          <a:graphicData uri="http://schemas.openxmlformats.org/drawingml/2006/chart">
            <c:chart xmlns:c="http://schemas.openxmlformats.org/drawingml/2006/chart" r:id="rId1"/>
          </a:graphicData>
        </a:graphic>
      </p:graphicFrame>
      <p:sp>
        <p:nvSpPr>
          <p:cNvPr id="4" name="Stat: 16 / 16"/>
          <p:cNvSpPr txBox="1"/>
          <p:nvPr/>
        </p:nvSpPr>
        <p:spPr>
          <a:xfrm>
            <a:off x="8412480" y="1325880"/>
            <a:ext cx="32004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16 / 16</a:t>
            </a:r>
            <a:endParaRPr lang="en-US" sz="4000" dirty="0"/>
          </a:p>
        </p:txBody>
      </p:sp>
      <p:sp>
        <p:nvSpPr>
          <p:cNvPr id="5" name="Stat label: 16 / 16"/>
          <p:cNvSpPr txBox="1"/>
          <p:nvPr/>
        </p:nvSpPr>
        <p:spPr>
          <a:xfrm>
            <a:off x="8412480" y="2011680"/>
            <a:ext cx="3200400" cy="640080"/>
          </a:xfrm>
          <a:prstGeom prst="rect">
            <a:avLst/>
          </a:prstGeom>
          <a:noFill/>
          <a:ln/>
        </p:spPr>
        <p:txBody>
          <a:bodyPr wrap="square" lIns="0" tIns="0" rIns="0" bIns="0" rtlCol="0" anchor="t"/>
          <a:lstStyle/>
          <a:p>
            <a:pPr indent="0" marL="0">
              <a:buNone/>
            </a:pPr>
            <a:r>
              <a:rPr lang="en-US" sz="1400" dirty="0">
                <a:solidFill>
                  <a:schemeClr val="tx1"/>
                </a:solidFill>
              </a:rPr>
              <a:t>runs where PercEF ranks queries better than Ada-ef</a:t>
            </a:r>
            <a:endParaRPr lang="en-US" sz="1400" dirty="0"/>
          </a:p>
        </p:txBody>
      </p:sp>
      <p:sp>
        <p:nvSpPr>
          <p:cNvPr id="6" name="Stat: 16 / 16"/>
          <p:cNvSpPr txBox="1"/>
          <p:nvPr/>
        </p:nvSpPr>
        <p:spPr>
          <a:xfrm>
            <a:off x="8412480" y="2880360"/>
            <a:ext cx="32004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16 / 16</a:t>
            </a:r>
            <a:endParaRPr lang="en-US" sz="4000" dirty="0"/>
          </a:p>
        </p:txBody>
      </p:sp>
      <p:sp>
        <p:nvSpPr>
          <p:cNvPr id="7" name="Stat label: 16 / 16"/>
          <p:cNvSpPr txBox="1"/>
          <p:nvPr/>
        </p:nvSpPr>
        <p:spPr>
          <a:xfrm>
            <a:off x="8412480" y="3566160"/>
            <a:ext cx="3200400" cy="640080"/>
          </a:xfrm>
          <a:prstGeom prst="rect">
            <a:avLst/>
          </a:prstGeom>
          <a:noFill/>
          <a:ln/>
        </p:spPr>
        <p:txBody>
          <a:bodyPr wrap="square" lIns="0" tIns="0" rIns="0" bIns="0" rtlCol="0" anchor="t"/>
          <a:lstStyle/>
          <a:p>
            <a:pPr indent="0" marL="0">
              <a:buNone/>
            </a:pPr>
            <a:r>
              <a:rPr lang="en-US" sz="1400" dirty="0">
                <a:solidFill>
                  <a:schemeClr val="tx1"/>
                </a:solidFill>
              </a:rPr>
              <a:t>runs where PercEF's worst-case gain is at least Ada-ef's</a:t>
            </a:r>
            <a:endParaRPr lang="en-US" sz="1400" dirty="0"/>
          </a:p>
        </p:txBody>
      </p:sp>
      <p:sp>
        <p:nvSpPr>
          <p:cNvPr id="8" name="Stat: 14 vs 2"/>
          <p:cNvSpPr txBox="1"/>
          <p:nvPr/>
        </p:nvSpPr>
        <p:spPr>
          <a:xfrm>
            <a:off x="8412480" y="4434840"/>
            <a:ext cx="320040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14 vs 2</a:t>
            </a:r>
            <a:endParaRPr lang="en-US" sz="4000" dirty="0"/>
          </a:p>
        </p:txBody>
      </p:sp>
      <p:sp>
        <p:nvSpPr>
          <p:cNvPr id="9" name="Stat label: 14 vs 2"/>
          <p:cNvSpPr txBox="1"/>
          <p:nvPr/>
        </p:nvSpPr>
        <p:spPr>
          <a:xfrm>
            <a:off x="8412480" y="5120640"/>
            <a:ext cx="3200400" cy="640080"/>
          </a:xfrm>
          <a:prstGeom prst="rect">
            <a:avLst/>
          </a:prstGeom>
          <a:noFill/>
          <a:ln/>
        </p:spPr>
        <p:txBody>
          <a:bodyPr wrap="square" lIns="0" tIns="0" rIns="0" bIns="0" rtlCol="0" anchor="t"/>
          <a:lstStyle/>
          <a:p>
            <a:pPr indent="0" marL="0">
              <a:buNone/>
            </a:pPr>
            <a:r>
              <a:rPr lang="en-US" sz="1400" dirty="0">
                <a:solidFill>
                  <a:schemeClr val="tx1"/>
                </a:solidFill>
              </a:rPr>
              <a:t>runs cheaper than the fixed ef: PercEF vs Ada-ef (of 16)</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Within 2.5% of a tuned fixed ef's cost</a:t>
            </a:r>
            <a:endParaRPr lang="en-US" sz="3200" dirty="0"/>
          </a:p>
        </p:txBody>
      </p:sp>
      <p:sp>
        <p:nvSpPr>
          <p:cNvPr id="3" name="Stat: 32 / 34"/>
          <p:cNvSpPr txBox="1"/>
          <p:nvPr/>
        </p:nvSpPr>
        <p:spPr>
          <a:xfrm>
            <a:off x="548640" y="1325880"/>
            <a:ext cx="33832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32 / 34</a:t>
            </a:r>
            <a:endParaRPr lang="en-US" sz="4000" dirty="0"/>
          </a:p>
        </p:txBody>
      </p:sp>
      <p:sp>
        <p:nvSpPr>
          <p:cNvPr id="4" name="Stat label: 32 / 34"/>
          <p:cNvSpPr txBox="1"/>
          <p:nvPr/>
        </p:nvSpPr>
        <p:spPr>
          <a:xfrm>
            <a:off x="548640" y="2011680"/>
            <a:ext cx="3383280" cy="640080"/>
          </a:xfrm>
          <a:prstGeom prst="rect">
            <a:avLst/>
          </a:prstGeom>
          <a:noFill/>
          <a:ln/>
        </p:spPr>
        <p:txBody>
          <a:bodyPr wrap="square" lIns="0" tIns="0" rIns="0" bIns="0" rtlCol="0" anchor="t"/>
          <a:lstStyle/>
          <a:p>
            <a:pPr indent="0" marL="0">
              <a:buNone/>
            </a:pPr>
            <a:r>
              <a:rPr lang="en-US" sz="1400" dirty="0">
                <a:solidFill>
                  <a:schemeClr val="tx1"/>
                </a:solidFill>
              </a:rPr>
              <a:t>runs where PercEF does less work than the tuned fixed ef (Ada-ef: 10 / 34)</a:t>
            </a:r>
            <a:endParaRPr lang="en-US" sz="1400" dirty="0"/>
          </a:p>
        </p:txBody>
      </p:sp>
      <p:sp>
        <p:nvSpPr>
          <p:cNvPr id="5" name="Stat: ≤ 2.5%"/>
          <p:cNvSpPr txBox="1"/>
          <p:nvPr/>
        </p:nvSpPr>
        <p:spPr>
          <a:xfrm>
            <a:off x="548640" y="2880360"/>
            <a:ext cx="338328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 2.5%</a:t>
            </a:r>
            <a:endParaRPr lang="en-US" sz="4000" dirty="0"/>
          </a:p>
        </p:txBody>
      </p:sp>
      <p:sp>
        <p:nvSpPr>
          <p:cNvPr id="6" name="Stat label: ≤ 2.5%"/>
          <p:cNvSpPr txBox="1"/>
          <p:nvPr/>
        </p:nvSpPr>
        <p:spPr>
          <a:xfrm>
            <a:off x="548640" y="3566160"/>
            <a:ext cx="3383280" cy="640080"/>
          </a:xfrm>
          <a:prstGeom prst="rect">
            <a:avLst/>
          </a:prstGeom>
          <a:noFill/>
          <a:ln/>
        </p:spPr>
        <p:txBody>
          <a:bodyPr wrap="square" lIns="0" tIns="0" rIns="0" bIns="0" rtlCol="0" anchor="t"/>
          <a:lstStyle/>
          <a:p>
            <a:pPr indent="0" marL="0">
              <a:buNone/>
            </a:pPr>
            <a:r>
              <a:rPr lang="en-US" sz="1400" dirty="0">
                <a:solidFill>
                  <a:schemeClr val="tx1"/>
                </a:solidFill>
              </a:rPr>
              <a:t>PercEF's worst extra cost over the fixed ef, in any run</a:t>
            </a:r>
            <a:endParaRPr lang="en-US" sz="1400" dirty="0"/>
          </a:p>
        </p:txBody>
      </p:sp>
      <p:sp>
        <p:nvSpPr>
          <p:cNvPr id="7" name="Stat: 14 / 18"/>
          <p:cNvSpPr txBox="1"/>
          <p:nvPr/>
        </p:nvSpPr>
        <p:spPr>
          <a:xfrm>
            <a:off x="548640" y="4434840"/>
            <a:ext cx="33832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14 / 18</a:t>
            </a:r>
            <a:endParaRPr lang="en-US" sz="4000" dirty="0"/>
          </a:p>
        </p:txBody>
      </p:sp>
      <p:sp>
        <p:nvSpPr>
          <p:cNvPr id="8" name="Stat label: 14 / 18"/>
          <p:cNvSpPr txBox="1"/>
          <p:nvPr/>
        </p:nvSpPr>
        <p:spPr>
          <a:xfrm>
            <a:off x="548640" y="5120640"/>
            <a:ext cx="3383280" cy="640080"/>
          </a:xfrm>
          <a:prstGeom prst="rect">
            <a:avLst/>
          </a:prstGeom>
          <a:noFill/>
          <a:ln/>
        </p:spPr>
        <p:txBody>
          <a:bodyPr wrap="square" lIns="0" tIns="0" rIns="0" bIns="0" rtlCol="0" anchor="t"/>
          <a:lstStyle/>
          <a:p>
            <a:pPr indent="0" marL="0">
              <a:buNone/>
            </a:pPr>
            <a:r>
              <a:rPr lang="en-US" sz="1400" dirty="0">
                <a:solidFill>
                  <a:schemeClr val="tx1"/>
                </a:solidFill>
              </a:rPr>
              <a:t>timed runs where PercEF is faster than the fixed ef (Ada-ef: 3 / 18)</a:t>
            </a:r>
            <a:endParaRPr lang="en-US" sz="1400" dirty="0"/>
          </a:p>
        </p:txBody>
      </p:sp>
      <p:graphicFrame>
        <p:nvGraphicFramePr>
          <p:cNvPr id="9" name="Speed-up chart" descr=""/>
          <p:cNvGraphicFramePr/>
          <p:nvPr/>
        </p:nvGraphicFramePr>
        <p:xfrm>
          <a:off x="4297680" y="1234440"/>
          <a:ext cx="7360920" cy="4023360"/>
        </p:xfrm>
        <a:graphic xmlns:a="http://schemas.openxmlformats.org/drawingml/2006/main">
          <a:graphicData uri="http://schemas.openxmlformats.org/drawingml/2006/chart">
            <c:chart xmlns:c="http://schemas.openxmlformats.org/drawingml/2006/chart" r:id="rId1"/>
          </a:graphicData>
        </a:graphic>
      </p:graphicFrame>
      <p:sp>
        <p:nvSpPr>
          <p:cNvPr id="10" name="Speed note"/>
          <p:cNvSpPr txBox="1"/>
          <p:nvPr/>
        </p:nvSpPr>
        <p:spPr>
          <a:xfrm>
            <a:off x="4297680" y="5440680"/>
            <a:ext cx="7360920" cy="685800"/>
          </a:xfrm>
          <a:prstGeom prst="rect">
            <a:avLst/>
          </a:prstGeom>
          <a:noFill/>
          <a:ln/>
        </p:spPr>
        <p:txBody>
          <a:bodyPr wrap="square" lIns="0" tIns="0" rIns="0" bIns="0" rtlCol="0" anchor="ctr"/>
          <a:lstStyle/>
          <a:p>
            <a:pPr indent="0" marL="0">
              <a:buNone/>
            </a:pPr>
            <a:r>
              <a:rPr lang="en-US" sz="1400" i="1" dirty="0">
                <a:solidFill>
                  <a:schemeClr val="accent2"/>
                </a:solidFill>
              </a:rPr>
              <a:t>Fair to Ada-ef: on its own long-search datasets, Ada-ef with its WAE floor is the fastest (21% faster than the fixed ef on GloVe).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Two checks: probe length and DARTH</a:t>
            </a:r>
            <a:endParaRPr lang="en-US" sz="3200" dirty="0"/>
          </a:p>
        </p:txBody>
      </p:sp>
      <p:sp>
        <p:nvSpPr>
          <p:cNvPr id="3" name="Ablation caption"/>
          <p:cNvSpPr txBox="1"/>
          <p:nvPr/>
        </p:nvSpPr>
        <p:spPr>
          <a:xfrm>
            <a:off x="548640" y="1188720"/>
            <a:ext cx="5486400" cy="365760"/>
          </a:xfrm>
          <a:prstGeom prst="rect">
            <a:avLst/>
          </a:prstGeom>
          <a:noFill/>
          <a:ln/>
        </p:spPr>
        <p:txBody>
          <a:bodyPr wrap="square" lIns="0" tIns="0" rIns="0" bIns="0" rtlCol="0" anchor="ctr"/>
          <a:lstStyle/>
          <a:p>
            <a:pPr indent="0" marL="0">
              <a:buNone/>
            </a:pPr>
            <a:r>
              <a:rPr lang="en-US" sz="1500" b="1" dirty="0">
                <a:solidFill>
                  <a:schemeClr val="tx2"/>
                </a:solidFill>
              </a:rPr>
              <a:t>Ranking quality |ρ| with matched probe lengths</a:t>
            </a:r>
            <a:endParaRPr lang="en-US" sz="1500" dirty="0"/>
          </a:p>
        </p:txBody>
      </p:sp>
      <p:graphicFrame>
        <p:nvGraphicFramePr>
          <p:cNvPr id="13" name="Ablation table"/>
          <p:cNvGraphicFramePr>
            <a:graphicFrameLocks noGrp="1"/>
          </p:cNvGraphicFramePr>
          <p:nvPr>
            <p:extLst>
              <p:ext uri="{D42A27DB-BD31-4B8C-83A1-F6EECF244321}">
                <p14:modId xmlns:p14="http://schemas.microsoft.com/office/powerpoint/2010/main" val="1579011935"/>
              </p:ext>
            </p:extLst>
          </p:nvPr>
        </p:nvGraphicFramePr>
        <p:xfrm>
          <a:off x="548640" y="1600200"/>
          <a:ext cx="5486400" cy="914400"/>
        </p:xfrm>
        <a:graphic>
          <a:graphicData uri="http://schemas.openxmlformats.org/drawingml/2006/table">
            <a:tbl>
              <a:tblPr/>
              <a:tblGrid>
                <a:gridCol w="1280160"/>
                <a:gridCol w="1051560"/>
                <a:gridCol w="1051560"/>
                <a:gridCol w="1051560"/>
                <a:gridCol w="1051560"/>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Ada-ef 1,025</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Ada-ef 100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PercEF 100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PercEF 1,025</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SIFT-1M</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0.04</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0.45</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Deep1B</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0.67</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DeepImage</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0.38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0.33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0.59</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SIFT-1B</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0.27</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0.74</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0.72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GloVe</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0.80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0.76</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MS Turing</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0.21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0.58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bl>
          </a:graphicData>
        </a:graphic>
      </p:graphicFrame>
      <p:sp>
        <p:nvSpPr>
          <p:cNvPr id="5" name="Ablation takeaway"/>
          <p:cNvSpPr txBox="1"/>
          <p:nvPr/>
        </p:nvSpPr>
        <p:spPr>
          <a:xfrm>
            <a:off x="548640" y="3931920"/>
            <a:ext cx="5486400" cy="822960"/>
          </a:xfrm>
          <a:prstGeom prst="rect">
            <a:avLst/>
          </a:prstGeom>
          <a:noFill/>
          <a:ln/>
        </p:spPr>
        <p:txBody>
          <a:bodyPr wrap="square" lIns="0" tIns="0" rIns="0" bIns="0" rtlCol="0" anchor="ctr"/>
          <a:lstStyle/>
          <a:p>
            <a:pPr indent="0" marL="0">
              <a:buNone/>
            </a:pPr>
            <a:r>
              <a:rPr lang="en-US" sz="1400" i="1" dirty="0">
                <a:solidFill>
                  <a:schemeClr val="accent2"/>
                </a:solidFill>
              </a:rPr>
              <a:t>The advantage comes from the thresholds, not the shorter probe.</a:t>
            </a:r>
            <a:endParaRPr lang="en-US" sz="1400" dirty="0"/>
          </a:p>
        </p:txBody>
      </p:sp>
      <p:sp>
        <p:nvSpPr>
          <p:cNvPr id="6" name="DARTH caption"/>
          <p:cNvSpPr txBox="1"/>
          <p:nvPr/>
        </p:nvSpPr>
        <p:spPr>
          <a:xfrm>
            <a:off x="6355080" y="1188720"/>
            <a:ext cx="5303520" cy="365760"/>
          </a:xfrm>
          <a:prstGeom prst="rect">
            <a:avLst/>
          </a:prstGeom>
          <a:noFill/>
          <a:ln/>
        </p:spPr>
        <p:txBody>
          <a:bodyPr wrap="square" lIns="0" tIns="0" rIns="0" bIns="0" rtlCol="0" anchor="ctr"/>
          <a:lstStyle/>
          <a:p>
            <a:pPr indent="0" marL="0">
              <a:buNone/>
            </a:pPr>
            <a:r>
              <a:rPr lang="en-US" sz="1500" b="1" dirty="0">
                <a:solidFill>
                  <a:schemeClr val="tx2"/>
                </a:solidFill>
              </a:rPr>
              <a:t>DARTH (learned) vs PercEF, setting R</a:t>
            </a:r>
            <a:endParaRPr lang="en-US" sz="1500" dirty="0"/>
          </a:p>
        </p:txBody>
      </p:sp>
      <p:graphicFrame>
        <p:nvGraphicFramePr>
          <p:cNvPr id="25" name="DARTH table"/>
          <p:cNvGraphicFramePr>
            <a:graphicFrameLocks noGrp="1"/>
          </p:cNvGraphicFramePr>
          <p:nvPr>
            <p:extLst>
              <p:ext uri="{D42A27DB-BD31-4B8C-83A1-F6EECF244321}">
                <p14:modId xmlns:p14="http://schemas.microsoft.com/office/powerpoint/2010/main" val="1579011935"/>
              </p:ext>
            </p:extLst>
          </p:nvPr>
        </p:nvGraphicFramePr>
        <p:xfrm>
          <a:off x="6355080" y="1600200"/>
          <a:ext cx="5303520" cy="914400"/>
        </p:xfrm>
        <a:graphic>
          <a:graphicData uri="http://schemas.openxmlformats.org/drawingml/2006/table">
            <a:tbl>
              <a:tblPr/>
              <a:tblGrid>
                <a:gridCol w="1097280"/>
                <a:gridCol w="1005840"/>
                <a:gridCol w="1005840"/>
                <a:gridCol w="1097280"/>
                <a:gridCol w="1097280"/>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p1 gain DARTH</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p1 gain PercEF</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Time vs fixed DARTH</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Time vs fixed PercEF</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GloVe</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+0.080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+0.029</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 faster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MS Turing</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+0.044</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+0.010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42%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 faster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SIFT-1M</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+0.048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+0.028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2.3x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Deep1B</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+0.098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+0.081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1.9x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3%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bl>
          </a:graphicData>
        </a:graphic>
      </p:graphicFrame>
      <p:sp>
        <p:nvSpPr>
          <p:cNvPr id="8" name="DARTH takeaway"/>
          <p:cNvSpPr txBox="1"/>
          <p:nvPr/>
        </p:nvSpPr>
        <p:spPr>
          <a:xfrm>
            <a:off x="6355080" y="3931920"/>
            <a:ext cx="5303520" cy="822960"/>
          </a:xfrm>
          <a:prstGeom prst="rect">
            <a:avLst/>
          </a:prstGeom>
          <a:noFill/>
          <a:ln/>
        </p:spPr>
        <p:txBody>
          <a:bodyPr wrap="square" lIns="0" tIns="0" rIns="0" bIns="0" rtlCol="0" anchor="ctr"/>
          <a:lstStyle/>
          <a:p>
            <a:pPr indent="0" marL="0">
              <a:buNone/>
            </a:pPr>
            <a:r>
              <a:rPr lang="en-US" sz="1400" i="1" dirty="0">
                <a:solidFill>
                  <a:schemeClr val="accent2"/>
                </a:solidFill>
              </a:rPr>
              <a:t>DARTH has the best tail but costs time and training; PercEF gets much of the gain at almost no time cost.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In progress: our score + Ada-ef's table</a:t>
            </a:r>
            <a:endParaRPr lang="en-US" sz="3200" dirty="0"/>
          </a:p>
        </p:txBody>
      </p:sp>
      <p:sp>
        <p:nvSpPr>
          <p:cNvPr id="3" name="Combo intro"/>
          <p:cNvSpPr txBox="1"/>
          <p:nvPr/>
        </p:nvSpPr>
        <p:spPr>
          <a:xfrm>
            <a:off x="548640" y="1188720"/>
            <a:ext cx="11064240" cy="640080"/>
          </a:xfrm>
          <a:prstGeom prst="rect">
            <a:avLst/>
          </a:prstGeom>
          <a:noFill/>
          <a:ln/>
        </p:spPr>
        <p:txBody>
          <a:bodyPr wrap="square" lIns="0" tIns="0" rIns="0" bIns="0" rtlCol="0" anchor="ctr"/>
          <a:lstStyle/>
          <a:p>
            <a:pPr indent="0" marL="0">
              <a:buNone/>
            </a:pPr>
            <a:r>
              <a:rPr lang="en-US" sz="1700" dirty="0">
                <a:solidFill>
                  <a:schemeClr val="tx1"/>
                </a:solidFill>
              </a:rPr>
              <a:t>On Gaussian data Ada-ef's better tail comes mostly from its ef table, so we test PercEF's score with that table.</a:t>
            </a:r>
            <a:endParaRPr lang="en-US" sz="1700" dirty="0"/>
          </a:p>
        </p:txBody>
      </p:sp>
      <p:graphicFrame>
        <p:nvGraphicFramePr>
          <p:cNvPr id="14" name="Combined table"/>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2194560"/>
                <a:gridCol w="2011680"/>
                <a:gridCol w="2103120"/>
                <a:gridCol w="2743200"/>
                <a:gridCol w="2011680"/>
              </a:tblGrid>
              <a:tr h="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Dataset</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p1 gain: PercEF</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p1 gain: combined</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Combined + WAE: time vs fixed ef</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p1 gain: Ada-ef</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SIFT-1M</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+0.024</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1.5% slower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0.000</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Deep1B</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+0.081</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+0.076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2.9%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+0.052</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DeepImage</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+0.088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+0.073</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3.7%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+0.048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SIFT-1B</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+0.056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+0.056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2.7%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GloVe, MS Turing</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running</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running</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running</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bl>
          </a:graphicData>
        </a:graphic>
      </p:graphicFrame>
      <p:sp>
        <p:nvSpPr>
          <p:cNvPr id="5" name="Combo bullets"/>
          <p:cNvSpPr txBox="1"/>
          <p:nvPr/>
        </p:nvSpPr>
        <p:spPr>
          <a:xfrm>
            <a:off x="548640" y="4572000"/>
            <a:ext cx="11064240" cy="16459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Non-Gaussian data: plain PercEF keeps the best worst-case recall; the table adds nothing there</a:t>
            </a:r>
            <a:endParaRPr lang="en-US" sz="1500" dirty="0"/>
          </a:p>
          <a:p>
            <a:pPr marL="342900" indent="-342900">
              <a:spcAft>
                <a:spcPts val="800"/>
              </a:spcAft>
              <a:buSzPct val="100000"/>
              <a:buChar char="•"/>
            </a:pPr>
            <a:r>
              <a:rPr lang="en-US" sz="1500" dirty="0">
                <a:solidFill>
                  <a:schemeClr val="tx1"/>
                </a:solidFill>
              </a:rPr>
              <a:t>Combined + WAE floor works as a speed mode: faster than the fixed ef on 3 of 4</a:t>
            </a:r>
            <a:endParaRPr lang="en-US" sz="1500" dirty="0"/>
          </a:p>
          <a:p>
            <a:pPr marL="342900" indent="-342900">
              <a:spcAft>
                <a:spcPts val="800"/>
              </a:spcAft>
              <a:buSzPct val="100000"/>
              <a:buChar char="•"/>
            </a:pPr>
            <a:r>
              <a:rPr lang="en-US" sz="1500" dirty="0">
                <a:solidFill>
                  <a:schemeClr val="tx1"/>
                </a:solidFill>
              </a:rPr>
              <a:t>The deciding runs are GloVe and MS Turing (Gaussian): does the combination reach Ada-ef's tail?</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Limits and next steps</a:t>
            </a:r>
            <a:endParaRPr lang="en-US" sz="3200" dirty="0"/>
          </a:p>
        </p:txBody>
      </p:sp>
      <p:sp>
        <p:nvSpPr>
          <p:cNvPr id="3" name="Card: Limits, stated openly"/>
          <p:cNvSpPr/>
          <p:nvPr/>
        </p:nvSpPr>
        <p:spPr>
          <a:xfrm>
            <a:off x="548640" y="1280160"/>
            <a:ext cx="5440680" cy="3108960"/>
          </a:xfrm>
          <a:prstGeom prst="roundRect">
            <a:avLst>
              <a:gd name="adj" fmla="val 2353"/>
            </a:avLst>
          </a:prstGeom>
          <a:solidFill>
            <a:srgbClr val="FCE9DF"/>
          </a:solidFill>
          <a:ln w="12700">
            <a:solidFill>
              <a:srgbClr val="FCE9DF"/>
            </a:solidFill>
            <a:prstDash val="solid"/>
          </a:ln>
        </p:spPr>
      </p:sp>
      <p:sp>
        <p:nvSpPr>
          <p:cNvPr id="4" name="Card head: Limits, stated openly"/>
          <p:cNvSpPr txBox="1"/>
          <p:nvPr/>
        </p:nvSpPr>
        <p:spPr>
          <a:xfrm>
            <a:off x="777240" y="1463040"/>
            <a:ext cx="4983480" cy="457200"/>
          </a:xfrm>
          <a:prstGeom prst="rect">
            <a:avLst/>
          </a:prstGeom>
          <a:noFill/>
          <a:ln/>
        </p:spPr>
        <p:txBody>
          <a:bodyPr wrap="square" lIns="0" tIns="0" rIns="0" bIns="0" rtlCol="0" anchor="t"/>
          <a:lstStyle/>
          <a:p>
            <a:pPr indent="0" marL="0">
              <a:buNone/>
            </a:pPr>
            <a:r>
              <a:rPr lang="en-US" sz="1800" b="1" dirty="0">
                <a:solidFill>
                  <a:schemeClr val="accent4"/>
                </a:solidFill>
              </a:rPr>
              <a:t>Limits, stated openly</a:t>
            </a:r>
            <a:endParaRPr lang="en-US" sz="1800" dirty="0"/>
          </a:p>
        </p:txBody>
      </p:sp>
      <p:sp>
        <p:nvSpPr>
          <p:cNvPr id="5" name="Card body: Limits, stated openly"/>
          <p:cNvSpPr txBox="1"/>
          <p:nvPr/>
        </p:nvSpPr>
        <p:spPr>
          <a:xfrm>
            <a:off x="777240" y="1965960"/>
            <a:ext cx="4983480" cy="2240280"/>
          </a:xfrm>
          <a:prstGeom prst="rect">
            <a:avLst/>
          </a:prstGeom>
          <a:noFill/>
          <a:ln/>
        </p:spPr>
        <p:txBody>
          <a:bodyPr wrap="square" lIns="0" tIns="0" rIns="0" bIns="0" rtlCol="0" anchor="t"/>
          <a:lstStyle/>
          <a:p>
            <a:pPr indent="0" marL="0">
              <a:buNone/>
            </a:pPr>
            <a:r>
              <a:rPr lang="en-US" sz="1600" dirty="0">
                <a:solidFill>
                  <a:schemeClr val="tx1"/>
                </a:solidFill>
              </a:rPr>
              <a:t>• Near-Gaussian text embeddings: Ada-ef keeps the better worst-case recall</a:t>
            </a:r>
            <a:endParaRPr lang="en-US" sz="1600" dirty="0"/>
          </a:p>
          <a:p>
            <a:pPr indent="0" marL="0">
              <a:buNone/>
            </a:pPr>
            <a:r>
              <a:rPr lang="en-US" sz="1600" dirty="0">
                <a:solidFill>
                  <a:schemeClr val="tx1"/>
                </a:solidFill>
              </a:rPr>
              <a:t>• Cross-modal queries (text searching images): neither method adapts</a:t>
            </a:r>
            <a:endParaRPr lang="en-US" sz="1600" dirty="0"/>
          </a:p>
          <a:p>
            <a:pPr indent="0" marL="0">
              <a:buNone/>
            </a:pPr>
            <a:r>
              <a:rPr lang="en-US" sz="1600" dirty="0">
                <a:solidFill>
                  <a:schemeClr val="tx1"/>
                </a:solidFill>
              </a:rPr>
              <a:t>• One failed KS prediction (SIFT-1B)</a:t>
            </a:r>
            <a:endParaRPr lang="en-US" sz="1600" dirty="0"/>
          </a:p>
          <a:p>
            <a:pPr indent="0" marL="0">
              <a:buNone/>
            </a:pPr>
            <a:r>
              <a:rPr lang="en-US" sz="1600" dirty="0">
                <a:solidFill>
                  <a:schemeClr val="tx1"/>
                </a:solidFill>
              </a:rPr>
              <a:t>• Cohere and LAION run as subsets (62 GB RAM)</a:t>
            </a:r>
            <a:endParaRPr lang="en-US" sz="1600" dirty="0"/>
          </a:p>
        </p:txBody>
      </p:sp>
      <p:sp>
        <p:nvSpPr>
          <p:cNvPr id="6" name="Card: Next steps"/>
          <p:cNvSpPr/>
          <p:nvPr/>
        </p:nvSpPr>
        <p:spPr>
          <a:xfrm>
            <a:off x="6263640" y="1280160"/>
            <a:ext cx="5394960" cy="3108960"/>
          </a:xfrm>
          <a:prstGeom prst="roundRect">
            <a:avLst>
              <a:gd name="adj" fmla="val 2353"/>
            </a:avLst>
          </a:prstGeom>
          <a:solidFill>
            <a:srgbClr val="DCEFF3"/>
          </a:solidFill>
          <a:ln w="12700">
            <a:solidFill>
              <a:srgbClr val="DCEFF3"/>
            </a:solidFill>
            <a:prstDash val="solid"/>
          </a:ln>
        </p:spPr>
      </p:sp>
      <p:sp>
        <p:nvSpPr>
          <p:cNvPr id="7" name="Card head: Next steps"/>
          <p:cNvSpPr txBox="1"/>
          <p:nvPr/>
        </p:nvSpPr>
        <p:spPr>
          <a:xfrm>
            <a:off x="6492240" y="1463040"/>
            <a:ext cx="4937760" cy="457200"/>
          </a:xfrm>
          <a:prstGeom prst="rect">
            <a:avLst/>
          </a:prstGeom>
          <a:noFill/>
          <a:ln/>
        </p:spPr>
        <p:txBody>
          <a:bodyPr wrap="square" lIns="0" tIns="0" rIns="0" bIns="0" rtlCol="0" anchor="t"/>
          <a:lstStyle/>
          <a:p>
            <a:pPr indent="0" marL="0">
              <a:buNone/>
            </a:pPr>
            <a:r>
              <a:rPr lang="en-US" sz="1800" b="1" dirty="0">
                <a:solidFill>
                  <a:schemeClr val="tx2"/>
                </a:solidFill>
              </a:rPr>
              <a:t>Next steps</a:t>
            </a:r>
            <a:endParaRPr lang="en-US" sz="1800" dirty="0"/>
          </a:p>
        </p:txBody>
      </p:sp>
      <p:sp>
        <p:nvSpPr>
          <p:cNvPr id="8" name="Card body: Next steps"/>
          <p:cNvSpPr txBox="1"/>
          <p:nvPr/>
        </p:nvSpPr>
        <p:spPr>
          <a:xfrm>
            <a:off x="6492240" y="1965960"/>
            <a:ext cx="4937760" cy="2240280"/>
          </a:xfrm>
          <a:prstGeom prst="rect">
            <a:avLst/>
          </a:prstGeom>
          <a:noFill/>
          <a:ln/>
        </p:spPr>
        <p:txBody>
          <a:bodyPr wrap="square" lIns="0" tIns="0" rIns="0" bIns="0" rtlCol="0" anchor="t"/>
          <a:lstStyle/>
          <a:p>
            <a:pPr indent="0" marL="0">
              <a:buNone/>
            </a:pPr>
            <a:r>
              <a:rPr lang="en-US" sz="1600" dirty="0">
                <a:solidFill>
                  <a:schemeClr val="tx1"/>
                </a:solidFill>
              </a:rPr>
              <a:t>• Finish the combined test (GloVe, MS Turing)</a:t>
            </a:r>
            <a:endParaRPr lang="en-US" sz="1600" dirty="0"/>
          </a:p>
          <a:p>
            <a:pPr indent="0" marL="0">
              <a:buNone/>
            </a:pPr>
            <a:r>
              <a:rPr lang="en-US" sz="1600" dirty="0">
                <a:solidFill>
                  <a:schemeClr val="tx1"/>
                </a:solidFill>
              </a:rPr>
              <a:t>• Final figures and numbers in the paper</a:t>
            </a:r>
            <a:endParaRPr lang="en-US" sz="1600" dirty="0"/>
          </a:p>
          <a:p>
            <a:pPr indent="0" marL="0">
              <a:buNone/>
            </a:pPr>
            <a:r>
              <a:rPr lang="en-US" sz="1600" dirty="0">
                <a:solidFill>
                  <a:schemeClr val="tx1"/>
                </a:solidFill>
              </a:rPr>
              <a:t>• Guide review, author list</a:t>
            </a:r>
            <a:endParaRPr lang="en-US" sz="1600" dirty="0"/>
          </a:p>
          <a:p>
            <a:pPr indent="0" marL="0">
              <a:buNone/>
            </a:pPr>
            <a:r>
              <a:rPr lang="en-US" sz="1600" dirty="0">
                <a:solidFill>
                  <a:schemeClr val="tx1"/>
                </a:solidFill>
              </a:rPr>
              <a:t>• arXiv preprint and code release</a:t>
            </a:r>
            <a:endParaRPr lang="en-US" sz="1600" dirty="0"/>
          </a:p>
          <a:p>
            <a:pPr indent="0" marL="0">
              <a:buNone/>
            </a:pPr>
            <a:r>
              <a:rPr lang="en-US" sz="1600" dirty="0">
                <a:solidFill>
                  <a:schemeClr val="tx1"/>
                </a:solidFill>
              </a:rPr>
              <a:t>• Submit: PVLDB Experiments, Analysis &amp; Benchmarks track</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737360"/>
          </a:xfrm>
          <a:prstGeom prst="rect">
            <a:avLst/>
          </a:prstGeom>
          <a:noFill/>
          <a:ln/>
        </p:spPr>
        <p:txBody>
          <a:bodyPr wrap="square" lIns="0" tIns="0" rIns="0" bIns="0" rtlCol="0" anchor="b"/>
          <a:lstStyle/>
          <a:p>
            <a:pPr algn="l" indent="0" marL="0">
              <a:buNone/>
            </a:pPr>
            <a:r>
              <a:rPr lang="en-US" sz="3600" b="1" dirty="0">
                <a:solidFill>
                  <a:schemeClr val="bg1"/>
                </a:solidFill>
              </a:rPr>
              <a:t>Measure, don't assume</a:t>
            </a:r>
            <a:endParaRPr lang="en-US" sz="3600" dirty="0"/>
          </a:p>
        </p:txBody>
      </p:sp>
      <p:sp>
        <p:nvSpPr>
          <p:cNvPr id="3" name="Text 0"/>
          <p:cNvSpPr/>
          <p:nvPr>
            <p:ph idx="101" type="body" hasCustomPrompt="1"/>
          </p:nvPr>
        </p:nvSpPr>
        <p:spPr>
          <a:xfrm>
            <a:off x="731520" y="3931920"/>
            <a:ext cx="10698480" cy="1463040"/>
          </a:xfrm>
          <a:prstGeom prst="rect">
            <a:avLst/>
          </a:prstGeom>
          <a:noFill/>
          <a:ln/>
        </p:spPr>
        <p:txBody>
          <a:bodyPr wrap="square" lIns="0" tIns="0" rIns="0" bIns="0" rtlCol="0" anchor="t"/>
          <a:lstStyle/>
          <a:p>
            <a:pPr indent="0" marL="0">
              <a:buNone/>
            </a:pPr>
            <a:r>
              <a:rPr lang="en-US" sz="1800" dirty="0">
                <a:solidFill>
                  <a:schemeClr val="bg2"/>
                </a:solidFill>
              </a:rPr>
              <a:t>Ada-ef's bell-curve assumption fails on 9 of 41 datasets. PercEF measures the thresholds instead: better worst-case recall where the assumption fails, never meaningfully costlier than a tuned fixed ef, and a seconds-long test that says which method to use.</a:t>
            </a:r>
            <a:endParaRPr lang="en-US" sz="1800" dirty="0"/>
          </a:p>
          <a:p>
            <a:pPr indent="0" marL="0">
              <a:buNone/>
            </a:pPr>
            <a:r>
              <a:rPr lang="en-US" sz="1800" b="1" dirty="0">
                <a:solidFill>
                  <a:schemeClr val="bg2"/>
                </a:solidFill>
              </a:rPr>
              <a:t>Thank you. Questions?</a:t>
            </a:r>
            <a:endParaRPr lang="en-US" sz="1800" dirty="0"/>
          </a:p>
        </p:txBody>
      </p:sp>
    </p:spTree>
  </p:cSld>
  <p:clrMapOvr>
    <a:masterClrMapping/>
  </p:clrMapOvr>
</p:sld>
</file>

<file path=ppt/theme/theme1.xml><?xml version="1.0" encoding="utf-8"?>
<a:theme xmlns:a="http://schemas.openxmlformats.org/drawingml/2006/main" name="PercEF">
  <a:themeElements>
    <a:clrScheme name="PercEF">
      <a:dk1>
        <a:srgbClr val="1F2933"/>
      </a:dk1>
      <a:lt1>
        <a:srgbClr val="FFFFFF"/>
      </a:lt1>
      <a:dk2>
        <a:srgbClr val="2D3A82"/>
      </a:dk2>
      <a:lt2>
        <a:srgbClr val="EEF3F5"/>
      </a:lt2>
      <a:accent1>
        <a:srgbClr val="1597AB"/>
      </a:accent1>
      <a:accent2>
        <a:srgbClr val="485B6C"/>
      </a:accent2>
      <a:accent3>
        <a:srgbClr val="2A78D6"/>
      </a:accent3>
      <a:accent4>
        <a:srgbClr val="EB6834"/>
      </a:accent4>
      <a:accent5>
        <a:srgbClr val="1BAF7A"/>
      </a:accent5>
      <a:accent6>
        <a:srgbClr val="8A8984"/>
      </a:accent6>
      <a:hlink>
        <a:srgbClr val="1597AB"/>
      </a:hlink>
      <a:folHlink>
        <a:srgbClr val="485B6C"/>
      </a:folHlink>
    </a:clrScheme>
    <a:fontScheme name="PercE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PercEF: Exploiting Empirical Percentiles for Adaptive HNSW Search</dc:title>
  <dc:subject>PptxGenJS Presentation</dc:subject>
  <dc:creator>Pranav Shenvi</dc:creator>
  <cp:lastModifiedBy>Pranav Shenvi</cp:lastModifiedBy>
  <cp:revision>1</cp:revision>
  <dcterms:created xsi:type="dcterms:W3CDTF">2026-10-06T08:57:04Z</dcterms:created>
  <dcterms:modified xsi:type="dcterms:W3CDTF">2026-10-06T08:57:04Z</dcterms:modified>
</cp:coreProperties>
</file>